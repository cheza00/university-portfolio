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theme/theme1.xml" ContentType="application/vnd.openxmlformats-officedocument.theme+xml"/>
  <Override PartName="/ppt/theme/theme3.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9.xml" ContentType="application/vnd.openxmlformats-officedocument.presentationml.notesSlide+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lang="it-IT" sz="4400" b="0" u="none" strike="noStrike">
                <a:solidFill>
                  <a:srgbClr val="000000"/>
                </a:solidFill>
                <a:effectLst/>
                <a:uFillTx/>
                <a:latin typeface="Arial"/>
              </a:rPr>
              <a:t>Fai clic per spostare la diapositiva</a:t>
            </a:r>
            <a:endParaRPr lang="it-IT" sz="4400" b="0" u="none" strike="noStrike">
              <a:solidFill>
                <a:srgbClr val="000000"/>
              </a:solidFill>
              <a:effectLst/>
              <a:uFillTx/>
              <a:latin typeface="Arial"/>
            </a:endParaRPr>
          </a:p>
        </p:txBody>
      </p:sp>
      <p:sp>
        <p:nvSpPr>
          <p:cNvPr id="1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it-IT" sz="2000" b="0" u="none" strike="noStrike">
                <a:solidFill>
                  <a:srgbClr val="000000"/>
                </a:solidFill>
                <a:effectLst/>
                <a:uFillTx/>
                <a:latin typeface="Arial"/>
              </a:rPr>
              <a:t>Fai clic per modificare il formato delle note</a:t>
            </a:r>
            <a:endParaRPr lang="it-IT" sz="2000" b="0" u="none" strike="noStrike">
              <a:solidFill>
                <a:srgbClr val="000000"/>
              </a:solidFill>
              <a:effectLst/>
              <a:uFillTx/>
              <a:latin typeface="Arial"/>
            </a:endParaRPr>
          </a:p>
        </p:txBody>
      </p:sp>
      <p:sp>
        <p:nvSpPr>
          <p:cNvPr id="2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it-IT" sz="1400" b="0" u="none" strike="noStrike">
                <a:solidFill>
                  <a:srgbClr val="000000"/>
                </a:solidFill>
                <a:effectLst/>
                <a:uFillTx/>
                <a:latin typeface="Times New Roman"/>
              </a:rPr>
              <a:t>&lt;intestazione&gt;</a:t>
            </a:r>
            <a:endParaRPr lang="it-IT" sz="1400" b="0" u="none" strike="noStrike">
              <a:solidFill>
                <a:srgbClr val="000000"/>
              </a:solidFill>
              <a:effectLst/>
              <a:uFillTx/>
              <a:latin typeface="Times New Roman"/>
            </a:endParaRPr>
          </a:p>
        </p:txBody>
      </p:sp>
      <p:sp>
        <p:nvSpPr>
          <p:cNvPr id="21" name="PlaceHolder 4"/>
          <p:cNvSpPr>
            <a:spLocks noGrp="1"/>
          </p:cNvSpPr>
          <p:nvPr>
            <p:ph type="dt" idx="7"/>
          </p:nvPr>
        </p:nvSpPr>
        <p:spPr>
          <a:xfrm>
            <a:off x="4278960" y="0"/>
            <a:ext cx="3280680" cy="534240"/>
          </a:xfrm>
          <a:prstGeom prst="rect">
            <a:avLst/>
          </a:prstGeom>
          <a:noFill/>
          <a:ln w="0">
            <a:noFill/>
          </a:ln>
        </p:spPr>
        <p:txBody>
          <a:bodyPr lIns="0" rIns="0" tIns="0" bIns="0" anchor="t">
            <a:noAutofit/>
          </a:bodyPr>
          <a:lstStyle>
            <a:lvl1pPr indent="0" algn="r">
              <a:buNone/>
              <a:defRPr lang="it-IT" sz="1400" b="0" u="none" strike="noStrike">
                <a:solidFill>
                  <a:srgbClr val="000000"/>
                </a:solidFill>
                <a:effectLst/>
                <a:uFillTx/>
                <a:latin typeface="Times New Roman"/>
              </a:defRPr>
            </a:lvl1pPr>
          </a:lstStyle>
          <a:p>
            <a:pPr indent="0" algn="r">
              <a:buNone/>
            </a:pPr>
            <a:r>
              <a:rPr lang="it-IT" sz="1400" b="0" u="none" strike="noStrike">
                <a:solidFill>
                  <a:srgbClr val="000000"/>
                </a:solidFill>
                <a:effectLst/>
                <a:uFillTx/>
                <a:latin typeface="Times New Roman"/>
              </a:rPr>
              <a:t>&lt;data/ora&gt;</a:t>
            </a:r>
            <a:endParaRPr lang="it-IT" sz="1400" b="0" u="none" strike="noStrike">
              <a:solidFill>
                <a:srgbClr val="000000"/>
              </a:solidFill>
              <a:effectLst/>
              <a:uFillTx/>
              <a:latin typeface="Times New Roman"/>
            </a:endParaRPr>
          </a:p>
        </p:txBody>
      </p:sp>
      <p:sp>
        <p:nvSpPr>
          <p:cNvPr id="22" name="PlaceHolder 5"/>
          <p:cNvSpPr>
            <a:spLocks noGrp="1"/>
          </p:cNvSpPr>
          <p:nvPr>
            <p:ph type="ftr" idx="8"/>
          </p:nvPr>
        </p:nvSpPr>
        <p:spPr>
          <a:xfrm>
            <a:off x="0" y="10157400"/>
            <a:ext cx="3280680" cy="534240"/>
          </a:xfrm>
          <a:prstGeom prst="rect">
            <a:avLst/>
          </a:prstGeom>
          <a:noFill/>
          <a:ln w="0">
            <a:noFill/>
          </a:ln>
        </p:spPr>
        <p:txBody>
          <a:bodyPr lIns="0" rIns="0" tIns="0" bIns="0" anchor="b">
            <a:noAutofit/>
          </a:bodyPr>
          <a:lstStyle>
            <a:lvl1pPr indent="0">
              <a:buNone/>
              <a:defRPr lang="it-IT" sz="1400" b="0" u="none" strike="noStrike">
                <a:solidFill>
                  <a:srgbClr val="000000"/>
                </a:solidFill>
                <a:effectLst/>
                <a:uFillTx/>
                <a:latin typeface="Times New Roman"/>
              </a:defRPr>
            </a:lvl1pPr>
          </a:lstStyle>
          <a:p>
            <a:pPr indent="0">
              <a:buNone/>
            </a:pPr>
            <a:r>
              <a:rPr lang="it-IT" sz="1400" b="0" u="none" strike="noStrike">
                <a:solidFill>
                  <a:srgbClr val="000000"/>
                </a:solidFill>
                <a:effectLst/>
                <a:uFillTx/>
                <a:latin typeface="Times New Roman"/>
              </a:rPr>
              <a:t>&lt;piè di pagina&gt;</a:t>
            </a:r>
            <a:endParaRPr lang="it-IT" sz="1400" b="0" u="none" strike="noStrike">
              <a:solidFill>
                <a:srgbClr val="000000"/>
              </a:solidFill>
              <a:effectLst/>
              <a:uFillTx/>
              <a:latin typeface="Times New Roman"/>
            </a:endParaRPr>
          </a:p>
        </p:txBody>
      </p:sp>
      <p:sp>
        <p:nvSpPr>
          <p:cNvPr id="23" name="PlaceHolder 6"/>
          <p:cNvSpPr>
            <a:spLocks noGrp="1"/>
          </p:cNvSpPr>
          <p:nvPr>
            <p:ph type="sldNum" idx="9"/>
          </p:nvPr>
        </p:nvSpPr>
        <p:spPr>
          <a:xfrm>
            <a:off x="4278960" y="10157400"/>
            <a:ext cx="3280680" cy="534240"/>
          </a:xfrm>
          <a:prstGeom prst="rect">
            <a:avLst/>
          </a:prstGeom>
          <a:noFill/>
          <a:ln w="0">
            <a:noFill/>
          </a:ln>
        </p:spPr>
        <p:txBody>
          <a:bodyPr lIns="0" rIns="0" tIns="0" bIns="0" anchor="b">
            <a:noAutofit/>
          </a:bodyPr>
          <a:lstStyle>
            <a:lvl1pPr indent="0" algn="r">
              <a:buNone/>
              <a:defRPr lang="it-IT" sz="1400" b="0" u="none" strike="noStrike">
                <a:solidFill>
                  <a:srgbClr val="000000"/>
                </a:solidFill>
                <a:effectLst/>
                <a:uFillTx/>
                <a:latin typeface="Times New Roman"/>
              </a:defRPr>
            </a:lvl1pPr>
          </a:lstStyle>
          <a:p>
            <a:pPr indent="0" algn="r">
              <a:buNone/>
            </a:pPr>
            <a:fld id="{BAF77101-13C6-4E11-A015-A69FB9EAC394}" type="slidenum">
              <a:rPr lang="it-IT" sz="1400" b="0" u="none" strike="noStrike">
                <a:solidFill>
                  <a:srgbClr val="000000"/>
                </a:solidFill>
                <a:effectLst/>
                <a:uFillTx/>
                <a:latin typeface="Times New Roman"/>
              </a:rPr>
              <a:t>&lt;numero&gt;</a:t>
            </a:fld>
            <a:endParaRPr lang="it-IT"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sldNum" idx="82"/>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7636523D-0275-41E6-A903-BB21B2994AB0}"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12" name="PlaceHolder 2"/>
          <p:cNvSpPr>
            <a:spLocks noGrp="1"/>
          </p:cNvSpPr>
          <p:nvPr>
            <p:ph type="sldImg"/>
          </p:nvPr>
        </p:nvSpPr>
        <p:spPr>
          <a:xfrm>
            <a:off x="1371600" y="1143000"/>
            <a:ext cx="4113360" cy="3084840"/>
          </a:xfrm>
          <a:prstGeom prst="rect">
            <a:avLst/>
          </a:prstGeom>
          <a:ln w="0">
            <a:noFill/>
          </a:ln>
        </p:spPr>
      </p:sp>
      <p:sp>
        <p:nvSpPr>
          <p:cNvPr id="413"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sldNum" idx="83"/>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612C72A8-0EE5-4CE8-9C4A-3B55EDF6DAB9}"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15" name="PlaceHolder 2"/>
          <p:cNvSpPr>
            <a:spLocks noGrp="1"/>
          </p:cNvSpPr>
          <p:nvPr>
            <p:ph type="sldImg"/>
          </p:nvPr>
        </p:nvSpPr>
        <p:spPr>
          <a:xfrm>
            <a:off x="1371600" y="1143000"/>
            <a:ext cx="4113360" cy="3084840"/>
          </a:xfrm>
          <a:prstGeom prst="rect">
            <a:avLst/>
          </a:prstGeom>
          <a:ln w="0">
            <a:noFill/>
          </a:ln>
        </p:spPr>
      </p:sp>
      <p:sp>
        <p:nvSpPr>
          <p:cNvPr id="416"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sldNum" idx="84"/>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EE71DA9F-2A75-4934-AEBA-506B002F5DE2}"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18" name="PlaceHolder 2"/>
          <p:cNvSpPr>
            <a:spLocks noGrp="1"/>
          </p:cNvSpPr>
          <p:nvPr>
            <p:ph type="sldImg"/>
          </p:nvPr>
        </p:nvSpPr>
        <p:spPr>
          <a:xfrm>
            <a:off x="1371600" y="1143000"/>
            <a:ext cx="4113360" cy="3084840"/>
          </a:xfrm>
          <a:prstGeom prst="rect">
            <a:avLst/>
          </a:prstGeom>
          <a:ln w="0">
            <a:noFill/>
          </a:ln>
        </p:spPr>
      </p:sp>
      <p:sp>
        <p:nvSpPr>
          <p:cNvPr id="419"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sldNum" idx="85"/>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12889C7E-BE1B-43B1-95F5-D4667C9D4464}"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21" name="PlaceHolder 2"/>
          <p:cNvSpPr>
            <a:spLocks noGrp="1"/>
          </p:cNvSpPr>
          <p:nvPr>
            <p:ph type="sldImg"/>
          </p:nvPr>
        </p:nvSpPr>
        <p:spPr>
          <a:xfrm>
            <a:off x="1371600" y="1143000"/>
            <a:ext cx="4113360" cy="3084840"/>
          </a:xfrm>
          <a:prstGeom prst="rect">
            <a:avLst/>
          </a:prstGeom>
          <a:ln w="0">
            <a:noFill/>
          </a:ln>
        </p:spPr>
      </p:sp>
      <p:sp>
        <p:nvSpPr>
          <p:cNvPr id="422"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sldNum" idx="86"/>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01FBF528-2D5B-4995-9221-03DF67FB97E5}"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24" name="PlaceHolder 2"/>
          <p:cNvSpPr>
            <a:spLocks noGrp="1"/>
          </p:cNvSpPr>
          <p:nvPr>
            <p:ph type="sldImg"/>
          </p:nvPr>
        </p:nvSpPr>
        <p:spPr>
          <a:xfrm>
            <a:off x="1371600" y="1143000"/>
            <a:ext cx="4113360" cy="3084840"/>
          </a:xfrm>
          <a:prstGeom prst="rect">
            <a:avLst/>
          </a:prstGeom>
          <a:ln w="0">
            <a:noFill/>
          </a:ln>
        </p:spPr>
      </p:sp>
      <p:sp>
        <p:nvSpPr>
          <p:cNvPr id="425"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sldNum" idx="87"/>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2FDA5F12-43DF-49A3-BBBB-BC3B7095195E}"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27" name="PlaceHolder 2"/>
          <p:cNvSpPr>
            <a:spLocks noGrp="1"/>
          </p:cNvSpPr>
          <p:nvPr>
            <p:ph type="sldImg"/>
          </p:nvPr>
        </p:nvSpPr>
        <p:spPr>
          <a:xfrm>
            <a:off x="1371600" y="1143000"/>
            <a:ext cx="4113360" cy="3084840"/>
          </a:xfrm>
          <a:prstGeom prst="rect">
            <a:avLst/>
          </a:prstGeom>
          <a:ln w="0">
            <a:noFill/>
          </a:ln>
        </p:spPr>
      </p:sp>
      <p:sp>
        <p:nvSpPr>
          <p:cNvPr id="428"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sldNum" idx="88"/>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4F6ABBB2-6209-4FE8-BBCB-853E8BBC4E5C}"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30" name="PlaceHolder 2"/>
          <p:cNvSpPr>
            <a:spLocks noGrp="1"/>
          </p:cNvSpPr>
          <p:nvPr>
            <p:ph type="sldImg"/>
          </p:nvPr>
        </p:nvSpPr>
        <p:spPr>
          <a:xfrm>
            <a:off x="1371600" y="1143000"/>
            <a:ext cx="4113360" cy="3084840"/>
          </a:xfrm>
          <a:prstGeom prst="rect">
            <a:avLst/>
          </a:prstGeom>
          <a:ln w="0">
            <a:noFill/>
          </a:ln>
        </p:spPr>
      </p:sp>
      <p:sp>
        <p:nvSpPr>
          <p:cNvPr id="431"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PlaceHolder 1"/>
          <p:cNvSpPr>
            <a:spLocks noGrp="1"/>
          </p:cNvSpPr>
          <p:nvPr>
            <p:ph type="sldNum" idx="89"/>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23771CFA-2BB3-44C7-BFAD-BA0B1BA67F20}"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33" name="PlaceHolder 2"/>
          <p:cNvSpPr>
            <a:spLocks noGrp="1"/>
          </p:cNvSpPr>
          <p:nvPr>
            <p:ph type="sldImg"/>
          </p:nvPr>
        </p:nvSpPr>
        <p:spPr>
          <a:xfrm>
            <a:off x="1371600" y="1143000"/>
            <a:ext cx="4113360" cy="3084840"/>
          </a:xfrm>
          <a:prstGeom prst="rect">
            <a:avLst/>
          </a:prstGeom>
          <a:ln w="0">
            <a:noFill/>
          </a:ln>
        </p:spPr>
      </p:sp>
      <p:sp>
        <p:nvSpPr>
          <p:cNvPr id="434"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sldNum" idx="90"/>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C98D7B74-24AC-46C4-B6A9-401810927353}"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36" name="PlaceHolder 2"/>
          <p:cNvSpPr>
            <a:spLocks noGrp="1"/>
          </p:cNvSpPr>
          <p:nvPr>
            <p:ph type="sldImg"/>
          </p:nvPr>
        </p:nvSpPr>
        <p:spPr>
          <a:xfrm>
            <a:off x="1371600" y="1143000"/>
            <a:ext cx="4113360" cy="3084840"/>
          </a:xfrm>
          <a:prstGeom prst="rect">
            <a:avLst/>
          </a:prstGeom>
          <a:ln w="0">
            <a:noFill/>
          </a:ln>
        </p:spPr>
      </p:sp>
      <p:sp>
        <p:nvSpPr>
          <p:cNvPr id="437"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sldNum" idx="91"/>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A1E1C066-9E4A-4863-9C9C-2F4907E9EC0F}"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39" name="PlaceHolder 2"/>
          <p:cNvSpPr>
            <a:spLocks noGrp="1"/>
          </p:cNvSpPr>
          <p:nvPr>
            <p:ph type="sldImg"/>
          </p:nvPr>
        </p:nvSpPr>
        <p:spPr>
          <a:xfrm>
            <a:off x="1371600" y="1143000"/>
            <a:ext cx="4113360" cy="3084840"/>
          </a:xfrm>
          <a:prstGeom prst="rect">
            <a:avLst/>
          </a:prstGeom>
          <a:ln w="0">
            <a:noFill/>
          </a:ln>
        </p:spPr>
      </p:sp>
      <p:sp>
        <p:nvSpPr>
          <p:cNvPr id="440"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sldNum" idx="92"/>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960AC507-27A2-4668-9FD9-81388ADCB81D}"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42" name="PlaceHolder 2"/>
          <p:cNvSpPr>
            <a:spLocks noGrp="1"/>
          </p:cNvSpPr>
          <p:nvPr>
            <p:ph type="sldImg"/>
          </p:nvPr>
        </p:nvSpPr>
        <p:spPr>
          <a:xfrm>
            <a:off x="1371600" y="1143000"/>
            <a:ext cx="4113360" cy="3084840"/>
          </a:xfrm>
          <a:prstGeom prst="rect">
            <a:avLst/>
          </a:prstGeom>
          <a:ln w="0">
            <a:noFill/>
          </a:ln>
        </p:spPr>
      </p:sp>
      <p:sp>
        <p:nvSpPr>
          <p:cNvPr id="443"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sldNum" idx="93"/>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E283D53B-9492-4989-8CC2-543CA6671A10}"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45" name="PlaceHolder 2"/>
          <p:cNvSpPr>
            <a:spLocks noGrp="1"/>
          </p:cNvSpPr>
          <p:nvPr>
            <p:ph type="sldImg"/>
          </p:nvPr>
        </p:nvSpPr>
        <p:spPr>
          <a:xfrm>
            <a:off x="1371600" y="1143000"/>
            <a:ext cx="4113360" cy="3084840"/>
          </a:xfrm>
          <a:prstGeom prst="rect">
            <a:avLst/>
          </a:prstGeom>
          <a:ln w="0">
            <a:noFill/>
          </a:ln>
        </p:spPr>
      </p:sp>
      <p:sp>
        <p:nvSpPr>
          <p:cNvPr id="446"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sldNum" idx="94"/>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4A85459D-07BF-4C5F-8001-9A531054EC1E}"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48" name="PlaceHolder 2"/>
          <p:cNvSpPr>
            <a:spLocks noGrp="1"/>
          </p:cNvSpPr>
          <p:nvPr>
            <p:ph type="sldImg"/>
          </p:nvPr>
        </p:nvSpPr>
        <p:spPr>
          <a:xfrm>
            <a:off x="1371600" y="1143000"/>
            <a:ext cx="4113360" cy="3084840"/>
          </a:xfrm>
          <a:prstGeom prst="rect">
            <a:avLst/>
          </a:prstGeom>
          <a:ln w="0">
            <a:noFill/>
          </a:ln>
        </p:spPr>
      </p:sp>
      <p:sp>
        <p:nvSpPr>
          <p:cNvPr id="449"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PlaceHolder 1"/>
          <p:cNvSpPr>
            <a:spLocks noGrp="1"/>
          </p:cNvSpPr>
          <p:nvPr>
            <p:ph type="sldNum" idx="95"/>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5ED557D0-8B55-4E0F-BB1E-672F0A327A52}"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51" name="PlaceHolder 2"/>
          <p:cNvSpPr>
            <a:spLocks noGrp="1"/>
          </p:cNvSpPr>
          <p:nvPr>
            <p:ph type="sldImg"/>
          </p:nvPr>
        </p:nvSpPr>
        <p:spPr>
          <a:xfrm>
            <a:off x="1371600" y="1143000"/>
            <a:ext cx="4113360" cy="3084840"/>
          </a:xfrm>
          <a:prstGeom prst="rect">
            <a:avLst/>
          </a:prstGeom>
          <a:ln w="0">
            <a:noFill/>
          </a:ln>
        </p:spPr>
      </p:sp>
      <p:sp>
        <p:nvSpPr>
          <p:cNvPr id="452"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PlaceHolder 1"/>
          <p:cNvSpPr>
            <a:spLocks noGrp="1"/>
          </p:cNvSpPr>
          <p:nvPr>
            <p:ph type="sldNum" idx="96"/>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FE4DE131-E736-4498-AA0A-88A841C35016}"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54" name="PlaceHolder 2"/>
          <p:cNvSpPr>
            <a:spLocks noGrp="1"/>
          </p:cNvSpPr>
          <p:nvPr>
            <p:ph type="sldImg"/>
          </p:nvPr>
        </p:nvSpPr>
        <p:spPr>
          <a:xfrm>
            <a:off x="1371600" y="1143000"/>
            <a:ext cx="4113360" cy="3084840"/>
          </a:xfrm>
          <a:prstGeom prst="rect">
            <a:avLst/>
          </a:prstGeom>
          <a:ln w="0">
            <a:noFill/>
          </a:ln>
        </p:spPr>
      </p:sp>
      <p:sp>
        <p:nvSpPr>
          <p:cNvPr id="455"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PlaceHolder 1"/>
          <p:cNvSpPr>
            <a:spLocks noGrp="1"/>
          </p:cNvSpPr>
          <p:nvPr>
            <p:ph type="sldNum" idx="97"/>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0161DD1B-7E82-4249-8723-AA5BC15A704D}"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57" name="PlaceHolder 2"/>
          <p:cNvSpPr>
            <a:spLocks noGrp="1"/>
          </p:cNvSpPr>
          <p:nvPr>
            <p:ph type="sldImg"/>
          </p:nvPr>
        </p:nvSpPr>
        <p:spPr>
          <a:xfrm>
            <a:off x="1371600" y="1143000"/>
            <a:ext cx="4113360" cy="3084840"/>
          </a:xfrm>
          <a:prstGeom prst="rect">
            <a:avLst/>
          </a:prstGeom>
          <a:ln w="0">
            <a:noFill/>
          </a:ln>
        </p:spPr>
      </p:sp>
      <p:sp>
        <p:nvSpPr>
          <p:cNvPr id="458"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PlaceHolder 1"/>
          <p:cNvSpPr>
            <a:spLocks noGrp="1"/>
          </p:cNvSpPr>
          <p:nvPr>
            <p:ph type="sldNum" idx="98"/>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4A3FD58B-A850-49E5-8051-1F786B7231DE}"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60" name="PlaceHolder 2"/>
          <p:cNvSpPr>
            <a:spLocks noGrp="1"/>
          </p:cNvSpPr>
          <p:nvPr>
            <p:ph type="sldImg"/>
          </p:nvPr>
        </p:nvSpPr>
        <p:spPr>
          <a:xfrm>
            <a:off x="1371600" y="1143000"/>
            <a:ext cx="4113360" cy="3084840"/>
          </a:xfrm>
          <a:prstGeom prst="rect">
            <a:avLst/>
          </a:prstGeom>
          <a:ln w="0">
            <a:noFill/>
          </a:ln>
        </p:spPr>
      </p:sp>
      <p:sp>
        <p:nvSpPr>
          <p:cNvPr id="461"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type="sldNum" idx="99"/>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EEA35797-7589-4E99-A034-4B9F2D2EA932}"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63" name="PlaceHolder 2"/>
          <p:cNvSpPr>
            <a:spLocks noGrp="1"/>
          </p:cNvSpPr>
          <p:nvPr>
            <p:ph type="sldImg"/>
          </p:nvPr>
        </p:nvSpPr>
        <p:spPr>
          <a:xfrm>
            <a:off x="1371600" y="1143000"/>
            <a:ext cx="4113360" cy="3084840"/>
          </a:xfrm>
          <a:prstGeom prst="rect">
            <a:avLst/>
          </a:prstGeom>
          <a:ln w="0">
            <a:noFill/>
          </a:ln>
        </p:spPr>
      </p:sp>
      <p:sp>
        <p:nvSpPr>
          <p:cNvPr id="464"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5" name="PlaceHolder 1"/>
          <p:cNvSpPr>
            <a:spLocks noGrp="1"/>
          </p:cNvSpPr>
          <p:nvPr>
            <p:ph type="sldNum" idx="100"/>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29FADA11-4F88-4C5F-A689-02895BBC7551}"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66" name="PlaceHolder 2"/>
          <p:cNvSpPr>
            <a:spLocks noGrp="1"/>
          </p:cNvSpPr>
          <p:nvPr>
            <p:ph type="sldImg"/>
          </p:nvPr>
        </p:nvSpPr>
        <p:spPr>
          <a:xfrm>
            <a:off x="1371600" y="1143000"/>
            <a:ext cx="4113360" cy="3084840"/>
          </a:xfrm>
          <a:prstGeom prst="rect">
            <a:avLst/>
          </a:prstGeom>
          <a:ln w="0">
            <a:noFill/>
          </a:ln>
        </p:spPr>
      </p:sp>
      <p:sp>
        <p:nvSpPr>
          <p:cNvPr id="467"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sldNum" idx="101"/>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37C44601-0F52-436A-9CA0-1DFF13E1E126}"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69" name="PlaceHolder 2"/>
          <p:cNvSpPr>
            <a:spLocks noGrp="1"/>
          </p:cNvSpPr>
          <p:nvPr>
            <p:ph type="sldImg"/>
          </p:nvPr>
        </p:nvSpPr>
        <p:spPr>
          <a:xfrm>
            <a:off x="1371600" y="1143000"/>
            <a:ext cx="4113360" cy="3084840"/>
          </a:xfrm>
          <a:prstGeom prst="rect">
            <a:avLst/>
          </a:prstGeom>
          <a:ln w="0">
            <a:noFill/>
          </a:ln>
        </p:spPr>
      </p:sp>
      <p:sp>
        <p:nvSpPr>
          <p:cNvPr id="470"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PlaceHolder 1"/>
          <p:cNvSpPr>
            <a:spLocks noGrp="1"/>
          </p:cNvSpPr>
          <p:nvPr>
            <p:ph type="sldNum" idx="102"/>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F01FEAB6-A903-4340-97F8-87020EC60A07}"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72" name="PlaceHolder 2"/>
          <p:cNvSpPr>
            <a:spLocks noGrp="1"/>
          </p:cNvSpPr>
          <p:nvPr>
            <p:ph type="sldImg"/>
          </p:nvPr>
        </p:nvSpPr>
        <p:spPr>
          <a:xfrm>
            <a:off x="1371600" y="1143000"/>
            <a:ext cx="4113360" cy="3084840"/>
          </a:xfrm>
          <a:prstGeom prst="rect">
            <a:avLst/>
          </a:prstGeom>
          <a:ln w="0">
            <a:noFill/>
          </a:ln>
        </p:spPr>
      </p:sp>
      <p:sp>
        <p:nvSpPr>
          <p:cNvPr id="473"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PlaceHolder 1"/>
          <p:cNvSpPr>
            <a:spLocks noGrp="1"/>
          </p:cNvSpPr>
          <p:nvPr>
            <p:ph type="sldNum" idx="103"/>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8996FB42-803A-4DE5-8C9C-1FABDEF9751D}"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75" name="PlaceHolder 2"/>
          <p:cNvSpPr>
            <a:spLocks noGrp="1"/>
          </p:cNvSpPr>
          <p:nvPr>
            <p:ph type="sldImg"/>
          </p:nvPr>
        </p:nvSpPr>
        <p:spPr>
          <a:xfrm>
            <a:off x="1371600" y="1143000"/>
            <a:ext cx="4113360" cy="3084840"/>
          </a:xfrm>
          <a:prstGeom prst="rect">
            <a:avLst/>
          </a:prstGeom>
          <a:ln w="0">
            <a:noFill/>
          </a:ln>
        </p:spPr>
      </p:sp>
      <p:sp>
        <p:nvSpPr>
          <p:cNvPr id="476"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PlaceHolder 1"/>
          <p:cNvSpPr>
            <a:spLocks noGrp="1"/>
          </p:cNvSpPr>
          <p:nvPr>
            <p:ph type="sldNum" idx="104"/>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88623298-5CEE-401C-BC67-4657157B32E1}"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78" name="PlaceHolder 2"/>
          <p:cNvSpPr>
            <a:spLocks noGrp="1"/>
          </p:cNvSpPr>
          <p:nvPr>
            <p:ph type="sldImg"/>
          </p:nvPr>
        </p:nvSpPr>
        <p:spPr>
          <a:xfrm>
            <a:off x="1371600" y="1143000"/>
            <a:ext cx="4113360" cy="3084840"/>
          </a:xfrm>
          <a:prstGeom prst="rect">
            <a:avLst/>
          </a:prstGeom>
          <a:ln w="0">
            <a:noFill/>
          </a:ln>
        </p:spPr>
      </p:sp>
      <p:sp>
        <p:nvSpPr>
          <p:cNvPr id="479"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sldNum" idx="105"/>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908BA7FE-3902-4CE8-87D3-0A7B8F9B84D6}"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81" name="PlaceHolder 2"/>
          <p:cNvSpPr>
            <a:spLocks noGrp="1"/>
          </p:cNvSpPr>
          <p:nvPr>
            <p:ph type="sldImg"/>
          </p:nvPr>
        </p:nvSpPr>
        <p:spPr>
          <a:xfrm>
            <a:off x="1371600" y="1143000"/>
            <a:ext cx="4113360" cy="3084840"/>
          </a:xfrm>
          <a:prstGeom prst="rect">
            <a:avLst/>
          </a:prstGeom>
          <a:ln w="0">
            <a:noFill/>
          </a:ln>
        </p:spPr>
      </p:sp>
      <p:sp>
        <p:nvSpPr>
          <p:cNvPr id="482"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sldNum" idx="106"/>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76AFDF32-E745-4084-B1F6-396C7A7C12B8}"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84" name="PlaceHolder 2"/>
          <p:cNvSpPr>
            <a:spLocks noGrp="1"/>
          </p:cNvSpPr>
          <p:nvPr>
            <p:ph type="sldImg"/>
          </p:nvPr>
        </p:nvSpPr>
        <p:spPr>
          <a:xfrm>
            <a:off x="1371600" y="1143000"/>
            <a:ext cx="4113360" cy="3084840"/>
          </a:xfrm>
          <a:prstGeom prst="rect">
            <a:avLst/>
          </a:prstGeom>
          <a:ln w="0">
            <a:noFill/>
          </a:ln>
        </p:spPr>
      </p:sp>
      <p:sp>
        <p:nvSpPr>
          <p:cNvPr id="485"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sldNum" idx="107"/>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2BFA9D95-92A0-4FBF-972B-06E6184E16D2}"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87" name="PlaceHolder 2"/>
          <p:cNvSpPr>
            <a:spLocks noGrp="1"/>
          </p:cNvSpPr>
          <p:nvPr>
            <p:ph type="sldImg"/>
          </p:nvPr>
        </p:nvSpPr>
        <p:spPr>
          <a:xfrm>
            <a:off x="1371600" y="1143000"/>
            <a:ext cx="4113360" cy="3084840"/>
          </a:xfrm>
          <a:prstGeom prst="rect">
            <a:avLst/>
          </a:prstGeom>
          <a:ln w="0">
            <a:noFill/>
          </a:ln>
        </p:spPr>
      </p:sp>
      <p:sp>
        <p:nvSpPr>
          <p:cNvPr id="488"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sldNum" idx="108"/>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9486C689-BFD6-4F1A-9526-0FFC1B66CD0F}"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90" name="PlaceHolder 2"/>
          <p:cNvSpPr>
            <a:spLocks noGrp="1"/>
          </p:cNvSpPr>
          <p:nvPr>
            <p:ph type="sldImg"/>
          </p:nvPr>
        </p:nvSpPr>
        <p:spPr>
          <a:xfrm>
            <a:off x="1371600" y="1143000"/>
            <a:ext cx="4113360" cy="3084840"/>
          </a:xfrm>
          <a:prstGeom prst="rect">
            <a:avLst/>
          </a:prstGeom>
          <a:ln w="0">
            <a:noFill/>
          </a:ln>
        </p:spPr>
      </p:sp>
      <p:sp>
        <p:nvSpPr>
          <p:cNvPr id="491"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sldNum" idx="109"/>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60A71D99-131C-4939-87BF-B8A7E08DECA4}"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93" name="PlaceHolder 2"/>
          <p:cNvSpPr>
            <a:spLocks noGrp="1"/>
          </p:cNvSpPr>
          <p:nvPr>
            <p:ph type="sldImg"/>
          </p:nvPr>
        </p:nvSpPr>
        <p:spPr>
          <a:xfrm>
            <a:off x="1371600" y="1143000"/>
            <a:ext cx="4113360" cy="3084840"/>
          </a:xfrm>
          <a:prstGeom prst="rect">
            <a:avLst/>
          </a:prstGeom>
          <a:ln w="0">
            <a:noFill/>
          </a:ln>
        </p:spPr>
      </p:sp>
      <p:sp>
        <p:nvSpPr>
          <p:cNvPr id="494"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Num" idx="110"/>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483F074F-2645-413F-8E3D-99BB7844479D}"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96" name="PlaceHolder 2"/>
          <p:cNvSpPr>
            <a:spLocks noGrp="1"/>
          </p:cNvSpPr>
          <p:nvPr>
            <p:ph type="sldImg"/>
          </p:nvPr>
        </p:nvSpPr>
        <p:spPr>
          <a:xfrm>
            <a:off x="1371600" y="1143000"/>
            <a:ext cx="4113360" cy="3084840"/>
          </a:xfrm>
          <a:prstGeom prst="rect">
            <a:avLst/>
          </a:prstGeom>
          <a:ln w="0">
            <a:noFill/>
          </a:ln>
        </p:spPr>
      </p:sp>
      <p:sp>
        <p:nvSpPr>
          <p:cNvPr id="497"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sldNum" idx="111"/>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66136B60-E1F7-4771-A20B-2602A9800FAC}"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499" name="PlaceHolder 2"/>
          <p:cNvSpPr>
            <a:spLocks noGrp="1"/>
          </p:cNvSpPr>
          <p:nvPr>
            <p:ph type="sldImg"/>
          </p:nvPr>
        </p:nvSpPr>
        <p:spPr>
          <a:xfrm>
            <a:off x="1371600" y="1143000"/>
            <a:ext cx="4113360" cy="3084840"/>
          </a:xfrm>
          <a:prstGeom prst="rect">
            <a:avLst/>
          </a:prstGeom>
          <a:ln w="0">
            <a:noFill/>
          </a:ln>
        </p:spPr>
      </p:sp>
      <p:sp>
        <p:nvSpPr>
          <p:cNvPr id="500"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Num" idx="112"/>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7B607F43-487A-4356-AADD-7FF9D7FCDFFB}"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502" name="PlaceHolder 2"/>
          <p:cNvSpPr>
            <a:spLocks noGrp="1"/>
          </p:cNvSpPr>
          <p:nvPr>
            <p:ph type="sldImg"/>
          </p:nvPr>
        </p:nvSpPr>
        <p:spPr>
          <a:xfrm>
            <a:off x="1371600" y="1143000"/>
            <a:ext cx="4113360" cy="3084840"/>
          </a:xfrm>
          <a:prstGeom prst="rect">
            <a:avLst/>
          </a:prstGeom>
          <a:ln w="0">
            <a:noFill/>
          </a:ln>
        </p:spPr>
      </p:sp>
      <p:sp>
        <p:nvSpPr>
          <p:cNvPr id="503"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sldNum" idx="113"/>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A601FD6C-5CC6-4BE5-A5D2-745533C75E83}"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505" name="PlaceHolder 2"/>
          <p:cNvSpPr>
            <a:spLocks noGrp="1"/>
          </p:cNvSpPr>
          <p:nvPr>
            <p:ph type="sldImg"/>
          </p:nvPr>
        </p:nvSpPr>
        <p:spPr>
          <a:xfrm>
            <a:off x="1371600" y="1143000"/>
            <a:ext cx="4113360" cy="3084840"/>
          </a:xfrm>
          <a:prstGeom prst="rect">
            <a:avLst/>
          </a:prstGeom>
          <a:ln w="0">
            <a:noFill/>
          </a:ln>
        </p:spPr>
      </p:sp>
      <p:sp>
        <p:nvSpPr>
          <p:cNvPr id="506"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Num" idx="114"/>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F06BD3C6-69BF-423F-9552-B9E14FCCE506}"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508" name="PlaceHolder 2"/>
          <p:cNvSpPr>
            <a:spLocks noGrp="1"/>
          </p:cNvSpPr>
          <p:nvPr>
            <p:ph type="sldImg"/>
          </p:nvPr>
        </p:nvSpPr>
        <p:spPr>
          <a:xfrm>
            <a:off x="1371600" y="1143000"/>
            <a:ext cx="4113360" cy="3084840"/>
          </a:xfrm>
          <a:prstGeom prst="rect">
            <a:avLst/>
          </a:prstGeom>
          <a:ln w="0">
            <a:noFill/>
          </a:ln>
        </p:spPr>
      </p:sp>
      <p:sp>
        <p:nvSpPr>
          <p:cNvPr id="509"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Num" idx="115"/>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811B5201-8777-4FF8-8A1B-48ED79A44659}"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511" name="PlaceHolder 2"/>
          <p:cNvSpPr>
            <a:spLocks noGrp="1"/>
          </p:cNvSpPr>
          <p:nvPr>
            <p:ph type="sldImg"/>
          </p:nvPr>
        </p:nvSpPr>
        <p:spPr>
          <a:xfrm>
            <a:off x="1371600" y="1143000"/>
            <a:ext cx="4113360" cy="3084840"/>
          </a:xfrm>
          <a:prstGeom prst="rect">
            <a:avLst/>
          </a:prstGeom>
          <a:ln w="0">
            <a:noFill/>
          </a:ln>
        </p:spPr>
      </p:sp>
      <p:sp>
        <p:nvSpPr>
          <p:cNvPr id="512"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Num" idx="116"/>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6AB651FC-4EC8-441D-92C2-D88055F53412}"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514" name="PlaceHolder 2"/>
          <p:cNvSpPr>
            <a:spLocks noGrp="1"/>
          </p:cNvSpPr>
          <p:nvPr>
            <p:ph type="sldImg"/>
          </p:nvPr>
        </p:nvSpPr>
        <p:spPr>
          <a:xfrm>
            <a:off x="1371600" y="1143000"/>
            <a:ext cx="4113360" cy="3084840"/>
          </a:xfrm>
          <a:prstGeom prst="rect">
            <a:avLst/>
          </a:prstGeom>
          <a:ln w="0">
            <a:noFill/>
          </a:ln>
        </p:spPr>
      </p:sp>
      <p:sp>
        <p:nvSpPr>
          <p:cNvPr id="515"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Num" idx="117"/>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3DDD7C1C-5B1F-46E8-94C1-2657B520AA6A}"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517" name="PlaceHolder 2"/>
          <p:cNvSpPr>
            <a:spLocks noGrp="1"/>
          </p:cNvSpPr>
          <p:nvPr>
            <p:ph type="sldImg"/>
          </p:nvPr>
        </p:nvSpPr>
        <p:spPr>
          <a:xfrm>
            <a:off x="1371600" y="1143000"/>
            <a:ext cx="4113360" cy="3084840"/>
          </a:xfrm>
          <a:prstGeom prst="rect">
            <a:avLst/>
          </a:prstGeom>
          <a:ln w="0">
            <a:noFill/>
          </a:ln>
        </p:spPr>
      </p:sp>
      <p:sp>
        <p:nvSpPr>
          <p:cNvPr id="518"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Num" idx="118"/>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F857C595-CE88-46CC-A7F3-A1218E37C326}"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520" name="PlaceHolder 2"/>
          <p:cNvSpPr>
            <a:spLocks noGrp="1"/>
          </p:cNvSpPr>
          <p:nvPr>
            <p:ph type="sldImg"/>
          </p:nvPr>
        </p:nvSpPr>
        <p:spPr>
          <a:xfrm>
            <a:off x="1371600" y="1143000"/>
            <a:ext cx="4113360" cy="3084840"/>
          </a:xfrm>
          <a:prstGeom prst="rect">
            <a:avLst/>
          </a:prstGeom>
          <a:ln w="0">
            <a:noFill/>
          </a:ln>
        </p:spPr>
      </p:sp>
      <p:sp>
        <p:nvSpPr>
          <p:cNvPr id="521"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Num" idx="119"/>
          </p:nvPr>
        </p:nvSpPr>
        <p:spPr>
          <a:xfrm>
            <a:off x="3884760" y="8685360"/>
            <a:ext cx="2970360" cy="457200"/>
          </a:xfrm>
          <a:prstGeom prst="rect">
            <a:avLst/>
          </a:prstGeom>
          <a:noFill/>
          <a:ln w="0">
            <a:noFill/>
          </a:ln>
        </p:spPr>
        <p:txBody>
          <a:bodyPr lIns="91440" rIns="91440" tIns="45720" bIns="45720" anchor="b">
            <a:noAutofit/>
          </a:bodyPr>
          <a:lstStyle>
            <a:lvl1pPr indent="0" algn="r">
              <a:lnSpc>
                <a:spcPct val="100000"/>
              </a:lnSpc>
              <a:buNone/>
              <a:tabLst>
                <a:tab algn="l" pos="0"/>
              </a:tabLst>
              <a:defRPr lang="it-IT" sz="1200" b="0" u="none" strike="noStrike">
                <a:solidFill>
                  <a:schemeClr val="dk1"/>
                </a:solidFill>
                <a:effectLst/>
                <a:uFillTx/>
                <a:latin typeface="Arial"/>
                <a:ea typeface="ＭＳ Ｐゴシック"/>
              </a:defRPr>
            </a:lvl1pPr>
          </a:lstStyle>
          <a:p>
            <a:pPr indent="0" algn="r">
              <a:lnSpc>
                <a:spcPct val="100000"/>
              </a:lnSpc>
              <a:buNone/>
              <a:tabLst>
                <a:tab algn="l" pos="0"/>
              </a:tabLst>
            </a:pPr>
            <a:fld id="{BD1EB831-4B68-4097-8F87-9839ED1DFE31}" type="slidenum">
              <a:rPr lang="it-IT" sz="1200" b="0" u="none" strike="noStrike">
                <a:solidFill>
                  <a:schemeClr val="dk1"/>
                </a:solidFill>
                <a:effectLst/>
                <a:uFillTx/>
                <a:latin typeface="Arial"/>
                <a:ea typeface="ＭＳ Ｐゴシック"/>
              </a:rPr>
              <a:t>&lt;numero&gt;</a:t>
            </a:fld>
            <a:endParaRPr lang="it-IT" sz="1200" b="0" u="none" strike="noStrike">
              <a:solidFill>
                <a:srgbClr val="000000"/>
              </a:solidFill>
              <a:effectLst/>
              <a:uFillTx/>
              <a:latin typeface="Times New Roman"/>
            </a:endParaRPr>
          </a:p>
        </p:txBody>
      </p:sp>
      <p:sp>
        <p:nvSpPr>
          <p:cNvPr id="523" name="PlaceHolder 2"/>
          <p:cNvSpPr>
            <a:spLocks noGrp="1"/>
          </p:cNvSpPr>
          <p:nvPr>
            <p:ph type="sldImg"/>
          </p:nvPr>
        </p:nvSpPr>
        <p:spPr>
          <a:xfrm>
            <a:off x="1371600" y="1143000"/>
            <a:ext cx="4113360" cy="3084840"/>
          </a:xfrm>
          <a:prstGeom prst="rect">
            <a:avLst/>
          </a:prstGeom>
          <a:ln w="0">
            <a:noFill/>
          </a:ln>
        </p:spPr>
      </p:sp>
      <p:sp>
        <p:nvSpPr>
          <p:cNvPr id="524" name="PlaceHolder 3"/>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it-IT" sz="18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olo e contenuto">
    <p:bg>
      <p:bgPr>
        <a:solidFill>
          <a:schemeClr val="lt1"/>
        </a:solidFill>
      </p:bgPr>
    </p:bg>
    <p:spTree>
      <p:nvGrpSpPr>
        <p:cNvPr id="1" name=""/>
        <p:cNvGrpSpPr/>
        <p:nvPr/>
      </p:nvGrpSpPr>
      <p:grpSpPr>
        <a:xfrm>
          <a:off x="0" y="0"/>
          <a:ext cx="0" cy="0"/>
          <a:chOff x="0" y="0"/>
          <a:chExt cx="0" cy="0"/>
        </a:xfrm>
      </p:grpSpPr>
      <p:grpSp>
        <p:nvGrpSpPr>
          <p:cNvPr id="2" name="Group 15"/>
          <p:cNvGrpSpPr/>
          <p:nvPr/>
        </p:nvGrpSpPr>
        <p:grpSpPr>
          <a:xfrm>
            <a:off x="0" y="6095880"/>
            <a:ext cx="9142560" cy="760680"/>
            <a:chOff x="0" y="6095880"/>
            <a:chExt cx="9142560" cy="760680"/>
          </a:xfrm>
        </p:grpSpPr>
        <p:sp>
          <p:nvSpPr>
            <p:cNvPr id="3" name="Rectangle 13"/>
            <p:cNvSpPr/>
            <p:nvPr/>
          </p:nvSpPr>
          <p:spPr>
            <a:xfrm>
              <a:off x="0" y="6324480"/>
              <a:ext cx="9142560" cy="532080"/>
            </a:xfrm>
            <a:prstGeom prst="rect">
              <a:avLst/>
            </a:prstGeom>
            <a:solidFill>
              <a:srgbClr val="822433"/>
            </a:solidFill>
            <a:ln w="0">
              <a:noFill/>
            </a:ln>
          </p:spPr>
          <p:style>
            <a:lnRef idx="0"/>
            <a:fillRef idx="0"/>
            <a:effectRef idx="0"/>
            <a:fontRef idx="minor"/>
          </p:style>
          <p:txBody>
            <a:bodyPr wrap="none" lIns="90000" rIns="90000" tIns="45000" bIns="45000" anchor="ctr">
              <a:noAutofit/>
            </a:bodyPr>
            <a:p>
              <a:pPr defTabSz="457200">
                <a:lnSpc>
                  <a:spcPct val="100000"/>
                </a:lnSpc>
              </a:pPr>
              <a:endParaRPr lang="it-IT" sz="900" b="0" u="none" strike="noStrike">
                <a:solidFill>
                  <a:schemeClr val="lt1"/>
                </a:solidFill>
                <a:effectLst/>
                <a:uFillTx/>
                <a:latin typeface="Arial"/>
                <a:ea typeface="ＭＳ Ｐゴシック"/>
              </a:endParaRPr>
            </a:p>
          </p:txBody>
        </p:sp>
        <p:sp>
          <p:nvSpPr>
            <p:cNvPr id="4" name="Rectangle 14"/>
            <p:cNvSpPr/>
            <p:nvPr/>
          </p:nvSpPr>
          <p:spPr>
            <a:xfrm>
              <a:off x="1219320" y="6095880"/>
              <a:ext cx="7923240" cy="760680"/>
            </a:xfrm>
            <a:prstGeom prst="rect">
              <a:avLst/>
            </a:prstGeom>
            <a:solidFill>
              <a:srgbClr val="822433"/>
            </a:solidFill>
            <a:ln w="0">
              <a:noFill/>
            </a:ln>
          </p:spPr>
          <p:style>
            <a:lnRef idx="0"/>
            <a:fillRef idx="0"/>
            <a:effectRef idx="0"/>
            <a:fontRef idx="minor"/>
          </p:style>
          <p:txBody>
            <a:bodyPr wrap="none" lIns="90000" rIns="90000" tIns="45000" bIns="45000" anchor="ctr">
              <a:noAutofit/>
            </a:bodyPr>
            <a:p>
              <a:pPr defTabSz="457200">
                <a:lnSpc>
                  <a:spcPct val="100000"/>
                </a:lnSpc>
              </a:pPr>
              <a:endParaRPr lang="it-IT" sz="900" b="0" u="none" strike="noStrike">
                <a:solidFill>
                  <a:schemeClr val="lt1"/>
                </a:solidFill>
                <a:effectLst/>
                <a:uFillTx/>
                <a:latin typeface="Arial"/>
                <a:ea typeface="ＭＳ Ｐゴシック"/>
              </a:endParaRPr>
            </a:p>
          </p:txBody>
        </p:sp>
      </p:grpSp>
      <p:sp>
        <p:nvSpPr>
          <p:cNvPr id="5" name="PlaceHolder 1"/>
          <p:cNvSpPr>
            <a:spLocks noGrp="1"/>
          </p:cNvSpPr>
          <p:nvPr>
            <p:ph type="title"/>
          </p:nvPr>
        </p:nvSpPr>
        <p:spPr>
          <a:xfrm>
            <a:off x="1116000" y="409680"/>
            <a:ext cx="7558200" cy="503280"/>
          </a:xfrm>
          <a:prstGeom prst="rect">
            <a:avLst/>
          </a:prstGeom>
          <a:noFill/>
          <a:ln w="0">
            <a:noFill/>
          </a:ln>
        </p:spPr>
        <p:txBody>
          <a:bodyPr numCol="1" spcCol="0" lIns="91440" rIns="91440" tIns="45720" bIns="45720" anchor="t">
            <a:noAutofit/>
          </a:bodyPr>
          <a:p>
            <a:pPr indent="0">
              <a:lnSpc>
                <a:spcPct val="100000"/>
              </a:lnSpc>
              <a:buNone/>
              <a:tabLst>
                <a:tab algn="l" pos="0"/>
              </a:tabLst>
            </a:pPr>
            <a:r>
              <a:rPr lang="it-IT" sz="2400" b="1" u="none" strike="noStrike">
                <a:solidFill>
                  <a:srgbClr val="822433"/>
                </a:solidFill>
                <a:effectLst/>
                <a:uFillTx/>
                <a:latin typeface="Arial"/>
                <a:ea typeface="ＭＳ Ｐゴシック"/>
              </a:rPr>
              <a:t>Fare clic per modificare lo stile del titolo dello schema</a:t>
            </a:r>
            <a:endParaRPr lang="it-IT" sz="2400" b="0" u="none" strike="noStrike">
              <a:solidFill>
                <a:srgbClr val="000000"/>
              </a:solidFill>
              <a:effectLst/>
              <a:uFillTx/>
              <a:latin typeface="Arial"/>
            </a:endParaRPr>
          </a:p>
        </p:txBody>
      </p:sp>
      <p:sp>
        <p:nvSpPr>
          <p:cNvPr id="6" name="PlaceHolder 2"/>
          <p:cNvSpPr>
            <a:spLocks noGrp="1"/>
          </p:cNvSpPr>
          <p:nvPr>
            <p:ph type="body"/>
          </p:nvPr>
        </p:nvSpPr>
        <p:spPr>
          <a:xfrm>
            <a:off x="1116000" y="1752480"/>
            <a:ext cx="7558200" cy="4113360"/>
          </a:xfrm>
          <a:prstGeom prst="rect">
            <a:avLst/>
          </a:prstGeom>
          <a:noFill/>
          <a:ln w="0">
            <a:noFill/>
          </a:ln>
        </p:spPr>
        <p:txBody>
          <a:bodyPr numCol="1" spcCol="0" lIns="91440" rIns="91440" tIns="45720" bIns="45720" anchor="t">
            <a:noAutofit/>
          </a:bodyPr>
          <a:p>
            <a:pPr marL="343080" indent="-343080">
              <a:lnSpc>
                <a:spcPct val="100000"/>
              </a:lnSpc>
              <a:spcBef>
                <a:spcPts val="479"/>
              </a:spcBef>
              <a:buClr>
                <a:srgbClr val="822433"/>
              </a:buClr>
              <a:buFont typeface="Symbol" charset="2"/>
              <a:buChar char=""/>
            </a:pPr>
            <a:r>
              <a:rPr lang="it-IT" sz="2400" b="0" u="none" strike="noStrike">
                <a:solidFill>
                  <a:srgbClr val="000000"/>
                </a:solidFill>
                <a:effectLst/>
                <a:uFillTx/>
                <a:latin typeface="Arial"/>
                <a:ea typeface="ＭＳ Ｐゴシック"/>
              </a:rPr>
              <a:t>Fare clic per modificare gli stili del testo dello schema</a:t>
            </a:r>
            <a:endParaRPr lang="it-IT" sz="2400" b="0" u="none" strike="noStrike">
              <a:solidFill>
                <a:srgbClr val="000000"/>
              </a:solidFill>
              <a:effectLst/>
              <a:uFillTx/>
              <a:latin typeface="Arial"/>
            </a:endParaRPr>
          </a:p>
          <a:p>
            <a:pPr marL="743040" lvl="1" indent="-285840">
              <a:lnSpc>
                <a:spcPct val="100000"/>
              </a:lnSpc>
              <a:spcBef>
                <a:spcPts val="400"/>
              </a:spcBef>
              <a:buClr>
                <a:srgbClr val="000000"/>
              </a:buClr>
              <a:buFont typeface="Symbol" charset="2"/>
              <a:buChar char=""/>
            </a:pPr>
            <a:r>
              <a:rPr lang="it-IT" sz="2000" b="0" u="none" strike="noStrike">
                <a:solidFill>
                  <a:srgbClr val="000000"/>
                </a:solidFill>
                <a:effectLst/>
                <a:uFillTx/>
                <a:latin typeface="Arial"/>
                <a:ea typeface="ＭＳ Ｐゴシック"/>
              </a:rPr>
              <a:t>Secondo livello</a:t>
            </a:r>
            <a:endParaRPr lang="it-IT" sz="2000" b="0" u="none" strike="noStrike">
              <a:solidFill>
                <a:srgbClr val="000000"/>
              </a:solidFill>
              <a:effectLst/>
              <a:uFillTx/>
              <a:latin typeface="Arial"/>
            </a:endParaRPr>
          </a:p>
          <a:p>
            <a:pPr marL="1143000" lvl="2" indent="-228600">
              <a:lnSpc>
                <a:spcPct val="100000"/>
              </a:lnSpc>
              <a:spcBef>
                <a:spcPts val="320"/>
              </a:spcBef>
              <a:buClr>
                <a:srgbClr val="000000"/>
              </a:buClr>
              <a:buFont typeface="Symbol" charset="2"/>
              <a:buChar char=""/>
            </a:pPr>
            <a:r>
              <a:rPr lang="it-IT" sz="1600" b="0" u="none" strike="noStrike">
                <a:solidFill>
                  <a:srgbClr val="000000"/>
                </a:solidFill>
                <a:effectLst/>
                <a:uFillTx/>
                <a:latin typeface="Arial"/>
                <a:ea typeface="ＭＳ Ｐゴシック"/>
              </a:rPr>
              <a:t>Terzo livello</a:t>
            </a:r>
            <a:endParaRPr lang="it-IT" sz="1600" b="0" u="none" strike="noStrike">
              <a:solidFill>
                <a:srgbClr val="000000"/>
              </a:solidFill>
              <a:effectLst/>
              <a:uFillTx/>
              <a:latin typeface="Arial"/>
            </a:endParaRPr>
          </a:p>
          <a:p>
            <a:pPr marL="1562040" lvl="3" indent="-228600">
              <a:lnSpc>
                <a:spcPct val="100000"/>
              </a:lnSpc>
              <a:spcBef>
                <a:spcPts val="281"/>
              </a:spcBef>
              <a:buClr>
                <a:srgbClr val="000000"/>
              </a:buClr>
              <a:buFont typeface="Symbol" charset="2"/>
              <a:buChar char=""/>
            </a:pPr>
            <a:r>
              <a:rPr lang="it-IT" sz="1400" b="0" u="none" strike="noStrike">
                <a:solidFill>
                  <a:srgbClr val="000000"/>
                </a:solidFill>
                <a:effectLst/>
                <a:uFillTx/>
                <a:latin typeface="Arial"/>
                <a:ea typeface="ＭＳ Ｐゴシック"/>
              </a:rPr>
              <a:t>Quarto livello</a:t>
            </a:r>
            <a:endParaRPr lang="it-IT" sz="1400" b="0" u="none" strike="noStrike">
              <a:solidFill>
                <a:srgbClr val="000000"/>
              </a:solidFill>
              <a:effectLst/>
              <a:uFillTx/>
              <a:latin typeface="Arial"/>
            </a:endParaRPr>
          </a:p>
          <a:p>
            <a:pPr marL="1981080" lvl="4" indent="-228600">
              <a:lnSpc>
                <a:spcPct val="100000"/>
              </a:lnSpc>
              <a:spcBef>
                <a:spcPts val="241"/>
              </a:spcBef>
              <a:buClr>
                <a:srgbClr val="000000"/>
              </a:buClr>
              <a:buFont typeface="OpenSymbol"/>
              <a:buChar char="»"/>
            </a:pPr>
            <a:r>
              <a:rPr lang="it-IT" sz="1200" b="0" u="none" strike="noStrike">
                <a:solidFill>
                  <a:srgbClr val="000000"/>
                </a:solidFill>
                <a:effectLst/>
                <a:uFillTx/>
                <a:latin typeface="Arial"/>
                <a:ea typeface="ＭＳ Ｐゴシック"/>
              </a:rPr>
              <a:t>Quinto livello</a:t>
            </a:r>
            <a:endParaRPr lang="it-IT" sz="1200" b="0" u="none" strike="noStrike">
              <a:solidFill>
                <a:srgbClr val="000000"/>
              </a:solidFill>
              <a:effectLst/>
              <a:uFillTx/>
              <a:latin typeface="Arial"/>
            </a:endParaRPr>
          </a:p>
        </p:txBody>
      </p:sp>
      <p:sp>
        <p:nvSpPr>
          <p:cNvPr id="7" name="PlaceHolder 3"/>
          <p:cNvSpPr>
            <a:spLocks noGrp="1"/>
          </p:cNvSpPr>
          <p:nvPr>
            <p:ph type="dt" idx="1"/>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dk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dk1"/>
                </a:solidFill>
                <a:effectLst/>
                <a:uFillTx/>
                <a:latin typeface="Arial"/>
                <a:ea typeface="ＭＳ Ｐゴシック"/>
              </a:rPr>
              <a:t>&lt;data/ora&gt;</a:t>
            </a:r>
            <a:endParaRPr lang="it-IT" sz="1100" b="0" u="none" strike="noStrike">
              <a:solidFill>
                <a:srgbClr val="000000"/>
              </a:solidFill>
              <a:effectLst/>
              <a:uFillTx/>
              <a:latin typeface="Times New Roman"/>
            </a:endParaRPr>
          </a:p>
        </p:txBody>
      </p:sp>
      <p:sp>
        <p:nvSpPr>
          <p:cNvPr id="8" name="PlaceHolder 4"/>
          <p:cNvSpPr>
            <a:spLocks noGrp="1"/>
          </p:cNvSpPr>
          <p:nvPr>
            <p:ph type="ftr" idx="2"/>
          </p:nvPr>
        </p:nvSpPr>
        <p:spPr>
          <a:xfrm>
            <a:off x="1219320" y="6146640"/>
            <a:ext cx="2894040" cy="455760"/>
          </a:xfrm>
          <a:prstGeom prst="rect">
            <a:avLst/>
          </a:prstGeom>
          <a:noFill/>
          <a:ln w="0">
            <a:noFill/>
          </a:ln>
        </p:spPr>
        <p:txBody>
          <a:bodyPr numCol="1" spcCol="0" lIns="91440" rIns="91440" tIns="45720" bIns="45720" anchor="t">
            <a:noAutofit/>
          </a:bodyPr>
          <a:lstStyle>
            <a:lvl1pPr indent="0" defTabSz="457200">
              <a:lnSpc>
                <a:spcPct val="100000"/>
              </a:lnSpc>
              <a:buNone/>
              <a:tabLst>
                <a:tab algn="l" pos="0"/>
              </a:tabLst>
              <a:defRPr lang="it-IT" sz="1100" b="0" u="none" strike="noStrike">
                <a:solidFill>
                  <a:schemeClr val="dk1"/>
                </a:solidFill>
                <a:effectLst/>
                <a:uFillTx/>
                <a:latin typeface="Arial"/>
                <a:ea typeface="ＭＳ Ｐゴシック"/>
              </a:defRPr>
            </a:lvl1pPr>
          </a:lstStyle>
          <a:p>
            <a:pPr indent="0" defTabSz="457200">
              <a:lnSpc>
                <a:spcPct val="100000"/>
              </a:lnSpc>
              <a:buNone/>
              <a:tabLst>
                <a:tab algn="l" pos="0"/>
              </a:tabLst>
            </a:pPr>
            <a:r>
              <a:rPr lang="it-IT" sz="1100" b="0" u="none" strike="noStrike">
                <a:solidFill>
                  <a:schemeClr val="dk1"/>
                </a:solidFill>
                <a:effectLst/>
                <a:uFillTx/>
                <a:latin typeface="Arial"/>
                <a:ea typeface="ＭＳ Ｐゴシック"/>
              </a:rPr>
              <a:t>&lt;piè di pagina&gt;</a:t>
            </a:r>
            <a:endParaRPr lang="it-IT" sz="1100" b="0" u="none" strike="noStrike">
              <a:solidFill>
                <a:srgbClr val="000000"/>
              </a:solidFill>
              <a:effectLst/>
              <a:uFillTx/>
              <a:latin typeface="Times New Roman"/>
            </a:endParaRPr>
          </a:p>
        </p:txBody>
      </p:sp>
      <p:sp>
        <p:nvSpPr>
          <p:cNvPr id="9" name="PlaceHolder 5"/>
          <p:cNvSpPr>
            <a:spLocks noGrp="1"/>
          </p:cNvSpPr>
          <p:nvPr>
            <p:ph type="sldNum" idx="3"/>
          </p:nvPr>
        </p:nvSpPr>
        <p:spPr>
          <a:xfrm>
            <a:off x="6553080" y="6146640"/>
            <a:ext cx="1903680" cy="455760"/>
          </a:xfrm>
          <a:prstGeom prst="rect">
            <a:avLst/>
          </a:prstGeom>
          <a:noFill/>
          <a:ln w="0">
            <a:noFill/>
          </a:ln>
        </p:spPr>
        <p:txBody>
          <a:bodyPr numCol="1" spcCol="0" lIns="91440" rIns="91440" tIns="45720" bIns="45720" anchor="t">
            <a:noAutofit/>
          </a:bodyPr>
          <a:lstStyle>
            <a:lvl1pPr indent="0" algn="r" defTabSz="457200">
              <a:lnSpc>
                <a:spcPct val="100000"/>
              </a:lnSpc>
              <a:buNone/>
              <a:tabLst>
                <a:tab algn="l" pos="0"/>
              </a:tabLst>
              <a:defRPr lang="it-IT" sz="1100" b="0" u="none" strike="noStrike">
                <a:solidFill>
                  <a:schemeClr val="dk1"/>
                </a:solidFill>
                <a:effectLst/>
                <a:uFillTx/>
                <a:latin typeface="Arial"/>
                <a:ea typeface="ＭＳ Ｐゴシック"/>
              </a:defRPr>
            </a:lvl1pPr>
          </a:lstStyle>
          <a:p>
            <a:pPr indent="0" algn="r" defTabSz="457200">
              <a:lnSpc>
                <a:spcPct val="100000"/>
              </a:lnSpc>
              <a:buNone/>
              <a:tabLst>
                <a:tab algn="l" pos="0"/>
              </a:tabLst>
            </a:pPr>
            <a:r>
              <a:rPr lang="it-IT" sz="1100" b="0" u="none" strike="noStrike">
                <a:solidFill>
                  <a:schemeClr val="dk1"/>
                </a:solidFill>
                <a:effectLst/>
                <a:uFillTx/>
                <a:latin typeface="Arial"/>
                <a:ea typeface="ＭＳ Ｐゴシック"/>
              </a:rPr>
              <a:t>Pagina </a:t>
            </a:r>
            <a:fld id="{F368D5A6-B780-4333-8AF9-5AF9526D1756}" type="slidenum">
              <a:rPr lang="it-IT" sz="1100" b="0" u="none" strike="noStrike">
                <a:solidFill>
                  <a:schemeClr val="dk1"/>
                </a:solidFill>
                <a:effectLst/>
                <a:uFillTx/>
                <a:latin typeface="Arial"/>
                <a:ea typeface="ＭＳ Ｐゴシック"/>
              </a:rPr>
              <a:t>&lt;numero&gt;</a:t>
            </a:fld>
            <a:endParaRPr lang="it-IT" sz="11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titolo">
    <p:bg>
      <p:bgPr>
        <a:solidFill>
          <a:schemeClr val="lt1"/>
        </a:solidFill>
      </p:bgPr>
    </p:bg>
    <p:spTree>
      <p:nvGrpSpPr>
        <p:cNvPr id="1" name=""/>
        <p:cNvGrpSpPr/>
        <p:nvPr/>
      </p:nvGrpSpPr>
      <p:grpSpPr>
        <a:xfrm>
          <a:off x="0" y="0"/>
          <a:ext cx="0" cy="0"/>
          <a:chOff x="0" y="0"/>
          <a:chExt cx="0" cy="0"/>
        </a:xfrm>
      </p:grpSpPr>
      <p:grpSp>
        <p:nvGrpSpPr>
          <p:cNvPr id="10" name="Group 15"/>
          <p:cNvGrpSpPr/>
          <p:nvPr/>
        </p:nvGrpSpPr>
        <p:grpSpPr>
          <a:xfrm>
            <a:off x="0" y="6095880"/>
            <a:ext cx="9142560" cy="760680"/>
            <a:chOff x="0" y="6095880"/>
            <a:chExt cx="9142560" cy="760680"/>
          </a:xfrm>
        </p:grpSpPr>
        <p:sp>
          <p:nvSpPr>
            <p:cNvPr id="11" name="Rectangle 13"/>
            <p:cNvSpPr/>
            <p:nvPr/>
          </p:nvSpPr>
          <p:spPr>
            <a:xfrm>
              <a:off x="0" y="6324480"/>
              <a:ext cx="9142560" cy="532080"/>
            </a:xfrm>
            <a:prstGeom prst="rect">
              <a:avLst/>
            </a:prstGeom>
            <a:solidFill>
              <a:srgbClr val="822433"/>
            </a:solidFill>
            <a:ln w="0">
              <a:noFill/>
            </a:ln>
          </p:spPr>
          <p:style>
            <a:lnRef idx="0"/>
            <a:fillRef idx="0"/>
            <a:effectRef idx="0"/>
            <a:fontRef idx="minor"/>
          </p:style>
          <p:txBody>
            <a:bodyPr wrap="none" lIns="90000" rIns="90000" tIns="45000" bIns="45000" anchor="ctr">
              <a:noAutofit/>
            </a:bodyPr>
            <a:p>
              <a:pPr defTabSz="457200">
                <a:lnSpc>
                  <a:spcPct val="100000"/>
                </a:lnSpc>
              </a:pPr>
              <a:endParaRPr lang="it-IT" sz="900" b="0" u="none" strike="noStrike">
                <a:solidFill>
                  <a:schemeClr val="lt1"/>
                </a:solidFill>
                <a:effectLst/>
                <a:uFillTx/>
                <a:latin typeface="Arial"/>
                <a:ea typeface="ＭＳ Ｐゴシック"/>
              </a:endParaRPr>
            </a:p>
          </p:txBody>
        </p:sp>
        <p:sp>
          <p:nvSpPr>
            <p:cNvPr id="12" name="Rectangle 14"/>
            <p:cNvSpPr/>
            <p:nvPr/>
          </p:nvSpPr>
          <p:spPr>
            <a:xfrm>
              <a:off x="1219320" y="6095880"/>
              <a:ext cx="7923240" cy="760680"/>
            </a:xfrm>
            <a:prstGeom prst="rect">
              <a:avLst/>
            </a:prstGeom>
            <a:solidFill>
              <a:srgbClr val="822433"/>
            </a:solidFill>
            <a:ln w="0">
              <a:noFill/>
            </a:ln>
          </p:spPr>
          <p:style>
            <a:lnRef idx="0"/>
            <a:fillRef idx="0"/>
            <a:effectRef idx="0"/>
            <a:fontRef idx="minor"/>
          </p:style>
          <p:txBody>
            <a:bodyPr wrap="none" lIns="90000" rIns="90000" tIns="45000" bIns="45000" anchor="ctr">
              <a:noAutofit/>
            </a:bodyPr>
            <a:p>
              <a:pPr defTabSz="457200">
                <a:lnSpc>
                  <a:spcPct val="100000"/>
                </a:lnSpc>
              </a:pPr>
              <a:endParaRPr lang="it-IT" sz="900" b="0" u="none" strike="noStrike">
                <a:solidFill>
                  <a:schemeClr val="lt1"/>
                </a:solidFill>
                <a:effectLst/>
                <a:uFillTx/>
                <a:latin typeface="Arial"/>
                <a:ea typeface="ＭＳ Ｐゴシック"/>
              </a:endParaRPr>
            </a:p>
          </p:txBody>
        </p:sp>
      </p:grpSp>
      <p:sp>
        <p:nvSpPr>
          <p:cNvPr id="13" name="PlaceHolder 1"/>
          <p:cNvSpPr>
            <a:spLocks noGrp="1"/>
          </p:cNvSpPr>
          <p:nvPr>
            <p:ph type="title"/>
          </p:nvPr>
        </p:nvSpPr>
        <p:spPr>
          <a:xfrm>
            <a:off x="1143000" y="1122480"/>
            <a:ext cx="6856560" cy="2386080"/>
          </a:xfrm>
          <a:prstGeom prst="rect">
            <a:avLst/>
          </a:prstGeom>
          <a:noFill/>
          <a:ln w="0">
            <a:noFill/>
          </a:ln>
        </p:spPr>
        <p:txBody>
          <a:bodyPr numCol="1" spcCol="0" lIns="91440" rIns="91440" tIns="45720" bIns="45720" anchor="b">
            <a:noAutofit/>
          </a:bodyPr>
          <a:p>
            <a:pPr indent="0" algn="ctr">
              <a:lnSpc>
                <a:spcPct val="100000"/>
              </a:lnSpc>
              <a:buNone/>
              <a:tabLst>
                <a:tab algn="l" pos="0"/>
              </a:tabLst>
            </a:pPr>
            <a:r>
              <a:rPr lang="it-IT" sz="6000" b="1" u="none" strike="noStrike">
                <a:solidFill>
                  <a:srgbClr val="822433"/>
                </a:solidFill>
                <a:effectLst/>
                <a:uFillTx/>
                <a:latin typeface="Arial"/>
                <a:ea typeface="ＭＳ Ｐゴシック"/>
              </a:rPr>
              <a:t>Fare clic per modificare lo stile del titolo dello schema</a:t>
            </a:r>
            <a:endParaRPr lang="it-IT" sz="6000" b="0" u="none" strike="noStrike">
              <a:solidFill>
                <a:srgbClr val="000000"/>
              </a:solidFill>
              <a:effectLst/>
              <a:uFillTx/>
              <a:latin typeface="Arial"/>
            </a:endParaRPr>
          </a:p>
        </p:txBody>
      </p:sp>
      <p:sp>
        <p:nvSpPr>
          <p:cNvPr id="14" name="PlaceHolder 2"/>
          <p:cNvSpPr>
            <a:spLocks noGrp="1"/>
          </p:cNvSpPr>
          <p:nvPr>
            <p:ph type="dt" idx="4"/>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dk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dk1"/>
                </a:solidFill>
                <a:effectLst/>
                <a:uFillTx/>
                <a:latin typeface="Arial"/>
                <a:ea typeface="ＭＳ Ｐゴシック"/>
              </a:rPr>
              <a:t>&lt;data/ora&gt;</a:t>
            </a:r>
            <a:endParaRPr lang="it-IT" sz="1100" b="0" u="none" strike="noStrike">
              <a:solidFill>
                <a:srgbClr val="000000"/>
              </a:solidFill>
              <a:effectLst/>
              <a:uFillTx/>
              <a:latin typeface="Times New Roman"/>
            </a:endParaRPr>
          </a:p>
        </p:txBody>
      </p:sp>
      <p:sp>
        <p:nvSpPr>
          <p:cNvPr id="15" name="PlaceHolder 3"/>
          <p:cNvSpPr>
            <a:spLocks noGrp="1"/>
          </p:cNvSpPr>
          <p:nvPr>
            <p:ph type="ftr" idx="5"/>
          </p:nvPr>
        </p:nvSpPr>
        <p:spPr>
          <a:xfrm>
            <a:off x="1219320" y="6146640"/>
            <a:ext cx="2894040" cy="455760"/>
          </a:xfrm>
          <a:prstGeom prst="rect">
            <a:avLst/>
          </a:prstGeom>
          <a:noFill/>
          <a:ln w="0">
            <a:noFill/>
          </a:ln>
        </p:spPr>
        <p:txBody>
          <a:bodyPr numCol="1" spcCol="0" lIns="91440" rIns="91440" tIns="45720" bIns="45720" anchor="t">
            <a:noAutofit/>
          </a:bodyPr>
          <a:lstStyle>
            <a:lvl1pPr indent="0" defTabSz="457200">
              <a:lnSpc>
                <a:spcPct val="100000"/>
              </a:lnSpc>
              <a:buNone/>
              <a:tabLst>
                <a:tab algn="l" pos="0"/>
              </a:tabLst>
              <a:defRPr lang="it-IT" sz="1100" b="0" u="none" strike="noStrike">
                <a:solidFill>
                  <a:schemeClr val="dk1"/>
                </a:solidFill>
                <a:effectLst/>
                <a:uFillTx/>
                <a:latin typeface="Arial"/>
                <a:ea typeface="ＭＳ Ｐゴシック"/>
              </a:defRPr>
            </a:lvl1pPr>
          </a:lstStyle>
          <a:p>
            <a:pPr indent="0" defTabSz="457200">
              <a:lnSpc>
                <a:spcPct val="100000"/>
              </a:lnSpc>
              <a:buNone/>
              <a:tabLst>
                <a:tab algn="l" pos="0"/>
              </a:tabLst>
            </a:pPr>
            <a:r>
              <a:rPr lang="it-IT" sz="1100" b="0" u="none" strike="noStrike">
                <a:solidFill>
                  <a:schemeClr val="dk1"/>
                </a:solidFill>
                <a:effectLst/>
                <a:uFillTx/>
                <a:latin typeface="Arial"/>
                <a:ea typeface="ＭＳ Ｐゴシック"/>
              </a:rPr>
              <a:t>&lt;piè di pagina&gt;</a:t>
            </a:r>
            <a:endParaRPr lang="it-IT" sz="1100" b="0" u="none" strike="noStrike">
              <a:solidFill>
                <a:srgbClr val="000000"/>
              </a:solidFill>
              <a:effectLst/>
              <a:uFillTx/>
              <a:latin typeface="Times New Roman"/>
            </a:endParaRPr>
          </a:p>
        </p:txBody>
      </p:sp>
      <p:sp>
        <p:nvSpPr>
          <p:cNvPr id="16" name="PlaceHolder 4"/>
          <p:cNvSpPr>
            <a:spLocks noGrp="1"/>
          </p:cNvSpPr>
          <p:nvPr>
            <p:ph type="sldNum" idx="6"/>
          </p:nvPr>
        </p:nvSpPr>
        <p:spPr>
          <a:xfrm>
            <a:off x="6553080" y="6146640"/>
            <a:ext cx="1903680" cy="455760"/>
          </a:xfrm>
          <a:prstGeom prst="rect">
            <a:avLst/>
          </a:prstGeom>
          <a:noFill/>
          <a:ln w="0">
            <a:noFill/>
          </a:ln>
        </p:spPr>
        <p:txBody>
          <a:bodyPr numCol="1" spcCol="0" lIns="91440" rIns="91440" tIns="45720" bIns="45720" anchor="t">
            <a:noAutofit/>
          </a:bodyPr>
          <a:lstStyle>
            <a:lvl1pPr indent="0" algn="r" defTabSz="457200">
              <a:lnSpc>
                <a:spcPct val="100000"/>
              </a:lnSpc>
              <a:buNone/>
              <a:tabLst>
                <a:tab algn="l" pos="0"/>
              </a:tabLst>
              <a:defRPr lang="it-IT" sz="1100" b="0" u="none" strike="noStrike">
                <a:solidFill>
                  <a:schemeClr val="dk1"/>
                </a:solidFill>
                <a:effectLst/>
                <a:uFillTx/>
                <a:latin typeface="Arial"/>
                <a:ea typeface="ＭＳ Ｐゴシック"/>
              </a:defRPr>
            </a:lvl1pPr>
          </a:lstStyle>
          <a:p>
            <a:pPr indent="0" algn="r" defTabSz="457200">
              <a:lnSpc>
                <a:spcPct val="100000"/>
              </a:lnSpc>
              <a:buNone/>
              <a:tabLst>
                <a:tab algn="l" pos="0"/>
              </a:tabLst>
            </a:pPr>
            <a:r>
              <a:rPr lang="it-IT" sz="1100" b="0" u="none" strike="noStrike">
                <a:solidFill>
                  <a:schemeClr val="dk1"/>
                </a:solidFill>
                <a:effectLst/>
                <a:uFillTx/>
                <a:latin typeface="Arial"/>
                <a:ea typeface="ＭＳ Ｐゴシック"/>
              </a:rPr>
              <a:t>Pagina </a:t>
            </a:r>
            <a:fld id="{154A12A0-8EC9-4234-B0FD-D65F9BACC993}" type="slidenum">
              <a:rPr lang="it-IT" sz="1100" b="0" u="none" strike="noStrike">
                <a:solidFill>
                  <a:schemeClr val="dk1"/>
                </a:solidFill>
                <a:effectLst/>
                <a:uFillTx/>
                <a:latin typeface="Arial"/>
                <a:ea typeface="ＭＳ Ｐゴシック"/>
              </a:rPr>
              <a:t>&lt;numero&gt;</a:t>
            </a:fld>
            <a:endParaRPr lang="it-IT" sz="1100" b="0" u="none" strike="noStrike">
              <a:solidFill>
                <a:srgbClr val="000000"/>
              </a:solidFill>
              <a:effectLst/>
              <a:uFillTx/>
              <a:latin typeface="Times New Roman"/>
            </a:endParaRPr>
          </a:p>
        </p:txBody>
      </p:sp>
      <p:sp>
        <p:nvSpPr>
          <p:cNvPr id="17" name="PlaceHolder 5"/>
          <p:cNvSpPr>
            <a:spLocks noGrp="1"/>
          </p:cNvSpPr>
          <p:nvPr>
            <p:ph type="body"/>
          </p:nvPr>
        </p:nvSpPr>
        <p:spPr>
          <a:xfrm>
            <a:off x="457200" y="1604520"/>
            <a:ext cx="8228160" cy="39762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2400" b="0" u="none" strike="noStrike">
                <a:solidFill>
                  <a:srgbClr val="000000"/>
                </a:solidFill>
                <a:effectLst/>
                <a:uFillTx/>
                <a:latin typeface="Arial"/>
              </a:rPr>
              <a:t>Fai clic per modificare il formato del testo della struttura</a:t>
            </a:r>
            <a:endParaRPr lang="it-IT" sz="24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1600" b="0" u="none" strike="noStrike">
                <a:solidFill>
                  <a:srgbClr val="000000"/>
                </a:solidFill>
                <a:effectLst/>
                <a:uFillTx/>
                <a:latin typeface="Arial"/>
              </a:rPr>
              <a:t>Secondo livello struttura</a:t>
            </a:r>
            <a:endParaRPr lang="it-IT" sz="16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1400" b="0" u="none" strike="noStrike">
                <a:solidFill>
                  <a:srgbClr val="000000"/>
                </a:solidFill>
                <a:effectLst/>
                <a:uFillTx/>
                <a:latin typeface="Arial"/>
              </a:rPr>
              <a:t>Terzo livello struttura</a:t>
            </a:r>
            <a:endParaRPr lang="it-IT" sz="1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1200" b="0" u="none" strike="noStrike">
                <a:solidFill>
                  <a:srgbClr val="000000"/>
                </a:solidFill>
                <a:effectLst/>
                <a:uFillTx/>
                <a:latin typeface="Arial"/>
              </a:rPr>
              <a:t>Quarto livello struttura</a:t>
            </a:r>
            <a:endParaRPr lang="it-IT" sz="12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Quinto livello struttura</a:t>
            </a:r>
            <a:endParaRPr lang="it-IT"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Sesto livello struttura</a:t>
            </a:r>
            <a:endParaRPr lang="it-IT"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Settimo livello struttura</a:t>
            </a:r>
            <a:endParaRPr lang="it-IT" sz="20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slideLayout" Target="../slideLayouts/slideLayout1.xml"/><Relationship Id="rId6"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13.png"/><Relationship Id="rId3" Type="http://schemas.openxmlformats.org/officeDocument/2006/relationships/slideLayout" Target="../slideLayouts/slideLayout1.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1.xml"/><Relationship Id="rId4"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1.xml"/><Relationship Id="rId4"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3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Rectangle 11"/>
          <p:cNvSpPr/>
          <p:nvPr/>
        </p:nvSpPr>
        <p:spPr>
          <a:xfrm>
            <a:off x="0" y="-300600"/>
            <a:ext cx="9142560" cy="4903920"/>
          </a:xfrm>
          <a:prstGeom prst="rect">
            <a:avLst/>
          </a:prstGeom>
          <a:solidFill>
            <a:srgbClr val="006778"/>
          </a:solidFill>
          <a:ln w="0">
            <a:noFill/>
          </a:ln>
        </p:spPr>
        <p:style>
          <a:lnRef idx="0"/>
          <a:fillRef idx="0"/>
          <a:effectRef idx="0"/>
          <a:fontRef idx="minor"/>
        </p:style>
        <p:txBody>
          <a:bodyPr wrap="none" lIns="90000" rIns="90000" tIns="45000" bIns="45000" anchor="ctr">
            <a:noAutofit/>
          </a:bodyPr>
          <a:p>
            <a:pPr defTabSz="457200">
              <a:lnSpc>
                <a:spcPct val="100000"/>
              </a:lnSpc>
            </a:pPr>
            <a:endParaRPr lang="it-IT" sz="900" b="0" u="none" strike="noStrike">
              <a:solidFill>
                <a:srgbClr val="000000"/>
              </a:solidFill>
              <a:effectLst/>
              <a:uFillTx/>
              <a:latin typeface="Arial"/>
              <a:ea typeface="ＭＳ Ｐゴシック"/>
            </a:endParaRPr>
          </a:p>
        </p:txBody>
      </p:sp>
      <p:sp>
        <p:nvSpPr>
          <p:cNvPr id="25" name="PlaceHolder 1"/>
          <p:cNvSpPr>
            <a:spLocks noGrp="1"/>
          </p:cNvSpPr>
          <p:nvPr>
            <p:ph type="title"/>
          </p:nvPr>
        </p:nvSpPr>
        <p:spPr>
          <a:xfrm>
            <a:off x="1331280" y="1440000"/>
            <a:ext cx="6767640" cy="877680"/>
          </a:xfrm>
          <a:prstGeom prst="rect">
            <a:avLst/>
          </a:prstGeom>
          <a:noFill/>
          <a:ln w="0">
            <a:noFill/>
          </a:ln>
        </p:spPr>
        <p:txBody>
          <a:bodyPr numCol="1" spcCol="0" lIns="91440" rIns="91440" tIns="45720" bIns="45720" anchor="t">
            <a:noAutofit/>
          </a:bodyPr>
          <a:p>
            <a:pPr indent="0" algn="ctr">
              <a:lnSpc>
                <a:spcPct val="100000"/>
              </a:lnSpc>
              <a:spcBef>
                <a:spcPts val="1191"/>
              </a:spcBef>
              <a:spcAft>
                <a:spcPts val="992"/>
              </a:spcAft>
              <a:buNone/>
              <a:tabLst>
                <a:tab algn="l" pos="0"/>
              </a:tabLst>
            </a:pPr>
            <a:r>
              <a:rPr lang="it-IT" sz="2400" b="1" u="none" strike="noStrike">
                <a:solidFill>
                  <a:schemeClr val="lt1"/>
                </a:solidFill>
                <a:effectLst/>
                <a:uFillTx/>
                <a:latin typeface="Arial"/>
                <a:ea typeface="ＭＳ Ｐゴシック"/>
              </a:rPr>
              <a:t> </a:t>
            </a:r>
            <a:r>
              <a:rPr lang="it-IT" sz="2600" b="1" u="none" strike="noStrike">
                <a:solidFill>
                  <a:schemeClr val="lt1"/>
                </a:solidFill>
                <a:effectLst/>
                <a:uFillTx/>
                <a:latin typeface="Arial"/>
                <a:ea typeface="ＭＳ Ｐゴシック"/>
              </a:rPr>
              <a:t> A Unified Sparse Matrix Format for Modern SIMD Processors</a:t>
            </a:r>
            <a:br>
              <a:rPr sz="2600"/>
            </a:br>
            <a:endParaRPr lang="it-IT" sz="2600" b="0" u="none" strike="noStrike">
              <a:solidFill>
                <a:srgbClr val="000000"/>
              </a:solidFill>
              <a:effectLst/>
              <a:uFillTx/>
              <a:latin typeface="Arial"/>
            </a:endParaRPr>
          </a:p>
        </p:txBody>
      </p:sp>
      <p:grpSp>
        <p:nvGrpSpPr>
          <p:cNvPr id="26" name="Group 17"/>
          <p:cNvGrpSpPr/>
          <p:nvPr/>
        </p:nvGrpSpPr>
        <p:grpSpPr>
          <a:xfrm>
            <a:off x="0" y="4270680"/>
            <a:ext cx="9151920" cy="2561400"/>
            <a:chOff x="0" y="4270680"/>
            <a:chExt cx="9151920" cy="2561400"/>
          </a:xfrm>
        </p:grpSpPr>
        <p:pic>
          <p:nvPicPr>
            <p:cNvPr id="27" name="Picture 15" descr="Fondino"/>
            <p:cNvPicPr/>
            <p:nvPr/>
          </p:nvPicPr>
          <p:blipFill>
            <a:blip r:embed="rId1"/>
            <a:stretch/>
          </p:blipFill>
          <p:spPr>
            <a:xfrm>
              <a:off x="0" y="4270680"/>
              <a:ext cx="9151920" cy="2561400"/>
            </a:xfrm>
            <a:prstGeom prst="rect">
              <a:avLst/>
            </a:prstGeom>
            <a:noFill/>
            <a:ln w="0">
              <a:noFill/>
            </a:ln>
          </p:spPr>
        </p:pic>
        <p:pic>
          <p:nvPicPr>
            <p:cNvPr id="28" name="Picture 16" descr="fascia"/>
            <p:cNvPicPr/>
            <p:nvPr/>
          </p:nvPicPr>
          <p:blipFill>
            <a:blip r:embed="rId2"/>
            <a:stretch/>
          </p:blipFill>
          <p:spPr>
            <a:xfrm>
              <a:off x="2081880" y="4299120"/>
              <a:ext cx="7060680" cy="877680"/>
            </a:xfrm>
            <a:prstGeom prst="rect">
              <a:avLst/>
            </a:prstGeom>
            <a:noFill/>
            <a:ln w="0">
              <a:noFill/>
            </a:ln>
          </p:spPr>
        </p:pic>
      </p:grpSp>
      <p:sp>
        <p:nvSpPr>
          <p:cNvPr id="29" name="CasellaDiTesto 2"/>
          <p:cNvSpPr/>
          <p:nvPr/>
        </p:nvSpPr>
        <p:spPr>
          <a:xfrm>
            <a:off x="2301840" y="3406320"/>
            <a:ext cx="6145200" cy="1064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endParaRPr lang="it-IT" sz="1600" b="0" u="none" strike="noStrike">
              <a:solidFill>
                <a:srgbClr val="000000"/>
              </a:solidFill>
              <a:effectLst/>
              <a:uFillTx/>
              <a:latin typeface="Arial"/>
            </a:endParaRPr>
          </a:p>
          <a:p>
            <a:pPr defTabSz="457200">
              <a:lnSpc>
                <a:spcPct val="100000"/>
              </a:lnSpc>
            </a:pP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endParaRPr lang="it-IT" sz="1600" b="0" u="none" strike="noStrike">
              <a:solidFill>
                <a:srgbClr val="000000"/>
              </a:solidFill>
              <a:effectLst/>
              <a:uFillTx/>
              <a:latin typeface="Arial"/>
            </a:endParaRPr>
          </a:p>
          <a:p>
            <a:pPr defTabSz="457200">
              <a:lnSpc>
                <a:spcPct val="100000"/>
              </a:lnSpc>
            </a:pP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Advanced Architectures</a:t>
            </a:r>
            <a:endParaRPr lang="it-IT" sz="1600" b="0" u="none" strike="noStrike">
              <a:solidFill>
                <a:srgbClr val="000000"/>
              </a:solidFill>
              <a:effectLst/>
              <a:uFillTx/>
              <a:latin typeface="Arial"/>
            </a:endParaRPr>
          </a:p>
          <a:p>
            <a:pPr defTabSz="457200">
              <a:lnSpc>
                <a:spcPct val="100000"/>
              </a:lnSpc>
            </a:pPr>
            <a:endParaRPr lang="it-IT" sz="1600" b="0" u="none" strike="noStrike">
              <a:solidFill>
                <a:srgbClr val="000000"/>
              </a:solidFill>
              <a:effectLst/>
              <a:uFillTx/>
              <a:latin typeface="Arial"/>
            </a:endParaRPr>
          </a:p>
        </p:txBody>
      </p:sp>
      <p:pic>
        <p:nvPicPr>
          <p:cNvPr id="30" name="Picture 10" descr="A white text on a black background&#10;&#10;Description automatically generated with medium confidence"/>
          <p:cNvPicPr/>
          <p:nvPr/>
        </p:nvPicPr>
        <p:blipFill>
          <a:blip r:embed="rId3"/>
          <a:stretch/>
        </p:blipFill>
        <p:spPr>
          <a:xfrm>
            <a:off x="1403640" y="4631760"/>
            <a:ext cx="2550600" cy="786240"/>
          </a:xfrm>
          <a:prstGeom prst="rect">
            <a:avLst/>
          </a:prstGeom>
          <a:noFill/>
          <a:ln w="0">
            <a:noFill/>
          </a:ln>
        </p:spPr>
      </p:pic>
      <p:sp>
        <p:nvSpPr>
          <p:cNvPr id="31" name="CasellaDiTesto 4"/>
          <p:cNvSpPr/>
          <p:nvPr/>
        </p:nvSpPr>
        <p:spPr>
          <a:xfrm>
            <a:off x="5757120" y="5030280"/>
            <a:ext cx="3454560" cy="820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it-IT" sz="1600" b="0" u="none" strike="noStrike">
                <a:solidFill>
                  <a:schemeClr val="lt1"/>
                </a:solidFill>
                <a:effectLst/>
                <a:uFillTx/>
                <a:latin typeface="Arial"/>
                <a:ea typeface="ＭＳ Ｐゴシック"/>
              </a:rPr>
              <a:t>Ilaria Scarselli</a:t>
            </a:r>
            <a:endParaRPr lang="it-IT" sz="1600" b="0" u="none" strike="noStrike">
              <a:solidFill>
                <a:srgbClr val="000000"/>
              </a:solidFill>
              <a:effectLst/>
              <a:uFillTx/>
              <a:latin typeface="Arial"/>
            </a:endParaRPr>
          </a:p>
          <a:p>
            <a:pPr defTabSz="457200">
              <a:lnSpc>
                <a:spcPct val="100000"/>
              </a:lnSpc>
            </a:pPr>
            <a:endParaRPr lang="it-IT" sz="1600" b="0" u="none" strike="noStrike">
              <a:solidFill>
                <a:srgbClr val="000000"/>
              </a:solidFill>
              <a:effectLst/>
              <a:uFillTx/>
              <a:latin typeface="Arial"/>
            </a:endParaRPr>
          </a:p>
          <a:p>
            <a:pPr defTabSz="457200">
              <a:lnSpc>
                <a:spcPct val="100000"/>
              </a:lnSpc>
            </a:pPr>
            <a:r>
              <a:rPr lang="it-IT" sz="1600" b="0" u="none" strike="noStrike">
                <a:solidFill>
                  <a:schemeClr val="lt1"/>
                </a:solidFill>
                <a:effectLst/>
                <a:uFillTx/>
                <a:latin typeface="Arial"/>
                <a:ea typeface="ＭＳ Ｐゴシック"/>
              </a:rPr>
              <a:t>ID: 1918975</a:t>
            </a:r>
            <a:endParaRPr lang="it-IT" sz="16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PlaceHolder 1"/>
          <p:cNvSpPr>
            <a:spLocks noGrp="1"/>
          </p:cNvSpPr>
          <p:nvPr>
            <p:ph type="ftr" idx="10"/>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33" name="PlaceHolder 2"/>
          <p:cNvSpPr>
            <a:spLocks noGrp="1"/>
          </p:cNvSpPr>
          <p:nvPr>
            <p:ph type="dt" idx="11"/>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p:txBody>
      </p:sp>
      <p:sp>
        <p:nvSpPr>
          <p:cNvPr id="34" name="Rettangolo 20"/>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lang="it-IT" sz="900" b="0" u="none" strike="noStrike">
              <a:solidFill>
                <a:schemeClr val="lt1"/>
              </a:solidFill>
              <a:effectLst/>
              <a:uFillTx/>
              <a:latin typeface="Arial"/>
              <a:ea typeface="ＭＳ Ｐゴシック"/>
            </a:endParaRPr>
          </a:p>
        </p:txBody>
      </p:sp>
      <p:sp>
        <p:nvSpPr>
          <p:cNvPr id="35" name="Segnaposto numero diapositiva 5"/>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1</a:t>
            </a:r>
            <a:endParaRPr lang="it-IT" sz="1100" b="0" u="none" strike="noStrike">
              <a:solidFill>
                <a:srgbClr val="000000"/>
              </a:solidFill>
              <a:effectLst/>
              <a:uFillTx/>
              <a:latin typeface="Arial"/>
            </a:endParaRPr>
          </a:p>
        </p:txBody>
      </p:sp>
      <p:sp>
        <p:nvSpPr>
          <p:cNvPr id="36" name="Rectangle 2"/>
          <p:cNvSpPr/>
          <p:nvPr/>
        </p:nvSpPr>
        <p:spPr>
          <a:xfrm>
            <a:off x="0" y="28306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Why Do We Need Efficient Sparse Formats? </a:t>
            </a:r>
            <a:endParaRPr lang="it-IT" sz="24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ftr" idx="12"/>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38" name="PlaceHolder 2"/>
          <p:cNvSpPr>
            <a:spLocks noGrp="1"/>
          </p:cNvSpPr>
          <p:nvPr>
            <p:ph type="dt" idx="13"/>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39" name="Rettangolo 20"/>
          <p:cNvSpPr/>
          <p:nvPr/>
        </p:nvSpPr>
        <p:spPr>
          <a:xfrm>
            <a:off x="-47520" y="170280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lang="it-IT" sz="900" b="0" u="none" strike="noStrike">
              <a:solidFill>
                <a:schemeClr val="lt1"/>
              </a:solidFill>
              <a:effectLst/>
              <a:uFillTx/>
              <a:latin typeface="Arial"/>
              <a:ea typeface="ＭＳ Ｐゴシック"/>
            </a:endParaRPr>
          </a:p>
        </p:txBody>
      </p:sp>
      <p:sp>
        <p:nvSpPr>
          <p:cNvPr id="40" name="Segnaposto numero diapositiva 5"/>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1</a:t>
            </a:r>
            <a:endParaRPr lang="it-IT" sz="1100" b="0" u="none" strike="noStrike">
              <a:solidFill>
                <a:srgbClr val="000000"/>
              </a:solidFill>
              <a:effectLst/>
              <a:uFillTx/>
              <a:latin typeface="Arial"/>
            </a:endParaRPr>
          </a:p>
        </p:txBody>
      </p:sp>
      <p:sp>
        <p:nvSpPr>
          <p:cNvPr id="41" name="Rectangle 2"/>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Why Do We Need Efficient Sparse Formats?</a:t>
            </a:r>
            <a:endParaRPr lang="it-IT" sz="2400" b="0" u="none" strike="noStrike">
              <a:solidFill>
                <a:srgbClr val="000000"/>
              </a:solidFill>
              <a:effectLst/>
              <a:uFillTx/>
              <a:latin typeface="Arial"/>
            </a:endParaRPr>
          </a:p>
        </p:txBody>
      </p:sp>
      <p:sp>
        <p:nvSpPr>
          <p:cNvPr id="42" name="Rettangolo 6"/>
          <p:cNvSpPr/>
          <p:nvPr/>
        </p:nvSpPr>
        <p:spPr>
          <a:xfrm>
            <a:off x="2307960" y="1604160"/>
            <a:ext cx="1355040" cy="371880"/>
          </a:xfrm>
          <a:prstGeom prst="rect">
            <a:avLst/>
          </a:prstGeom>
          <a:noFill/>
          <a:ln w="0">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lang="en-US" sz="900" b="0" u="none" strike="noStrike">
              <a:solidFill>
                <a:schemeClr val="lt1"/>
              </a:solidFill>
              <a:effectLst/>
              <a:uFillTx/>
              <a:latin typeface="Arial"/>
              <a:ea typeface="ＭＳ Ｐゴシック"/>
            </a:endParaRPr>
          </a:p>
        </p:txBody>
      </p:sp>
      <p:sp>
        <p:nvSpPr>
          <p:cNvPr id="43" name="Rettangolo 7"/>
          <p:cNvSpPr/>
          <p:nvPr/>
        </p:nvSpPr>
        <p:spPr>
          <a:xfrm>
            <a:off x="7560000" y="2625120"/>
            <a:ext cx="1355040" cy="455760"/>
          </a:xfrm>
          <a:prstGeom prst="rect">
            <a:avLst/>
          </a:pr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lang="en-US" sz="900" b="0" u="none" strike="noStrike">
              <a:solidFill>
                <a:schemeClr val="lt1"/>
              </a:solidFill>
              <a:effectLst/>
              <a:uFillTx/>
              <a:latin typeface="Arial"/>
              <a:ea typeface="ＭＳ Ｐゴシック"/>
            </a:endParaRPr>
          </a:p>
        </p:txBody>
      </p:sp>
      <p:sp>
        <p:nvSpPr>
          <p:cNvPr id="44" name="Rettangolo 10"/>
          <p:cNvSpPr/>
          <p:nvPr/>
        </p:nvSpPr>
        <p:spPr>
          <a:xfrm>
            <a:off x="6469560" y="1515960"/>
            <a:ext cx="1598760" cy="371880"/>
          </a:xfrm>
          <a:prstGeom prst="rect">
            <a:avLst/>
          </a:pr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lang="en-US" sz="900" b="0" u="none" strike="noStrike">
              <a:solidFill>
                <a:schemeClr val="lt1"/>
              </a:solidFill>
              <a:effectLst/>
              <a:uFillTx/>
              <a:latin typeface="Arial"/>
              <a:ea typeface="ＭＳ Ｐゴシック"/>
            </a:endParaRPr>
          </a:p>
        </p:txBody>
      </p:sp>
      <p:sp>
        <p:nvSpPr>
          <p:cNvPr id="45" name="CasellaDiTesto 14"/>
          <p:cNvSpPr/>
          <p:nvPr/>
        </p:nvSpPr>
        <p:spPr>
          <a:xfrm>
            <a:off x="495360" y="1489320"/>
            <a:ext cx="7783560" cy="913680"/>
          </a:xfrm>
          <a:prstGeom prst="rect">
            <a:avLst/>
          </a:prstGeom>
          <a:noFill/>
          <a:ln w="0">
            <a:noFill/>
          </a:ln>
        </p:spPr>
        <p:style>
          <a:lnRef idx="0"/>
          <a:fillRef idx="0"/>
          <a:effectRef idx="0"/>
          <a:fontRef idx="minor"/>
        </p:style>
        <p:txBody>
          <a:bodyPr numCol="1" spcCol="0" lIns="90000" rIns="90000" tIns="45000" bIns="45000" anchor="t">
            <a:spAutoFit/>
          </a:bodyPr>
          <a:p>
            <a:pPr marL="343080" indent="-343080" algn="just" defTabSz="457200">
              <a:lnSpc>
                <a:spcPct val="100000"/>
              </a:lnSpc>
              <a:spcBef>
                <a:spcPts val="1191"/>
              </a:spcBef>
              <a:spcAft>
                <a:spcPts val="992"/>
              </a:spcAft>
              <a:buClr>
                <a:srgbClr val="000000"/>
              </a:buClr>
              <a:buFont typeface="Arial"/>
              <a:buChar char="•"/>
            </a:pPr>
            <a:r>
              <a:rPr lang="it-IT" sz="1800" b="0" u="none" strike="noStrike">
                <a:solidFill>
                  <a:srgbClr val="000000"/>
                </a:solidFill>
                <a:effectLst/>
                <a:uFillTx/>
                <a:latin typeface="Arial"/>
                <a:ea typeface="ＭＳ Ｐゴシック"/>
              </a:rPr>
              <a:t>Sparse matrices are used everywhere in science and engineering, where one of the most time-consuming building blocks is the multiplication of large sparse matrices with dense vectors (spMVM)...</a:t>
            </a: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 presetClass="entr" fill="hold" nodeType="with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ftr" idx="14"/>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47" name="PlaceHolder 2"/>
          <p:cNvSpPr>
            <a:spLocks noGrp="1"/>
          </p:cNvSpPr>
          <p:nvPr>
            <p:ph type="dt" idx="15"/>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48" name="Rettangolo 1"/>
          <p:cNvSpPr/>
          <p:nvPr/>
        </p:nvSpPr>
        <p:spPr>
          <a:xfrm>
            <a:off x="-47520" y="170280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49" name="Segnaposto numero diapositiva 1"/>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1</a:t>
            </a:r>
            <a:endParaRPr lang="it-IT" sz="1100" b="0" u="none" strike="noStrike">
              <a:solidFill>
                <a:srgbClr val="000000"/>
              </a:solidFill>
              <a:effectLst/>
              <a:uFillTx/>
              <a:latin typeface="Arial"/>
            </a:endParaRPr>
          </a:p>
        </p:txBody>
      </p:sp>
      <p:sp>
        <p:nvSpPr>
          <p:cNvPr id="50" name="Rectangle 1"/>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Why Do We Need Efficient Sparse Formats?</a:t>
            </a:r>
            <a:endParaRPr lang="it-IT" sz="2400" b="0" u="none" strike="noStrike">
              <a:solidFill>
                <a:srgbClr val="000000"/>
              </a:solidFill>
              <a:effectLst/>
              <a:uFillTx/>
              <a:latin typeface="Arial"/>
            </a:endParaRPr>
          </a:p>
        </p:txBody>
      </p:sp>
      <p:sp>
        <p:nvSpPr>
          <p:cNvPr id="51" name="Rettangolo 2"/>
          <p:cNvSpPr/>
          <p:nvPr/>
        </p:nvSpPr>
        <p:spPr>
          <a:xfrm>
            <a:off x="2307960" y="1604160"/>
            <a:ext cx="1355040" cy="37188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en-US" sz="900" b="0" u="none" strike="noStrike">
              <a:solidFill>
                <a:schemeClr val="lt1"/>
              </a:solidFill>
              <a:effectLst/>
              <a:uFillTx/>
              <a:latin typeface="Arial"/>
              <a:ea typeface="ＭＳ Ｐゴシック"/>
            </a:endParaRPr>
          </a:p>
        </p:txBody>
      </p:sp>
      <p:sp>
        <p:nvSpPr>
          <p:cNvPr id="52" name="Rettangolo 3"/>
          <p:cNvSpPr/>
          <p:nvPr/>
        </p:nvSpPr>
        <p:spPr>
          <a:xfrm>
            <a:off x="7560000" y="2625120"/>
            <a:ext cx="1355040" cy="455760"/>
          </a:xfrm>
          <a:prstGeom prst="rect">
            <a:avLst/>
          </a:prstGeom>
          <a:solidFill>
            <a:schemeClr val="accent3"/>
          </a:solidFill>
          <a:ln w="0">
            <a:noFill/>
          </a:ln>
        </p:spPr>
        <p:style>
          <a:lnRef idx="0"/>
          <a:fillRef idx="0"/>
          <a:effectRef idx="0"/>
          <a:fontRef idx="minor"/>
        </p:style>
        <p:txBody>
          <a:bodyPr numCol="1" spcCol="0" lIns="90000" rIns="90000" tIns="45000" bIns="45000" anchor="t">
            <a:noAutofit/>
          </a:bodyPr>
          <a:p>
            <a:pPr>
              <a:lnSpc>
                <a:spcPct val="100000"/>
              </a:lnSpc>
            </a:pPr>
            <a:endParaRPr lang="en-US" sz="900" b="0" u="none" strike="noStrike">
              <a:solidFill>
                <a:schemeClr val="lt1"/>
              </a:solidFill>
              <a:effectLst/>
              <a:uFillTx/>
              <a:latin typeface="Arial"/>
              <a:ea typeface="ＭＳ Ｐゴシック"/>
            </a:endParaRPr>
          </a:p>
        </p:txBody>
      </p:sp>
      <p:sp>
        <p:nvSpPr>
          <p:cNvPr id="53" name="Rettangolo 4"/>
          <p:cNvSpPr/>
          <p:nvPr/>
        </p:nvSpPr>
        <p:spPr>
          <a:xfrm>
            <a:off x="6469560" y="1515960"/>
            <a:ext cx="1598760" cy="371880"/>
          </a:xfrm>
          <a:prstGeom prst="rect">
            <a:avLst/>
          </a:prstGeom>
          <a:solidFill>
            <a:schemeClr val="accent3"/>
          </a:solidFill>
          <a:ln w="0">
            <a:noFill/>
          </a:ln>
        </p:spPr>
        <p:style>
          <a:lnRef idx="0"/>
          <a:fillRef idx="0"/>
          <a:effectRef idx="0"/>
          <a:fontRef idx="minor"/>
        </p:style>
        <p:txBody>
          <a:bodyPr numCol="1" spcCol="0" lIns="90000" rIns="90000" tIns="45000" bIns="45000" anchor="t">
            <a:noAutofit/>
          </a:bodyPr>
          <a:p>
            <a:pPr>
              <a:lnSpc>
                <a:spcPct val="100000"/>
              </a:lnSpc>
            </a:pPr>
            <a:endParaRPr lang="en-US" sz="900" b="0" u="none" strike="noStrike">
              <a:solidFill>
                <a:schemeClr val="lt1"/>
              </a:solidFill>
              <a:effectLst/>
              <a:uFillTx/>
              <a:latin typeface="Arial"/>
              <a:ea typeface="ＭＳ Ｐゴシック"/>
            </a:endParaRPr>
          </a:p>
        </p:txBody>
      </p:sp>
      <p:sp>
        <p:nvSpPr>
          <p:cNvPr id="54" name="CasellaDiTesto 1"/>
          <p:cNvSpPr/>
          <p:nvPr/>
        </p:nvSpPr>
        <p:spPr>
          <a:xfrm>
            <a:off x="495360" y="1489320"/>
            <a:ext cx="7783560" cy="1738440"/>
          </a:xfrm>
          <a:prstGeom prst="rect">
            <a:avLst/>
          </a:prstGeom>
          <a:noFill/>
          <a:ln w="0">
            <a:noFill/>
          </a:ln>
        </p:spPr>
        <p:style>
          <a:lnRef idx="0"/>
          <a:fillRef idx="0"/>
          <a:effectRef idx="0"/>
          <a:fontRef idx="minor"/>
        </p:style>
        <p:txBody>
          <a:bodyPr numCol="1" spcCol="0" lIns="90000" rIns="90000" tIns="45000" bIns="45000" anchor="t">
            <a:spAutoFit/>
          </a:bodyPr>
          <a:p>
            <a:pPr marL="343080" indent="-343080" algn="just" defTabSz="457200">
              <a:lnSpc>
                <a:spcPct val="100000"/>
              </a:lnSpc>
              <a:spcBef>
                <a:spcPts val="1191"/>
              </a:spcBef>
              <a:spcAft>
                <a:spcPts val="992"/>
              </a:spcAft>
              <a:buClr>
                <a:srgbClr val="000000"/>
              </a:buClr>
              <a:buFont typeface="Arial"/>
              <a:buChar char="•"/>
            </a:pPr>
            <a:r>
              <a:rPr lang="it-IT" sz="1800" b="0" u="none" strike="noStrike">
                <a:solidFill>
                  <a:srgbClr val="000000"/>
                </a:solidFill>
                <a:effectLst/>
                <a:uFillTx/>
                <a:latin typeface="Arial"/>
                <a:ea typeface="ＭＳ Ｐゴシック"/>
              </a:rPr>
              <a:t>Sparse matrices are used everywhere in science and engineering, where one of the most time-consuming building blocks is the multiplication of large sparse matrices with dense vectors (spMVM)…</a:t>
            </a:r>
            <a:endParaRPr lang="it-IT" sz="1800" b="0" u="none" strike="noStrike">
              <a:solidFill>
                <a:srgbClr val="000000"/>
              </a:solidFill>
              <a:effectLst/>
              <a:uFillTx/>
              <a:latin typeface="Arial"/>
            </a:endParaRPr>
          </a:p>
          <a:p>
            <a:pPr marL="343080" indent="-343080" algn="just" defTabSz="457200">
              <a:lnSpc>
                <a:spcPct val="100000"/>
              </a:lnSpc>
              <a:spcBef>
                <a:spcPts val="1191"/>
              </a:spcBef>
              <a:spcAft>
                <a:spcPts val="992"/>
              </a:spcAft>
              <a:buClr>
                <a:srgbClr val="000000"/>
              </a:buClr>
              <a:buFont typeface="Arial"/>
              <a:buChar char="•"/>
            </a:pPr>
            <a:r>
              <a:rPr lang="it-IT" sz="1800" b="0" u="none" strike="noStrike">
                <a:solidFill>
                  <a:srgbClr val="000000"/>
                </a:solidFill>
                <a:effectLst/>
                <a:uFillTx/>
                <a:latin typeface="Arial"/>
                <a:ea typeface="ＭＳ Ｐゴシック"/>
              </a:rPr>
              <a:t>… but this kernel is usually memory-bound on modern computer architectures</a:t>
            </a: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timing>
    <p:tnLst>
      <p:par>
        <p:cTn id="9" dur="indefinite" restart="never" nodeType="tmRoot">
          <p:childTnLst>
            <p:seq>
              <p:cTn id="10" dur="indefinite" nodeType="mainSeq">
                <p:childTnLst>
                  <p:par>
                    <p:cTn id="11" fill="hold">
                      <p:stCondLst>
                        <p:cond delay="0"/>
                      </p:stCondLst>
                      <p:childTnLst>
                        <p:par>
                          <p:cTn id="12" fill="hold">
                            <p:stCondLst>
                              <p:cond delay="0"/>
                            </p:stCondLst>
                            <p:childTnLst>
                              <p:par>
                                <p:cTn id="13" presetID="1" presetClass="entr" fill="hold"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fill="hold" nodeType="with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ftr" idx="16"/>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56" name="PlaceHolder 2"/>
          <p:cNvSpPr>
            <a:spLocks noGrp="1"/>
          </p:cNvSpPr>
          <p:nvPr>
            <p:ph type="dt" idx="17"/>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57" name="Rettangolo 16"/>
          <p:cNvSpPr/>
          <p:nvPr/>
        </p:nvSpPr>
        <p:spPr>
          <a:xfrm>
            <a:off x="-47520" y="170280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58" name="Segnaposto numero diapositiva 4"/>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1</a:t>
            </a:r>
            <a:endParaRPr lang="it-IT" sz="1100" b="0" u="none" strike="noStrike">
              <a:solidFill>
                <a:srgbClr val="000000"/>
              </a:solidFill>
              <a:effectLst/>
              <a:uFillTx/>
              <a:latin typeface="Arial"/>
            </a:endParaRPr>
          </a:p>
        </p:txBody>
      </p:sp>
      <p:sp>
        <p:nvSpPr>
          <p:cNvPr id="59" name="Rectangle 12"/>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Why Do We Need Efficient Sparse Formats?</a:t>
            </a:r>
            <a:endParaRPr lang="it-IT" sz="2400" b="0" u="none" strike="noStrike">
              <a:solidFill>
                <a:srgbClr val="000000"/>
              </a:solidFill>
              <a:effectLst/>
              <a:uFillTx/>
              <a:latin typeface="Arial"/>
            </a:endParaRPr>
          </a:p>
        </p:txBody>
      </p:sp>
      <p:sp>
        <p:nvSpPr>
          <p:cNvPr id="60" name="Rettangolo 17"/>
          <p:cNvSpPr/>
          <p:nvPr/>
        </p:nvSpPr>
        <p:spPr>
          <a:xfrm>
            <a:off x="2307960" y="1604160"/>
            <a:ext cx="1355040" cy="37188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en-US" sz="900" b="0" u="none" strike="noStrike">
              <a:solidFill>
                <a:schemeClr val="lt1"/>
              </a:solidFill>
              <a:effectLst/>
              <a:uFillTx/>
              <a:latin typeface="Arial"/>
              <a:ea typeface="ＭＳ Ｐゴシック"/>
            </a:endParaRPr>
          </a:p>
        </p:txBody>
      </p:sp>
      <p:sp>
        <p:nvSpPr>
          <p:cNvPr id="61" name="Rettangolo 18"/>
          <p:cNvSpPr/>
          <p:nvPr/>
        </p:nvSpPr>
        <p:spPr>
          <a:xfrm>
            <a:off x="7560000" y="2625120"/>
            <a:ext cx="1355040" cy="455760"/>
          </a:xfrm>
          <a:prstGeom prst="rect">
            <a:avLst/>
          </a:prstGeom>
          <a:solidFill>
            <a:schemeClr val="accent3"/>
          </a:solidFill>
          <a:ln w="0">
            <a:noFill/>
          </a:ln>
        </p:spPr>
        <p:style>
          <a:lnRef idx="0"/>
          <a:fillRef idx="0"/>
          <a:effectRef idx="0"/>
          <a:fontRef idx="minor"/>
        </p:style>
        <p:txBody>
          <a:bodyPr numCol="1" spcCol="0" lIns="90000" rIns="90000" tIns="45000" bIns="45000" anchor="t">
            <a:noAutofit/>
          </a:bodyPr>
          <a:p>
            <a:pPr>
              <a:lnSpc>
                <a:spcPct val="100000"/>
              </a:lnSpc>
            </a:pPr>
            <a:endParaRPr lang="en-US" sz="900" b="0" u="none" strike="noStrike">
              <a:solidFill>
                <a:schemeClr val="lt1"/>
              </a:solidFill>
              <a:effectLst/>
              <a:uFillTx/>
              <a:latin typeface="Arial"/>
              <a:ea typeface="ＭＳ Ｐゴシック"/>
            </a:endParaRPr>
          </a:p>
        </p:txBody>
      </p:sp>
      <p:sp>
        <p:nvSpPr>
          <p:cNvPr id="62" name="Rettangolo 19"/>
          <p:cNvSpPr/>
          <p:nvPr/>
        </p:nvSpPr>
        <p:spPr>
          <a:xfrm>
            <a:off x="6469560" y="1515960"/>
            <a:ext cx="1598760" cy="371880"/>
          </a:xfrm>
          <a:prstGeom prst="rect">
            <a:avLst/>
          </a:prstGeom>
          <a:solidFill>
            <a:schemeClr val="accent3"/>
          </a:solidFill>
          <a:ln w="0">
            <a:noFill/>
          </a:ln>
        </p:spPr>
        <p:style>
          <a:lnRef idx="0"/>
          <a:fillRef idx="0"/>
          <a:effectRef idx="0"/>
          <a:fontRef idx="minor"/>
        </p:style>
        <p:txBody>
          <a:bodyPr numCol="1" spcCol="0" lIns="90000" rIns="90000" tIns="45000" bIns="45000" anchor="t">
            <a:noAutofit/>
          </a:bodyPr>
          <a:p>
            <a:pPr>
              <a:lnSpc>
                <a:spcPct val="100000"/>
              </a:lnSpc>
            </a:pPr>
            <a:endParaRPr lang="en-US" sz="900" b="0" u="none" strike="noStrike">
              <a:solidFill>
                <a:schemeClr val="lt1"/>
              </a:solidFill>
              <a:effectLst/>
              <a:uFillTx/>
              <a:latin typeface="Arial"/>
              <a:ea typeface="ＭＳ Ｐゴシック"/>
            </a:endParaRPr>
          </a:p>
        </p:txBody>
      </p:sp>
      <p:sp>
        <p:nvSpPr>
          <p:cNvPr id="63" name="CasellaDiTesto 8"/>
          <p:cNvSpPr/>
          <p:nvPr/>
        </p:nvSpPr>
        <p:spPr>
          <a:xfrm>
            <a:off x="495360" y="1489320"/>
            <a:ext cx="7783560" cy="2932920"/>
          </a:xfrm>
          <a:prstGeom prst="rect">
            <a:avLst/>
          </a:prstGeom>
          <a:noFill/>
          <a:ln w="0">
            <a:noFill/>
          </a:ln>
        </p:spPr>
        <p:style>
          <a:lnRef idx="0"/>
          <a:fillRef idx="0"/>
          <a:effectRef idx="0"/>
          <a:fontRef idx="minor"/>
        </p:style>
        <p:txBody>
          <a:bodyPr numCol="1" spcCol="0" lIns="90000" rIns="90000" tIns="45000" bIns="45000" anchor="t">
            <a:spAutoFit/>
          </a:bodyPr>
          <a:p>
            <a:pPr marL="343080" indent="-343080" algn="just" defTabSz="457200">
              <a:lnSpc>
                <a:spcPct val="100000"/>
              </a:lnSpc>
              <a:spcBef>
                <a:spcPts val="1191"/>
              </a:spcBef>
              <a:spcAft>
                <a:spcPts val="992"/>
              </a:spcAft>
              <a:buClr>
                <a:srgbClr val="000000"/>
              </a:buClr>
              <a:buFont typeface="Arial"/>
              <a:buChar char="•"/>
            </a:pPr>
            <a:r>
              <a:rPr lang="it-IT" sz="1800" b="0" u="none" strike="noStrike">
                <a:solidFill>
                  <a:srgbClr val="000000"/>
                </a:solidFill>
                <a:effectLst/>
                <a:uFillTx/>
                <a:latin typeface="Arial"/>
                <a:ea typeface="ＭＳ Ｐゴシック"/>
              </a:rPr>
              <a:t>Sparse matrices are used everywhere in science and engineering, where one of the most time-consuming building blocks is the multiplication of large sparse matrices with dense vectors (spMVM)…</a:t>
            </a:r>
            <a:endParaRPr lang="it-IT" sz="1800" b="0" u="none" strike="noStrike">
              <a:solidFill>
                <a:srgbClr val="000000"/>
              </a:solidFill>
              <a:effectLst/>
              <a:uFillTx/>
              <a:latin typeface="Arial"/>
            </a:endParaRPr>
          </a:p>
          <a:p>
            <a:pPr marL="343080" indent="-343080" algn="just" defTabSz="457200">
              <a:lnSpc>
                <a:spcPct val="100000"/>
              </a:lnSpc>
              <a:spcBef>
                <a:spcPts val="1191"/>
              </a:spcBef>
              <a:spcAft>
                <a:spcPts val="992"/>
              </a:spcAft>
              <a:buClr>
                <a:srgbClr val="000000"/>
              </a:buClr>
              <a:buFont typeface="Arial"/>
              <a:buChar char="•"/>
            </a:pPr>
            <a:r>
              <a:rPr lang="it-IT" sz="1800" b="0" u="none" strike="noStrike">
                <a:solidFill>
                  <a:srgbClr val="000000"/>
                </a:solidFill>
                <a:effectLst/>
                <a:uFillTx/>
                <a:latin typeface="Arial"/>
                <a:ea typeface="ＭＳ Ｐゴシック"/>
              </a:rPr>
              <a:t>… but this kernel is usually memory-bound on modern computer architectures</a:t>
            </a:r>
            <a:endParaRPr lang="it-IT" sz="1800" b="0" u="none" strike="noStrike">
              <a:solidFill>
                <a:srgbClr val="000000"/>
              </a:solidFill>
              <a:effectLst/>
              <a:uFillTx/>
              <a:latin typeface="Arial"/>
            </a:endParaRPr>
          </a:p>
          <a:p>
            <a:pPr algn="just" defTabSz="457200">
              <a:lnSpc>
                <a:spcPct val="100000"/>
              </a:lnSpc>
              <a:spcBef>
                <a:spcPts val="1191"/>
              </a:spcBef>
              <a:spcAft>
                <a:spcPts val="992"/>
              </a:spcAft>
            </a:pPr>
            <a:endParaRPr lang="it-IT" sz="1800" b="0" u="none" strike="noStrike">
              <a:solidFill>
                <a:srgbClr val="000000"/>
              </a:solidFill>
              <a:effectLst/>
              <a:uFillTx/>
              <a:latin typeface="Arial"/>
            </a:endParaRPr>
          </a:p>
          <a:p>
            <a:pPr algn="just" defTabSz="457200">
              <a:lnSpc>
                <a:spcPct val="100000"/>
              </a:lnSpc>
              <a:spcBef>
                <a:spcPts val="1191"/>
              </a:spcBef>
              <a:spcAft>
                <a:spcPts val="992"/>
              </a:spcAft>
            </a:pPr>
            <a:r>
              <a:rPr lang="it-IT" sz="2400" b="0" u="none" strike="noStrike">
                <a:solidFill>
                  <a:srgbClr val="000000"/>
                </a:solidFill>
                <a:effectLst/>
                <a:uFillTx/>
                <a:latin typeface="Arial"/>
                <a:ea typeface="ＭＳ Ｐゴシック"/>
              </a:rPr>
              <a:t>	</a:t>
            </a:r>
            <a:r>
              <a:rPr lang="it-IT" sz="2400" b="0" u="none" strike="noStrike">
                <a:solidFill>
                  <a:srgbClr val="822433"/>
                </a:solidFill>
                <a:effectLst/>
                <a:uFillTx/>
                <a:latin typeface="Arial"/>
                <a:ea typeface="ＭＳ Ｐゴシック"/>
              </a:rPr>
              <a:t>     CODE BALANCE vs MACHINE BALANCE</a:t>
            </a:r>
            <a:endParaRPr lang="it-IT" sz="2400" b="0" u="none" strike="noStrike">
              <a:solidFill>
                <a:srgbClr val="000000"/>
              </a:solidFill>
              <a:effectLst/>
              <a:uFillTx/>
              <a:latin typeface="Arial"/>
            </a:endParaRPr>
          </a:p>
        </p:txBody>
      </p:sp>
      <p:pic>
        <p:nvPicPr>
          <p:cNvPr id="64" name=""/>
          <p:cNvPicPr/>
          <p:nvPr/>
        </p:nvPicPr>
        <p:blipFill>
          <a:blip r:embed="rId1"/>
          <a:stretch/>
        </p:blipFill>
        <p:spPr>
          <a:xfrm>
            <a:off x="1440000" y="4500000"/>
            <a:ext cx="5902560" cy="1364040"/>
          </a:xfrm>
          <a:prstGeom prst="rect">
            <a:avLst/>
          </a:prstGeom>
          <a:noFill/>
          <a:ln w="0">
            <a:noFill/>
          </a:ln>
        </p:spPr>
      </p:pic>
    </p:spTree>
  </p:cSld>
  <mc:AlternateContent>
    <mc:Choice Requires="p14">
      <p:transition p14:dur="100">
        <p:fade/>
      </p:transition>
    </mc:Choice>
    <mc:Fallback>
      <p:transition>
        <p:fade/>
      </p:transition>
    </mc:Fallback>
  </mc:AlternateContent>
  <p:timing>
    <p:tnLst>
      <p:par>
        <p:cTn id="17" dur="indefinite" restart="never" nodeType="tmRoot">
          <p:childTnLst>
            <p:seq>
              <p:cTn id="18" dur="indefinite" nodeType="mainSeq">
                <p:childTnLst>
                  <p:par>
                    <p:cTn id="19" fill="hold">
                      <p:stCondLst>
                        <p:cond delay="0"/>
                      </p:stCondLst>
                      <p:childTnLst>
                        <p:par>
                          <p:cTn id="20" fill="hold">
                            <p:stCondLst>
                              <p:cond delay="0"/>
                            </p:stCondLst>
                            <p:childTnLst>
                              <p:par>
                                <p:cTn id="21" presetID="1" presetClass="entr" fill="hold" nodeType="withEffect">
                                  <p:stCondLst>
                                    <p:cond delay="0"/>
                                  </p:stCondLst>
                                  <p:childTnLst>
                                    <p:set>
                                      <p:cBhvr>
                                        <p:cTn id="22" fill="hold">
                                          <p:stCondLst>
                                            <p:cond delay="0"/>
                                          </p:stCondLst>
                                        </p:cTn>
                                        <p:tgtEl>
                                          <p:spTgt spid="61"/>
                                        </p:tgtEl>
                                        <p:attrNameLst>
                                          <p:attrName>style.visibility</p:attrName>
                                        </p:attrNameLst>
                                      </p:cBhvr>
                                      <p:to>
                                        <p:strVal val="visible"/>
                                      </p:to>
                                    </p:set>
                                  </p:childTnLst>
                                </p:cTn>
                              </p:par>
                              <p:par>
                                <p:cTn id="23" presetID="1" presetClass="entr" fill="hold" nodeType="with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ftr" idx="18"/>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66" name="PlaceHolder 2"/>
          <p:cNvSpPr>
            <a:spLocks noGrp="1"/>
          </p:cNvSpPr>
          <p:nvPr>
            <p:ph type="dt" idx="19"/>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67" name="Rettangolo 12"/>
          <p:cNvSpPr/>
          <p:nvPr/>
        </p:nvSpPr>
        <p:spPr>
          <a:xfrm>
            <a:off x="-47520" y="170280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68" name="Segnaposto numero diapositiva 3"/>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1</a:t>
            </a:r>
            <a:endParaRPr lang="it-IT" sz="1100" b="0" u="none" strike="noStrike">
              <a:solidFill>
                <a:srgbClr val="000000"/>
              </a:solidFill>
              <a:effectLst/>
              <a:uFillTx/>
              <a:latin typeface="Arial"/>
            </a:endParaRPr>
          </a:p>
        </p:txBody>
      </p:sp>
      <p:sp>
        <p:nvSpPr>
          <p:cNvPr id="69" name="Rectangle 9"/>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Why Do We Need Efficient Sparse Formats?</a:t>
            </a:r>
            <a:endParaRPr lang="it-IT" sz="2400" b="0" u="none" strike="noStrike">
              <a:solidFill>
                <a:srgbClr val="000000"/>
              </a:solidFill>
              <a:effectLst/>
              <a:uFillTx/>
              <a:latin typeface="Arial"/>
            </a:endParaRPr>
          </a:p>
        </p:txBody>
      </p:sp>
      <p:sp>
        <p:nvSpPr>
          <p:cNvPr id="70" name="Rettangolo 13"/>
          <p:cNvSpPr/>
          <p:nvPr/>
        </p:nvSpPr>
        <p:spPr>
          <a:xfrm>
            <a:off x="2307960" y="1604160"/>
            <a:ext cx="1355040" cy="37188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en-US" sz="900" b="0" u="none" strike="noStrike">
              <a:solidFill>
                <a:schemeClr val="lt1"/>
              </a:solidFill>
              <a:effectLst/>
              <a:uFillTx/>
              <a:latin typeface="Arial"/>
              <a:ea typeface="ＭＳ Ｐゴシック"/>
            </a:endParaRPr>
          </a:p>
        </p:txBody>
      </p:sp>
      <p:sp>
        <p:nvSpPr>
          <p:cNvPr id="71" name="Rettangolo 14"/>
          <p:cNvSpPr/>
          <p:nvPr/>
        </p:nvSpPr>
        <p:spPr>
          <a:xfrm>
            <a:off x="7560000" y="2625120"/>
            <a:ext cx="1355040" cy="455760"/>
          </a:xfrm>
          <a:prstGeom prst="rect">
            <a:avLst/>
          </a:prstGeom>
          <a:solidFill>
            <a:schemeClr val="accent3"/>
          </a:solidFill>
          <a:ln w="0">
            <a:noFill/>
          </a:ln>
        </p:spPr>
        <p:style>
          <a:lnRef idx="0"/>
          <a:fillRef idx="0"/>
          <a:effectRef idx="0"/>
          <a:fontRef idx="minor"/>
        </p:style>
        <p:txBody>
          <a:bodyPr numCol="1" spcCol="0" lIns="90000" rIns="90000" tIns="45000" bIns="45000" anchor="t">
            <a:noAutofit/>
          </a:bodyPr>
          <a:p>
            <a:pPr>
              <a:lnSpc>
                <a:spcPct val="100000"/>
              </a:lnSpc>
            </a:pPr>
            <a:endParaRPr lang="en-US" sz="900" b="0" u="none" strike="noStrike">
              <a:solidFill>
                <a:schemeClr val="lt1"/>
              </a:solidFill>
              <a:effectLst/>
              <a:uFillTx/>
              <a:latin typeface="Arial"/>
              <a:ea typeface="ＭＳ Ｐゴシック"/>
            </a:endParaRPr>
          </a:p>
        </p:txBody>
      </p:sp>
      <p:sp>
        <p:nvSpPr>
          <p:cNvPr id="72" name="Rettangolo 15"/>
          <p:cNvSpPr/>
          <p:nvPr/>
        </p:nvSpPr>
        <p:spPr>
          <a:xfrm>
            <a:off x="6469560" y="1515960"/>
            <a:ext cx="1598760" cy="371880"/>
          </a:xfrm>
          <a:prstGeom prst="rect">
            <a:avLst/>
          </a:prstGeom>
          <a:solidFill>
            <a:schemeClr val="accent3"/>
          </a:solidFill>
          <a:ln w="0">
            <a:noFill/>
          </a:ln>
        </p:spPr>
        <p:style>
          <a:lnRef idx="0"/>
          <a:fillRef idx="0"/>
          <a:effectRef idx="0"/>
          <a:fontRef idx="minor"/>
        </p:style>
        <p:txBody>
          <a:bodyPr numCol="1" spcCol="0" lIns="90000" rIns="90000" tIns="45000" bIns="45000" anchor="t">
            <a:noAutofit/>
          </a:bodyPr>
          <a:p>
            <a:pPr>
              <a:lnSpc>
                <a:spcPct val="100000"/>
              </a:lnSpc>
            </a:pPr>
            <a:endParaRPr lang="en-US" sz="900" b="0" u="none" strike="noStrike">
              <a:solidFill>
                <a:schemeClr val="lt1"/>
              </a:solidFill>
              <a:effectLst/>
              <a:uFillTx/>
              <a:latin typeface="Arial"/>
              <a:ea typeface="ＭＳ Ｐゴシック"/>
            </a:endParaRPr>
          </a:p>
        </p:txBody>
      </p:sp>
      <p:sp>
        <p:nvSpPr>
          <p:cNvPr id="73" name="CasellaDiTesto 5"/>
          <p:cNvSpPr/>
          <p:nvPr/>
        </p:nvSpPr>
        <p:spPr>
          <a:xfrm>
            <a:off x="495360" y="1489320"/>
            <a:ext cx="7783560" cy="4401720"/>
          </a:xfrm>
          <a:prstGeom prst="rect">
            <a:avLst/>
          </a:prstGeom>
          <a:noFill/>
          <a:ln w="0">
            <a:noFill/>
          </a:ln>
        </p:spPr>
        <p:style>
          <a:lnRef idx="0"/>
          <a:fillRef idx="0"/>
          <a:effectRef idx="0"/>
          <a:fontRef idx="minor"/>
        </p:style>
        <p:txBody>
          <a:bodyPr numCol="1" spcCol="0" lIns="90000" rIns="90000" tIns="45000" bIns="45000" anchor="t">
            <a:spAutoFit/>
          </a:bodyPr>
          <a:p>
            <a:pPr marL="343080" indent="-343080" algn="just" defTabSz="457200">
              <a:lnSpc>
                <a:spcPct val="100000"/>
              </a:lnSpc>
              <a:spcBef>
                <a:spcPts val="1191"/>
              </a:spcBef>
              <a:spcAft>
                <a:spcPts val="992"/>
              </a:spcAft>
              <a:buClr>
                <a:srgbClr val="000000"/>
              </a:buClr>
              <a:buFont typeface="Arial"/>
              <a:buChar char="•"/>
            </a:pPr>
            <a:r>
              <a:rPr lang="it-IT" sz="1800" b="0" u="none" strike="noStrike">
                <a:solidFill>
                  <a:srgbClr val="000000"/>
                </a:solidFill>
                <a:effectLst/>
                <a:uFillTx/>
                <a:latin typeface="Arial"/>
                <a:ea typeface="ＭＳ Ｐゴシック"/>
              </a:rPr>
              <a:t>Sparse matrices are used everywhere in science and engineering, where one of the most time-consuming building blocks is the multiplication of large sparse matrices with dense vectors (spMVM)…</a:t>
            </a:r>
            <a:endParaRPr lang="it-IT" sz="1800" b="0" u="none" strike="noStrike">
              <a:solidFill>
                <a:srgbClr val="000000"/>
              </a:solidFill>
              <a:effectLst/>
              <a:uFillTx/>
              <a:latin typeface="Arial"/>
            </a:endParaRPr>
          </a:p>
          <a:p>
            <a:pPr marL="343080" indent="-343080" algn="just" defTabSz="457200">
              <a:lnSpc>
                <a:spcPct val="100000"/>
              </a:lnSpc>
              <a:spcBef>
                <a:spcPts val="1191"/>
              </a:spcBef>
              <a:spcAft>
                <a:spcPts val="992"/>
              </a:spcAft>
              <a:buClr>
                <a:srgbClr val="000000"/>
              </a:buClr>
              <a:buFont typeface="Arial"/>
              <a:buChar char="•"/>
            </a:pPr>
            <a:r>
              <a:rPr lang="it-IT" sz="1800" b="0" u="none" strike="noStrike">
                <a:solidFill>
                  <a:srgbClr val="000000"/>
                </a:solidFill>
                <a:effectLst/>
                <a:uFillTx/>
                <a:latin typeface="Arial"/>
                <a:ea typeface="ＭＳ Ｐゴシック"/>
              </a:rPr>
              <a:t>… but this kernel is usually memory-bound on modern computer architectures</a:t>
            </a:r>
            <a:endParaRPr lang="it-IT" sz="1800" b="0" u="none" strike="noStrike">
              <a:solidFill>
                <a:srgbClr val="000000"/>
              </a:solidFill>
              <a:effectLst/>
              <a:uFillTx/>
              <a:latin typeface="Arial"/>
            </a:endParaRPr>
          </a:p>
          <a:p>
            <a:pPr algn="just" defTabSz="457200">
              <a:lnSpc>
                <a:spcPct val="100000"/>
              </a:lnSpc>
              <a:spcBef>
                <a:spcPts val="1191"/>
              </a:spcBef>
              <a:spcAft>
                <a:spcPts val="992"/>
              </a:spcAft>
            </a:pPr>
            <a:endParaRPr lang="it-IT" sz="1800" b="0" u="none" strike="noStrike">
              <a:solidFill>
                <a:srgbClr val="000000"/>
              </a:solidFill>
              <a:effectLst/>
              <a:uFillTx/>
              <a:latin typeface="Arial"/>
            </a:endParaRPr>
          </a:p>
          <a:p>
            <a:pPr algn="just" defTabSz="457200">
              <a:lnSpc>
                <a:spcPct val="100000"/>
              </a:lnSpc>
              <a:spcBef>
                <a:spcPts val="1191"/>
              </a:spcBef>
              <a:spcAft>
                <a:spcPts val="992"/>
              </a:spcAft>
            </a:pPr>
            <a:r>
              <a:rPr lang="it-IT" sz="2400" b="0" u="none" strike="noStrike">
                <a:solidFill>
                  <a:srgbClr val="000000"/>
                </a:solidFill>
                <a:effectLst/>
                <a:uFillTx/>
                <a:latin typeface="Arial"/>
                <a:ea typeface="ＭＳ Ｐゴシック"/>
              </a:rPr>
              <a:t>	</a:t>
            </a:r>
            <a:r>
              <a:rPr lang="it-IT" sz="2400" b="0" u="none" strike="noStrike">
                <a:solidFill>
                  <a:srgbClr val="822433"/>
                </a:solidFill>
                <a:effectLst/>
                <a:uFillTx/>
                <a:latin typeface="Arial"/>
                <a:ea typeface="ＭＳ Ｐゴシック"/>
              </a:rPr>
              <a:t>     CODE BALANCE vs MACHINE BALANCE</a:t>
            </a:r>
            <a:endParaRPr lang="it-IT" sz="2400" b="0" u="none" strike="noStrike">
              <a:solidFill>
                <a:srgbClr val="000000"/>
              </a:solidFill>
              <a:effectLst/>
              <a:uFillTx/>
              <a:latin typeface="Arial"/>
            </a:endParaRPr>
          </a:p>
          <a:p>
            <a:pPr algn="just" defTabSz="457200">
              <a:lnSpc>
                <a:spcPct val="100000"/>
              </a:lnSpc>
              <a:spcBef>
                <a:spcPts val="1191"/>
              </a:spcBef>
              <a:spcAft>
                <a:spcPts val="992"/>
              </a:spcAft>
            </a:pPr>
            <a:endParaRPr lang="it-IT" sz="2400" b="0" u="none" strike="noStrike">
              <a:solidFill>
                <a:srgbClr val="000000"/>
              </a:solidFill>
              <a:effectLst/>
              <a:uFillTx/>
              <a:latin typeface="Arial"/>
            </a:endParaRPr>
          </a:p>
          <a:p>
            <a:pPr marL="343080" indent="-343080" algn="just" defTabSz="457200">
              <a:lnSpc>
                <a:spcPct val="100000"/>
              </a:lnSpc>
              <a:spcBef>
                <a:spcPts val="1191"/>
              </a:spcBef>
              <a:spcAft>
                <a:spcPts val="992"/>
              </a:spcAft>
              <a:buClr>
                <a:srgbClr val="000000"/>
              </a:buClr>
              <a:buFont typeface="Arial"/>
              <a:buChar char="•"/>
            </a:pPr>
            <a:r>
              <a:rPr lang="it-IT" sz="1800" b="0" u="none" strike="noStrike">
                <a:solidFill>
                  <a:srgbClr val="000000"/>
                </a:solidFill>
                <a:effectLst/>
                <a:uFillTx/>
                <a:latin typeface="Arial"/>
                <a:ea typeface="ＭＳ Ｐゴシック"/>
              </a:rPr>
              <a:t>The optimal choice of sparse matrix format is highly dependent on the underlying hardware, but modern systems are strongly heterogeneous </a:t>
            </a: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timing>
    <p:tnLst>
      <p:par>
        <p:cTn id="25" dur="indefinite" restart="never" nodeType="tmRoot">
          <p:childTnLst>
            <p:seq>
              <p:cTn id="26" dur="indefinite" nodeType="mainSeq">
                <p:childTnLst>
                  <p:par>
                    <p:cTn id="27" fill="hold">
                      <p:stCondLst>
                        <p:cond delay="0"/>
                      </p:stCondLst>
                      <p:childTnLst>
                        <p:par>
                          <p:cTn id="28" fill="hold">
                            <p:stCondLst>
                              <p:cond delay="0"/>
                            </p:stCondLst>
                            <p:childTnLst>
                              <p:par>
                                <p:cTn id="29" presetID="1" presetClass="entr" fill="hold" nodeType="withEffect">
                                  <p:stCondLst>
                                    <p:cond delay="0"/>
                                  </p:stCondLst>
                                  <p:childTnLst>
                                    <p:set>
                                      <p:cBhvr>
                                        <p:cTn id="30" dur="1" fill="hold">
                                          <p:stCondLst>
                                            <p:cond delay="0"/>
                                          </p:stCondLst>
                                        </p:cTn>
                                        <p:tgtEl>
                                          <p:spTgt spid="71"/>
                                        </p:tgtEl>
                                        <p:attrNameLst>
                                          <p:attrName>style.visibility</p:attrName>
                                        </p:attrNameLst>
                                      </p:cBhvr>
                                      <p:to>
                                        <p:strVal val="visible"/>
                                      </p:to>
                                    </p:set>
                                  </p:childTnLst>
                                </p:cTn>
                              </p:par>
                              <p:par>
                                <p:cTn id="31" presetID="1" presetClass="entr" fill="hold" nodeType="withEffect">
                                  <p:stCondLst>
                                    <p:cond delay="0"/>
                                  </p:stCondLst>
                                  <p:childTnLst>
                                    <p:set>
                                      <p:cBhvr>
                                        <p:cTn id="32"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ftr" idx="20"/>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75" name="PlaceHolder 2"/>
          <p:cNvSpPr>
            <a:spLocks noGrp="1"/>
          </p:cNvSpPr>
          <p:nvPr>
            <p:ph type="dt" idx="21"/>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p:txBody>
      </p:sp>
      <p:sp>
        <p:nvSpPr>
          <p:cNvPr id="76" name="Rettangolo 20"/>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lang="it-IT" sz="900" b="0" u="none" strike="noStrike">
              <a:solidFill>
                <a:schemeClr val="lt1"/>
              </a:solidFill>
              <a:effectLst/>
              <a:uFillTx/>
              <a:latin typeface="Arial"/>
              <a:ea typeface="ＭＳ Ｐゴシック"/>
            </a:endParaRPr>
          </a:p>
        </p:txBody>
      </p:sp>
      <p:sp>
        <p:nvSpPr>
          <p:cNvPr id="77" name="Segnaposto numero diapositiva 5"/>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2</a:t>
            </a:r>
            <a:endParaRPr lang="it-IT" sz="1100" b="0" u="none" strike="noStrike">
              <a:solidFill>
                <a:srgbClr val="000000"/>
              </a:solidFill>
              <a:effectLst/>
              <a:uFillTx/>
              <a:latin typeface="Arial"/>
            </a:endParaRPr>
          </a:p>
        </p:txBody>
      </p:sp>
      <p:sp>
        <p:nvSpPr>
          <p:cNvPr id="78" name="Rectangle 2"/>
          <p:cNvSpPr/>
          <p:nvPr/>
        </p:nvSpPr>
        <p:spPr>
          <a:xfrm>
            <a:off x="0" y="28306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Explored idea: SELL-C-σ </a:t>
            </a:r>
            <a:endParaRPr lang="it-IT" sz="24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ftr" idx="22"/>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80" name="PlaceHolder 2"/>
          <p:cNvSpPr>
            <a:spLocks noGrp="1"/>
          </p:cNvSpPr>
          <p:nvPr>
            <p:ph type="dt" idx="23"/>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81" name="Rettangolo 20"/>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lang="it-IT" sz="900" b="0" u="none" strike="noStrike">
              <a:solidFill>
                <a:schemeClr val="lt1"/>
              </a:solidFill>
              <a:effectLst/>
              <a:uFillTx/>
              <a:latin typeface="Arial"/>
              <a:ea typeface="ＭＳ Ｐゴシック"/>
            </a:endParaRPr>
          </a:p>
        </p:txBody>
      </p:sp>
      <p:sp>
        <p:nvSpPr>
          <p:cNvPr id="82" name="Segnaposto numero diapositiva 5"/>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2</a:t>
            </a:r>
            <a:endParaRPr lang="it-IT" sz="1100" b="0" u="none" strike="noStrike">
              <a:solidFill>
                <a:srgbClr val="000000"/>
              </a:solidFill>
              <a:effectLst/>
              <a:uFillTx/>
              <a:latin typeface="Arial"/>
            </a:endParaRPr>
          </a:p>
        </p:txBody>
      </p:sp>
      <p:sp>
        <p:nvSpPr>
          <p:cNvPr id="83" name="Rectangle 2"/>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Explored idea: SELL-C-σ </a:t>
            </a:r>
            <a:endParaRPr lang="it-IT" sz="2400" b="0" u="none" strike="noStrike">
              <a:solidFill>
                <a:srgbClr val="000000"/>
              </a:solidFill>
              <a:effectLst/>
              <a:uFillTx/>
              <a:latin typeface="Arial"/>
            </a:endParaRPr>
          </a:p>
        </p:txBody>
      </p:sp>
      <p:sp>
        <p:nvSpPr>
          <p:cNvPr id="84" name="CasellaDiTesto 2"/>
          <p:cNvSpPr/>
          <p:nvPr/>
        </p:nvSpPr>
        <p:spPr>
          <a:xfrm>
            <a:off x="540000" y="2340000"/>
            <a:ext cx="1341360" cy="395640"/>
          </a:xfrm>
          <a:prstGeom prst="rect">
            <a:avLst/>
          </a:prstGeom>
          <a:noFill/>
          <a:ln w="0">
            <a:noFill/>
          </a:ln>
        </p:spPr>
        <p:style>
          <a:lnRef idx="0"/>
          <a:fillRef idx="0"/>
          <a:effectRef idx="0"/>
          <a:fontRef idx="minor"/>
        </p:style>
        <p:txBody>
          <a:bodyPr numCol="1" spcCol="0" wrap="none" lIns="90000" rIns="90000" tIns="45000" bIns="45000" anchor="t">
            <a:spAutoFit/>
          </a:bodyPr>
          <a:p>
            <a:pPr algn="ctr" defTabSz="457200">
              <a:lnSpc>
                <a:spcPct val="100000"/>
              </a:lnSpc>
              <a:tabLst>
                <a:tab algn="l" pos="0"/>
              </a:tabLst>
            </a:pPr>
            <a:r>
              <a:rPr lang="it-IT" sz="2000" b="1" u="none" strike="noStrike">
                <a:solidFill>
                  <a:schemeClr val="dk1"/>
                </a:solidFill>
                <a:effectLst/>
                <a:uFillTx/>
                <a:latin typeface="Arial"/>
                <a:ea typeface="ＭＳ Ｐゴシック"/>
              </a:rPr>
              <a:t>Hardware</a:t>
            </a:r>
            <a:endParaRPr lang="it-IT" sz="2000" b="0" u="none" strike="noStrike">
              <a:solidFill>
                <a:srgbClr val="000000"/>
              </a:solidFill>
              <a:effectLst/>
              <a:uFillTx/>
              <a:latin typeface="Arial"/>
            </a:endParaRPr>
          </a:p>
        </p:txBody>
      </p:sp>
      <p:sp>
        <p:nvSpPr>
          <p:cNvPr id="85" name="CasellaDiTesto 4"/>
          <p:cNvSpPr/>
          <p:nvPr/>
        </p:nvSpPr>
        <p:spPr>
          <a:xfrm>
            <a:off x="549720" y="4103280"/>
            <a:ext cx="1789200" cy="395640"/>
          </a:xfrm>
          <a:prstGeom prst="rect">
            <a:avLst/>
          </a:prstGeom>
          <a:noFill/>
          <a:ln w="0">
            <a:noFill/>
          </a:ln>
        </p:spPr>
        <p:style>
          <a:lnRef idx="0"/>
          <a:fillRef idx="0"/>
          <a:effectRef idx="0"/>
          <a:fontRef idx="minor"/>
        </p:style>
        <p:txBody>
          <a:bodyPr numCol="1" spcCol="0" wrap="none" lIns="90000" rIns="90000" tIns="45000" bIns="45000" anchor="t">
            <a:spAutoFit/>
          </a:bodyPr>
          <a:p>
            <a:pPr algn="ctr" defTabSz="457200">
              <a:lnSpc>
                <a:spcPct val="100000"/>
              </a:lnSpc>
              <a:tabLst>
                <a:tab algn="l" pos="0"/>
              </a:tabLst>
            </a:pPr>
            <a:r>
              <a:rPr lang="en-US" sz="2000" b="1" u="none" strike="noStrike">
                <a:solidFill>
                  <a:schemeClr val="dk1"/>
                </a:solidFill>
                <a:effectLst/>
                <a:uFillTx/>
                <a:latin typeface="Arial"/>
                <a:ea typeface="ＭＳ Ｐゴシック"/>
              </a:rPr>
              <a:t>Test Matrices</a:t>
            </a:r>
            <a:endParaRPr lang="it-IT" sz="2000" b="0" u="none" strike="noStrike">
              <a:solidFill>
                <a:srgbClr val="000000"/>
              </a:solidFill>
              <a:effectLst/>
              <a:uFillTx/>
              <a:latin typeface="Arial"/>
            </a:endParaRPr>
          </a:p>
        </p:txBody>
      </p:sp>
      <p:sp>
        <p:nvSpPr>
          <p:cNvPr id="86" name="CasellaDiTesto 7"/>
          <p:cNvSpPr/>
          <p:nvPr/>
        </p:nvSpPr>
        <p:spPr>
          <a:xfrm>
            <a:off x="568080" y="4224240"/>
            <a:ext cx="4570560" cy="394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lang="en-US" sz="1800" b="0" u="none" strike="noStrike">
              <a:solidFill>
                <a:srgbClr val="000000"/>
              </a:solidFill>
              <a:effectLst/>
              <a:uFillTx/>
              <a:latin typeface="Arial"/>
              <a:ea typeface="ＭＳ Ｐゴシック"/>
            </a:endParaRPr>
          </a:p>
        </p:txBody>
      </p:sp>
    </p:spTree>
  </p:cSld>
  <mc:AlternateContent>
    <mc:Choice Requires="p14">
      <p:transition p14:dur="100">
        <p:fade/>
      </p:transition>
    </mc:Choice>
    <mc:Fallback>
      <p:transition>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ftr" idx="24"/>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88" name="PlaceHolder 2"/>
          <p:cNvSpPr>
            <a:spLocks noGrp="1"/>
          </p:cNvSpPr>
          <p:nvPr>
            <p:ph type="dt" idx="25"/>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89" name="Rettangolo 5"/>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90" name="Segnaposto numero diapositiva 2"/>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2</a:t>
            </a:r>
            <a:endParaRPr lang="it-IT" sz="1100" b="0" u="none" strike="noStrike">
              <a:solidFill>
                <a:srgbClr val="000000"/>
              </a:solidFill>
              <a:effectLst/>
              <a:uFillTx/>
              <a:latin typeface="Arial"/>
            </a:endParaRPr>
          </a:p>
        </p:txBody>
      </p:sp>
      <p:sp>
        <p:nvSpPr>
          <p:cNvPr id="91" name="Rectangle 15"/>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Explored idea: SELL-C-σ </a:t>
            </a:r>
            <a:endParaRPr lang="it-IT" sz="2400" b="0" u="none" strike="noStrike">
              <a:solidFill>
                <a:srgbClr val="000000"/>
              </a:solidFill>
              <a:effectLst/>
              <a:uFillTx/>
              <a:latin typeface="Arial"/>
            </a:endParaRPr>
          </a:p>
        </p:txBody>
      </p:sp>
      <p:sp>
        <p:nvSpPr>
          <p:cNvPr id="92" name="CasellaDiTesto 3"/>
          <p:cNvSpPr/>
          <p:nvPr/>
        </p:nvSpPr>
        <p:spPr>
          <a:xfrm>
            <a:off x="564480" y="2340000"/>
            <a:ext cx="2494080" cy="699120"/>
          </a:xfrm>
          <a:prstGeom prst="rect">
            <a:avLst/>
          </a:prstGeom>
          <a:noFill/>
          <a:ln w="0">
            <a:noFill/>
          </a:ln>
        </p:spPr>
        <p:style>
          <a:lnRef idx="0"/>
          <a:fillRef idx="0"/>
          <a:effectRef idx="0"/>
          <a:fontRef idx="minor"/>
        </p:style>
        <p:txBody>
          <a:bodyPr numCol="1" spcCol="0" wrap="none" lIns="90000" rIns="90000" tIns="45000" bIns="45000" anchor="t">
            <a:spAutoFit/>
          </a:bodyPr>
          <a:p>
            <a:pPr algn="ctr" defTabSz="457200">
              <a:lnSpc>
                <a:spcPct val="100000"/>
              </a:lnSpc>
              <a:tabLst>
                <a:tab algn="l" pos="0"/>
              </a:tabLst>
            </a:pPr>
            <a:r>
              <a:rPr lang="it-IT" sz="4000" b="1" u="none" strike="noStrike">
                <a:solidFill>
                  <a:schemeClr val="dk1"/>
                </a:solidFill>
                <a:effectLst/>
                <a:uFillTx/>
                <a:latin typeface="Arial"/>
                <a:ea typeface="ＭＳ Ｐゴシック"/>
              </a:rPr>
              <a:t>Hardware</a:t>
            </a:r>
            <a:endParaRPr lang="it-IT" sz="4000" b="0" u="none" strike="noStrike">
              <a:solidFill>
                <a:srgbClr val="000000"/>
              </a:solidFill>
              <a:effectLst/>
              <a:uFillTx/>
              <a:latin typeface="Arial"/>
            </a:endParaRPr>
          </a:p>
        </p:txBody>
      </p:sp>
      <p:sp>
        <p:nvSpPr>
          <p:cNvPr id="93" name="CasellaDiTesto 16"/>
          <p:cNvSpPr/>
          <p:nvPr/>
        </p:nvSpPr>
        <p:spPr>
          <a:xfrm>
            <a:off x="549720" y="4103280"/>
            <a:ext cx="1789200" cy="395640"/>
          </a:xfrm>
          <a:prstGeom prst="rect">
            <a:avLst/>
          </a:prstGeom>
          <a:noFill/>
          <a:ln w="0">
            <a:noFill/>
          </a:ln>
        </p:spPr>
        <p:style>
          <a:lnRef idx="0"/>
          <a:fillRef idx="0"/>
          <a:effectRef idx="0"/>
          <a:fontRef idx="minor"/>
        </p:style>
        <p:txBody>
          <a:bodyPr numCol="1" spcCol="0" wrap="none" lIns="90000" rIns="90000" tIns="45000" bIns="45000" anchor="t">
            <a:spAutoFit/>
          </a:bodyPr>
          <a:p>
            <a:pPr algn="ctr" defTabSz="457200">
              <a:lnSpc>
                <a:spcPct val="100000"/>
              </a:lnSpc>
              <a:tabLst>
                <a:tab algn="l" pos="0"/>
              </a:tabLst>
            </a:pPr>
            <a:r>
              <a:rPr lang="en-US" sz="2000" b="1" u="none" strike="noStrike">
                <a:solidFill>
                  <a:schemeClr val="dk1"/>
                </a:solidFill>
                <a:effectLst/>
                <a:uFillTx/>
                <a:latin typeface="Arial"/>
                <a:ea typeface="ＭＳ Ｐゴシック"/>
              </a:rPr>
              <a:t>Test Matrices</a:t>
            </a:r>
            <a:endParaRPr lang="it-IT" sz="2000" b="0" u="none" strike="noStrike">
              <a:solidFill>
                <a:srgbClr val="000000"/>
              </a:solidFill>
              <a:effectLst/>
              <a:uFillTx/>
              <a:latin typeface="Arial"/>
            </a:endParaRPr>
          </a:p>
        </p:txBody>
      </p:sp>
      <p:sp>
        <p:nvSpPr>
          <p:cNvPr id="94" name="CasellaDiTesto 17"/>
          <p:cNvSpPr/>
          <p:nvPr/>
        </p:nvSpPr>
        <p:spPr>
          <a:xfrm>
            <a:off x="568080" y="4224240"/>
            <a:ext cx="4570560" cy="394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95" name=""/>
          <p:cNvSpPr/>
          <p:nvPr/>
        </p:nvSpPr>
        <p:spPr>
          <a:xfrm>
            <a:off x="3960000" y="1440000"/>
            <a:ext cx="4318920" cy="251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graphicFrame>
        <p:nvGraphicFramePr>
          <p:cNvPr id="96" name=""/>
          <p:cNvGraphicFramePr/>
          <p:nvPr/>
        </p:nvGraphicFramePr>
        <p:xfrm>
          <a:off x="3240000" y="1472040"/>
          <a:ext cx="5752080" cy="2300400"/>
        </p:xfrm>
        <a:graphic>
          <a:graphicData uri="http://schemas.openxmlformats.org/drawingml/2006/table">
            <a:tbl>
              <a:tblPr/>
              <a:tblGrid>
                <a:gridCol w="1306440"/>
                <a:gridCol w="1168560"/>
                <a:gridCol w="641160"/>
                <a:gridCol w="1209600"/>
                <a:gridCol w="1426680"/>
              </a:tblGrid>
              <a:tr h="590040">
                <a:tc>
                  <a:txBody>
                    <a:bodyPr lIns="36000" rIns="36000" tIns="36000" bIns="36000" anchor="t">
                      <a:noAutofit/>
                    </a:bodyPr>
                    <a:p>
                      <a:pPr algn="ctr">
                        <a:lnSpc>
                          <a:spcPct val="100000"/>
                        </a:lnSpc>
                      </a:pPr>
                      <a:endParaRPr lang="it-IT" sz="1400" b="0" u="none" strike="noStrike">
                        <a:solidFill>
                          <a:srgbClr val="ffffff"/>
                        </a:solidFill>
                        <a:effectLst/>
                        <a:uFillTx/>
                        <a:latin typeface="Arial"/>
                      </a:endParaRPr>
                    </a:p>
                    <a:p>
                      <a:pPr algn="ctr">
                        <a:lnSpc>
                          <a:spcPct val="100000"/>
                        </a:lnSpc>
                      </a:pPr>
                      <a:r>
                        <a:rPr lang="en-US" sz="1400" b="1" u="none" strike="noStrike">
                          <a:solidFill>
                            <a:srgbClr val="ffffff"/>
                          </a:solidFill>
                          <a:effectLst/>
                          <a:uFillTx/>
                          <a:latin typeface="Arial"/>
                        </a:rPr>
                        <a:t>Architecture</a:t>
                      </a:r>
                      <a:endParaRPr lang="it-IT" sz="1400" b="0" u="none" strike="noStrike">
                        <a:solidFill>
                          <a:srgbClr val="ffffff"/>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22433"/>
                    </a:solidFill>
                  </a:tcPr>
                </a:tc>
                <a:tc>
                  <a:txBody>
                    <a:bodyPr lIns="36000" rIns="36000" tIns="36000" bIns="36000" anchor="t">
                      <a:noAutofit/>
                    </a:bodyPr>
                    <a:p>
                      <a:pPr algn="ctr">
                        <a:lnSpc>
                          <a:spcPct val="100000"/>
                        </a:lnSpc>
                      </a:pPr>
                      <a:endParaRPr lang="it-IT" sz="1400" b="0" u="none" strike="noStrike">
                        <a:solidFill>
                          <a:srgbClr val="ffffff"/>
                        </a:solidFill>
                        <a:effectLst/>
                        <a:uFillTx/>
                        <a:latin typeface="Arial"/>
                      </a:endParaRPr>
                    </a:p>
                    <a:p>
                      <a:pPr algn="ctr">
                        <a:lnSpc>
                          <a:spcPct val="100000"/>
                        </a:lnSpc>
                      </a:pPr>
                      <a:r>
                        <a:rPr lang="en-US" sz="1400" b="1" u="none" strike="noStrike">
                          <a:solidFill>
                            <a:srgbClr val="ffffff"/>
                          </a:solidFill>
                          <a:effectLst/>
                          <a:uFillTx/>
                          <a:latin typeface="Arial"/>
                        </a:rPr>
                        <a:t>Type</a:t>
                      </a:r>
                      <a:endParaRPr lang="it-IT" sz="1400" b="0" u="none" strike="noStrike">
                        <a:solidFill>
                          <a:srgbClr val="ffffff"/>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22433"/>
                    </a:solidFill>
                  </a:tcPr>
                </a:tc>
                <a:tc>
                  <a:txBody>
                    <a:bodyPr lIns="36000" rIns="36000" tIns="36000" bIns="36000" anchor="t">
                      <a:noAutofit/>
                    </a:bodyPr>
                    <a:p>
                      <a:pPr algn="ctr">
                        <a:lnSpc>
                          <a:spcPct val="100000"/>
                        </a:lnSpc>
                      </a:pPr>
                      <a:endParaRPr lang="it-IT" sz="1400" b="0" u="none" strike="noStrike">
                        <a:solidFill>
                          <a:srgbClr val="ffffff"/>
                        </a:solidFill>
                        <a:effectLst/>
                        <a:uFillTx/>
                        <a:latin typeface="Arial"/>
                      </a:endParaRPr>
                    </a:p>
                    <a:p>
                      <a:pPr algn="ctr">
                        <a:lnSpc>
                          <a:spcPct val="100000"/>
                        </a:lnSpc>
                      </a:pPr>
                      <a:r>
                        <a:rPr lang="en-US" sz="1400" b="1" u="none" strike="noStrike">
                          <a:solidFill>
                            <a:srgbClr val="ffffff"/>
                          </a:solidFill>
                          <a:effectLst/>
                          <a:uFillTx/>
                          <a:latin typeface="Arial"/>
                        </a:rPr>
                        <a:t>Cores</a:t>
                      </a:r>
                      <a:endParaRPr lang="it-IT" sz="1400" b="0" u="none" strike="noStrike">
                        <a:solidFill>
                          <a:srgbClr val="ffffff"/>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22433"/>
                    </a:solidFill>
                  </a:tcPr>
                </a:tc>
                <a:tc>
                  <a:txBody>
                    <a:bodyPr lIns="36000" rIns="36000" tIns="36000" bIns="36000" anchor="t">
                      <a:noAutofit/>
                    </a:bodyPr>
                    <a:p>
                      <a:pPr algn="ctr">
                        <a:lnSpc>
                          <a:spcPct val="100000"/>
                        </a:lnSpc>
                      </a:pPr>
                      <a:r>
                        <a:rPr lang="en-US" sz="1400" b="1" u="none" strike="noStrike">
                          <a:solidFill>
                            <a:srgbClr val="ffffff"/>
                          </a:solidFill>
                          <a:effectLst/>
                          <a:uFillTx/>
                          <a:latin typeface="Arial"/>
                        </a:rPr>
                        <a:t>SIMD width</a:t>
                      </a:r>
                      <a:endParaRPr lang="it-IT" sz="1400" b="0" u="none" strike="noStrike">
                        <a:solidFill>
                          <a:srgbClr val="ffffff"/>
                        </a:solidFill>
                        <a:effectLst/>
                        <a:uFillTx/>
                        <a:latin typeface="Arial"/>
                      </a:endParaRPr>
                    </a:p>
                    <a:p>
                      <a:pPr algn="ctr">
                        <a:lnSpc>
                          <a:spcPct val="100000"/>
                        </a:lnSpc>
                      </a:pPr>
                      <a:r>
                        <a:rPr lang="en-US" sz="1400" b="1" u="none" strike="noStrike">
                          <a:solidFill>
                            <a:srgbClr val="ffffff"/>
                          </a:solidFill>
                          <a:effectLst/>
                          <a:uFillTx/>
                          <a:latin typeface="Arial"/>
                        </a:rPr>
                        <a:t>(in bits)</a:t>
                      </a:r>
                      <a:endParaRPr lang="it-IT" sz="1400" b="0" u="none" strike="noStrike">
                        <a:solidFill>
                          <a:srgbClr val="ffffff"/>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22433"/>
                    </a:solidFill>
                  </a:tcPr>
                </a:tc>
                <a:tc>
                  <a:txBody>
                    <a:bodyPr lIns="36000" rIns="36000" tIns="36000" bIns="36000" anchor="t">
                      <a:noAutofit/>
                    </a:bodyPr>
                    <a:p>
                      <a:pPr algn="ctr">
                        <a:lnSpc>
                          <a:spcPct val="100000"/>
                        </a:lnSpc>
                      </a:pPr>
                      <a:r>
                        <a:rPr lang="en-US" sz="1400" b="1" u="none" strike="noStrike">
                          <a:solidFill>
                            <a:srgbClr val="ffffff"/>
                          </a:solidFill>
                          <a:effectLst/>
                          <a:uFillTx/>
                          <a:latin typeface="Arial"/>
                        </a:rPr>
                        <a:t>Format</a:t>
                      </a:r>
                      <a:endParaRPr lang="it-IT" sz="1400" b="0" u="none" strike="noStrike">
                        <a:solidFill>
                          <a:srgbClr val="ffffff"/>
                        </a:solidFill>
                        <a:effectLst/>
                        <a:uFillTx/>
                        <a:latin typeface="Arial"/>
                      </a:endParaRPr>
                    </a:p>
                    <a:p>
                      <a:pPr algn="ctr">
                        <a:lnSpc>
                          <a:spcPct val="100000"/>
                        </a:lnSpc>
                      </a:pPr>
                      <a:r>
                        <a:rPr lang="en-US" sz="1400" b="1" u="none" strike="noStrike">
                          <a:solidFill>
                            <a:srgbClr val="ffffff"/>
                          </a:solidFill>
                          <a:effectLst/>
                          <a:uFillTx/>
                          <a:latin typeface="Arial"/>
                        </a:rPr>
                        <a:t>typically used</a:t>
                      </a:r>
                      <a:endParaRPr lang="it-IT" sz="1400" b="0" u="none" strike="noStrike">
                        <a:solidFill>
                          <a:srgbClr val="ffffff"/>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22433"/>
                    </a:solidFill>
                  </a:tcPr>
                </a:tc>
              </a:tr>
              <a:tr h="590040">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Intel SNB</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12240">
                      <a:no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CPU</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12240">
                      <a:no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8</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12240">
                      <a:no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256</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12240">
                      <a:no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CRS</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12240">
                      <a:noFill/>
                      <a:prstDash val="solid"/>
                    </a:lnT>
                    <a:lnB w="7200">
                      <a:solidFill>
                        <a:srgbClr val="000000"/>
                      </a:solidFill>
                      <a:prstDash val="solid"/>
                    </a:lnB>
                    <a:noFill/>
                  </a:tcPr>
                </a:tc>
              </a:tr>
              <a:tr h="522720">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Intel Xeon Phi</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500" b="0" u="none" strike="noStrike">
                          <a:solidFill>
                            <a:srgbClr val="000000"/>
                          </a:solidFill>
                          <a:effectLst/>
                          <a:uFillTx/>
                          <a:latin typeface="Arial"/>
                        </a:rPr>
                        <a:t>Vector architecture</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60</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512</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JDS</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590760">
                <a:tc>
                  <a:txBody>
                    <a:bodyPr lIns="36000" rIns="36000" tIns="36000" bIns="36000" anchor="t">
                      <a:noAutofit/>
                    </a:bodyPr>
                    <a:p>
                      <a:pPr algn="ctr">
                        <a:lnSpc>
                          <a:spcPct val="100000"/>
                        </a:lnSpc>
                      </a:pPr>
                      <a:r>
                        <a:rPr lang="en-US" sz="1500" b="0" u="none" strike="noStrike">
                          <a:solidFill>
                            <a:srgbClr val="000000"/>
                          </a:solidFill>
                          <a:effectLst/>
                          <a:uFillTx/>
                          <a:latin typeface="Arial"/>
                        </a:rPr>
                        <a:t>Nvidia Tesla K20</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GPGPU</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2496</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2048</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ELLPACK</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p14:dur="100">
        <p:fade/>
      </p:transition>
    </mc:Choice>
    <mc:Fallback>
      <p:transition>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ftr" idx="26"/>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98" name="PlaceHolder 2"/>
          <p:cNvSpPr>
            <a:spLocks noGrp="1"/>
          </p:cNvSpPr>
          <p:nvPr>
            <p:ph type="dt" idx="27"/>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99" name="Rettangolo 8"/>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100" name="Segnaposto numero diapositiva 6"/>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2</a:t>
            </a:r>
            <a:endParaRPr lang="it-IT" sz="1100" b="0" u="none" strike="noStrike">
              <a:solidFill>
                <a:srgbClr val="000000"/>
              </a:solidFill>
              <a:effectLst/>
              <a:uFillTx/>
              <a:latin typeface="Arial"/>
            </a:endParaRPr>
          </a:p>
        </p:txBody>
      </p:sp>
      <p:sp>
        <p:nvSpPr>
          <p:cNvPr id="101" name="Rectangle 21"/>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Explored idea: SELL-C-σ </a:t>
            </a:r>
            <a:endParaRPr lang="it-IT" sz="2400" b="0" u="none" strike="noStrike">
              <a:solidFill>
                <a:srgbClr val="000000"/>
              </a:solidFill>
              <a:effectLst/>
              <a:uFillTx/>
              <a:latin typeface="Arial"/>
            </a:endParaRPr>
          </a:p>
        </p:txBody>
      </p:sp>
      <p:sp>
        <p:nvSpPr>
          <p:cNvPr id="102" name="CasellaDiTesto 18"/>
          <p:cNvSpPr/>
          <p:nvPr/>
        </p:nvSpPr>
        <p:spPr>
          <a:xfrm>
            <a:off x="540000" y="2340000"/>
            <a:ext cx="1341360" cy="395640"/>
          </a:xfrm>
          <a:prstGeom prst="rect">
            <a:avLst/>
          </a:prstGeom>
          <a:noFill/>
          <a:ln w="0">
            <a:noFill/>
          </a:ln>
        </p:spPr>
        <p:style>
          <a:lnRef idx="0"/>
          <a:fillRef idx="0"/>
          <a:effectRef idx="0"/>
          <a:fontRef idx="minor"/>
        </p:style>
        <p:txBody>
          <a:bodyPr numCol="1" spcCol="0" wrap="none" lIns="90000" rIns="90000" tIns="45000" bIns="45000" anchor="t">
            <a:spAutoFit/>
          </a:bodyPr>
          <a:p>
            <a:pPr algn="ctr" defTabSz="457200">
              <a:lnSpc>
                <a:spcPct val="100000"/>
              </a:lnSpc>
              <a:tabLst>
                <a:tab algn="l" pos="0"/>
              </a:tabLst>
            </a:pPr>
            <a:r>
              <a:rPr lang="it-IT" sz="2000" b="1" u="none" strike="noStrike">
                <a:solidFill>
                  <a:schemeClr val="dk1"/>
                </a:solidFill>
                <a:effectLst/>
                <a:uFillTx/>
                <a:latin typeface="Arial"/>
                <a:ea typeface="ＭＳ Ｐゴシック"/>
              </a:rPr>
              <a:t>Hardware</a:t>
            </a:r>
            <a:endParaRPr lang="it-IT" sz="2000" b="0" u="none" strike="noStrike">
              <a:solidFill>
                <a:srgbClr val="000000"/>
              </a:solidFill>
              <a:effectLst/>
              <a:uFillTx/>
              <a:latin typeface="Arial"/>
            </a:endParaRPr>
          </a:p>
        </p:txBody>
      </p:sp>
      <p:sp>
        <p:nvSpPr>
          <p:cNvPr id="103" name="CasellaDiTesto 19"/>
          <p:cNvSpPr/>
          <p:nvPr/>
        </p:nvSpPr>
        <p:spPr>
          <a:xfrm>
            <a:off x="391320" y="3918960"/>
            <a:ext cx="3387240" cy="699120"/>
          </a:xfrm>
          <a:prstGeom prst="rect">
            <a:avLst/>
          </a:prstGeom>
          <a:noFill/>
          <a:ln w="0">
            <a:noFill/>
          </a:ln>
        </p:spPr>
        <p:style>
          <a:lnRef idx="0"/>
          <a:fillRef idx="0"/>
          <a:effectRef idx="0"/>
          <a:fontRef idx="minor"/>
        </p:style>
        <p:txBody>
          <a:bodyPr numCol="1" spcCol="0" wrap="none" lIns="90000" rIns="90000" tIns="45000" bIns="45000" anchor="t">
            <a:spAutoFit/>
          </a:bodyPr>
          <a:p>
            <a:pPr algn="ctr" defTabSz="457200">
              <a:lnSpc>
                <a:spcPct val="100000"/>
              </a:lnSpc>
              <a:tabLst>
                <a:tab algn="l" pos="0"/>
              </a:tabLst>
            </a:pPr>
            <a:r>
              <a:rPr lang="en-US" sz="4000" b="1" u="none" strike="noStrike">
                <a:solidFill>
                  <a:schemeClr val="dk1"/>
                </a:solidFill>
                <a:effectLst/>
                <a:uFillTx/>
                <a:latin typeface="Arial"/>
                <a:ea typeface="ＭＳ Ｐゴシック"/>
              </a:rPr>
              <a:t>Test Matrices</a:t>
            </a:r>
            <a:endParaRPr lang="it-IT" sz="4000" b="0" u="none" strike="noStrike">
              <a:solidFill>
                <a:srgbClr val="000000"/>
              </a:solidFill>
              <a:effectLst/>
              <a:uFillTx/>
              <a:latin typeface="Arial"/>
            </a:endParaRPr>
          </a:p>
        </p:txBody>
      </p:sp>
      <p:sp>
        <p:nvSpPr>
          <p:cNvPr id="104" name="CasellaDiTesto 21"/>
          <p:cNvSpPr/>
          <p:nvPr/>
        </p:nvSpPr>
        <p:spPr>
          <a:xfrm>
            <a:off x="568080" y="4224240"/>
            <a:ext cx="4570560" cy="394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105" name=""/>
          <p:cNvSpPr/>
          <p:nvPr/>
        </p:nvSpPr>
        <p:spPr>
          <a:xfrm>
            <a:off x="3960000" y="2700000"/>
            <a:ext cx="5038920" cy="32389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ＭＳ Ｐゴシック"/>
              </a:rPr>
              <a:t>Benchmark matrices from The University of Florida Sparse Matrix Collection, representing corner cases of matrix characteristics:</a:t>
            </a: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ea typeface="ＭＳ Ｐゴシック"/>
              </a:rPr>
              <a:t>           </a:t>
            </a:r>
            <a:r>
              <a:rPr lang="en-US" sz="1000" b="0" u="none" strike="noStrike">
                <a:solidFill>
                  <a:srgbClr val="000000"/>
                </a:solidFill>
                <a:effectLst/>
                <a:uFillTx/>
                <a:latin typeface="Arial"/>
                <a:ea typeface="ＭＳ Ｐゴシック"/>
              </a:rPr>
              <a:t>RM07R               kkt_power             Hamrle3               ML_Geer</a:t>
            </a:r>
            <a:endParaRPr lang="it-IT" sz="1000" b="0" u="none" strike="noStrike">
              <a:solidFill>
                <a:srgbClr val="000000"/>
              </a:solidFill>
              <a:effectLst/>
              <a:uFillTx/>
              <a:latin typeface="Arial"/>
            </a:endParaRPr>
          </a:p>
        </p:txBody>
      </p:sp>
      <p:pic>
        <p:nvPicPr>
          <p:cNvPr id="106" name=""/>
          <p:cNvPicPr/>
          <p:nvPr/>
        </p:nvPicPr>
        <p:blipFill>
          <a:blip r:embed="rId1"/>
          <a:stretch/>
        </p:blipFill>
        <p:spPr>
          <a:xfrm>
            <a:off x="4521240" y="3600000"/>
            <a:ext cx="3937680" cy="961200"/>
          </a:xfrm>
          <a:prstGeom prst="rect">
            <a:avLst/>
          </a:prstGeom>
          <a:noFill/>
          <a:ln w="0">
            <a:noFill/>
          </a:ln>
        </p:spPr>
      </p:pic>
    </p:spTree>
  </p:cSld>
  <mc:AlternateContent>
    <mc:Choice Requires="p14">
      <p:transition p14:dur="100">
        <p:fade/>
      </p:transition>
    </mc:Choice>
    <mc:Fallback>
      <p:transition>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ftr" idx="28"/>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108" name="PlaceHolder 2"/>
          <p:cNvSpPr>
            <a:spLocks noGrp="1"/>
          </p:cNvSpPr>
          <p:nvPr>
            <p:ph type="dt" idx="29"/>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109" name="Rettangolo 9"/>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110" name="Segnaposto numero diapositiva 7"/>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2</a:t>
            </a:r>
            <a:endParaRPr lang="it-IT" sz="1100" b="0" u="none" strike="noStrike">
              <a:solidFill>
                <a:srgbClr val="000000"/>
              </a:solidFill>
              <a:effectLst/>
              <a:uFillTx/>
              <a:latin typeface="Arial"/>
            </a:endParaRPr>
          </a:p>
        </p:txBody>
      </p:sp>
      <p:sp>
        <p:nvSpPr>
          <p:cNvPr id="111" name="Rectangle 25"/>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Explored idea: SELL-C-σ </a:t>
            </a:r>
            <a:endParaRPr lang="it-IT" sz="2400" b="0" u="none" strike="noStrike">
              <a:solidFill>
                <a:srgbClr val="000000"/>
              </a:solidFill>
              <a:effectLst/>
              <a:uFillTx/>
              <a:latin typeface="Arial"/>
            </a:endParaRPr>
          </a:p>
        </p:txBody>
      </p:sp>
      <p:sp>
        <p:nvSpPr>
          <p:cNvPr id="112" name="CasellaDiTesto 22"/>
          <p:cNvSpPr/>
          <p:nvPr/>
        </p:nvSpPr>
        <p:spPr>
          <a:xfrm>
            <a:off x="540000" y="2340000"/>
            <a:ext cx="1341360" cy="395640"/>
          </a:xfrm>
          <a:prstGeom prst="rect">
            <a:avLst/>
          </a:prstGeom>
          <a:noFill/>
          <a:ln w="0">
            <a:noFill/>
          </a:ln>
        </p:spPr>
        <p:style>
          <a:lnRef idx="0"/>
          <a:fillRef idx="0"/>
          <a:effectRef idx="0"/>
          <a:fontRef idx="minor"/>
        </p:style>
        <p:txBody>
          <a:bodyPr numCol="1" spcCol="0" wrap="none" lIns="90000" rIns="90000" tIns="45000" bIns="45000" anchor="t">
            <a:spAutoFit/>
          </a:bodyPr>
          <a:p>
            <a:pPr algn="ctr" defTabSz="457200">
              <a:lnSpc>
                <a:spcPct val="100000"/>
              </a:lnSpc>
              <a:tabLst>
                <a:tab algn="l" pos="0"/>
              </a:tabLst>
            </a:pPr>
            <a:r>
              <a:rPr lang="it-IT" sz="2000" b="1" u="none" strike="noStrike">
                <a:solidFill>
                  <a:schemeClr val="dk1"/>
                </a:solidFill>
                <a:effectLst/>
                <a:uFillTx/>
                <a:latin typeface="Arial"/>
                <a:ea typeface="ＭＳ Ｐゴシック"/>
              </a:rPr>
              <a:t>Hardware</a:t>
            </a:r>
            <a:endParaRPr lang="it-IT" sz="2000" b="0" u="none" strike="noStrike">
              <a:solidFill>
                <a:srgbClr val="000000"/>
              </a:solidFill>
              <a:effectLst/>
              <a:uFillTx/>
              <a:latin typeface="Arial"/>
            </a:endParaRPr>
          </a:p>
        </p:txBody>
      </p:sp>
      <p:sp>
        <p:nvSpPr>
          <p:cNvPr id="113" name="CasellaDiTesto 23"/>
          <p:cNvSpPr/>
          <p:nvPr/>
        </p:nvSpPr>
        <p:spPr>
          <a:xfrm>
            <a:off x="391320" y="3918960"/>
            <a:ext cx="3387240" cy="699120"/>
          </a:xfrm>
          <a:prstGeom prst="rect">
            <a:avLst/>
          </a:prstGeom>
          <a:noFill/>
          <a:ln w="0">
            <a:noFill/>
          </a:ln>
        </p:spPr>
        <p:style>
          <a:lnRef idx="0"/>
          <a:fillRef idx="0"/>
          <a:effectRef idx="0"/>
          <a:fontRef idx="minor"/>
        </p:style>
        <p:txBody>
          <a:bodyPr numCol="1" spcCol="0" wrap="none" lIns="90000" rIns="90000" tIns="45000" bIns="45000" anchor="t">
            <a:spAutoFit/>
          </a:bodyPr>
          <a:p>
            <a:pPr algn="ctr" defTabSz="457200">
              <a:lnSpc>
                <a:spcPct val="100000"/>
              </a:lnSpc>
              <a:tabLst>
                <a:tab algn="l" pos="0"/>
              </a:tabLst>
            </a:pPr>
            <a:r>
              <a:rPr lang="en-US" sz="4000" b="1" u="none" strike="noStrike">
                <a:solidFill>
                  <a:schemeClr val="dk1"/>
                </a:solidFill>
                <a:effectLst/>
                <a:uFillTx/>
                <a:latin typeface="Arial"/>
                <a:ea typeface="ＭＳ Ｐゴシック"/>
              </a:rPr>
              <a:t>Test Matrices</a:t>
            </a:r>
            <a:endParaRPr lang="it-IT" sz="4000" b="0" u="none" strike="noStrike">
              <a:solidFill>
                <a:srgbClr val="000000"/>
              </a:solidFill>
              <a:effectLst/>
              <a:uFillTx/>
              <a:latin typeface="Arial"/>
            </a:endParaRPr>
          </a:p>
        </p:txBody>
      </p:sp>
      <p:sp>
        <p:nvSpPr>
          <p:cNvPr id="114" name="CasellaDiTesto 24"/>
          <p:cNvSpPr/>
          <p:nvPr/>
        </p:nvSpPr>
        <p:spPr>
          <a:xfrm>
            <a:off x="568080" y="4224240"/>
            <a:ext cx="4570560" cy="394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115" name=""/>
          <p:cNvSpPr/>
          <p:nvPr/>
        </p:nvSpPr>
        <p:spPr>
          <a:xfrm>
            <a:off x="3960000" y="2700000"/>
            <a:ext cx="5038920" cy="32389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ＭＳ Ｐゴシック"/>
              </a:rPr>
              <a:t>Benchmark matrices from The University of Florida Sparse Matrix Collection, representing corner cases of matrix characteristics:</a:t>
            </a: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ea typeface="ＭＳ Ｐゴシック"/>
              </a:rPr>
              <a:t>           </a:t>
            </a:r>
            <a:r>
              <a:rPr lang="en-US" sz="1000" b="0" u="none" strike="noStrike">
                <a:solidFill>
                  <a:srgbClr val="000000"/>
                </a:solidFill>
                <a:effectLst/>
                <a:uFillTx/>
                <a:latin typeface="Arial"/>
                <a:ea typeface="ＭＳ Ｐゴシック"/>
              </a:rPr>
              <a:t>RM07R               kkt_power             Hamrle3               ML_Geer</a:t>
            </a:r>
            <a:endParaRPr lang="it-IT" sz="1000" b="0" u="none" strike="noStrike">
              <a:solidFill>
                <a:srgbClr val="000000"/>
              </a:solidFill>
              <a:effectLst/>
              <a:uFillTx/>
              <a:latin typeface="Arial"/>
            </a:endParaRPr>
          </a:p>
          <a:p>
            <a:pPr>
              <a:lnSpc>
                <a:spcPct val="100000"/>
              </a:lnSpc>
            </a:pPr>
            <a:endParaRPr lang="it-IT" sz="10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ＭＳ Ｐゴシック"/>
              </a:rPr>
              <a:t>Then validation of results against the matrices of the Williams group from the same collection</a:t>
            </a:r>
            <a:endParaRPr lang="it-IT" sz="1800" b="0" u="none" strike="noStrike">
              <a:solidFill>
                <a:srgbClr val="000000"/>
              </a:solidFill>
              <a:effectLst/>
              <a:uFillTx/>
              <a:latin typeface="Arial"/>
            </a:endParaRPr>
          </a:p>
        </p:txBody>
      </p:sp>
      <p:pic>
        <p:nvPicPr>
          <p:cNvPr id="116" name=""/>
          <p:cNvPicPr/>
          <p:nvPr/>
        </p:nvPicPr>
        <p:blipFill>
          <a:blip r:embed="rId1"/>
          <a:stretch/>
        </p:blipFill>
        <p:spPr>
          <a:xfrm>
            <a:off x="4521240" y="3600000"/>
            <a:ext cx="3937680" cy="961200"/>
          </a:xfrm>
          <a:prstGeom prst="rect">
            <a:avLst/>
          </a:prstGeom>
          <a:noFill/>
          <a:ln w="0">
            <a:noFill/>
          </a:ln>
        </p:spPr>
      </p:pic>
    </p:spTree>
  </p:cSld>
  <mc:AlternateContent>
    <mc:Choice Requires="p14">
      <p:transition p14:dur="100">
        <p:fade/>
      </p:transition>
    </mc:Choice>
    <mc:Fallback>
      <p:transition>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ftr" idx="30"/>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118" name="PlaceHolder 2"/>
          <p:cNvSpPr>
            <a:spLocks noGrp="1"/>
          </p:cNvSpPr>
          <p:nvPr>
            <p:ph type="dt" idx="31"/>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119" name="Rettangolo 20"/>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lang="it-IT" sz="900" b="0" u="none" strike="noStrike">
              <a:solidFill>
                <a:schemeClr val="lt1"/>
              </a:solidFill>
              <a:effectLst/>
              <a:uFillTx/>
              <a:latin typeface="Arial"/>
              <a:ea typeface="ＭＳ Ｐゴシック"/>
            </a:endParaRPr>
          </a:p>
        </p:txBody>
      </p:sp>
      <p:sp>
        <p:nvSpPr>
          <p:cNvPr id="120" name="Segnaposto numero diapositiva 5"/>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3</a:t>
            </a:r>
            <a:endParaRPr lang="it-IT" sz="1100" b="0" u="none" strike="noStrike">
              <a:solidFill>
                <a:srgbClr val="000000"/>
              </a:solidFill>
              <a:effectLst/>
              <a:uFillTx/>
              <a:latin typeface="Arial"/>
            </a:endParaRPr>
          </a:p>
        </p:txBody>
      </p:sp>
      <p:sp>
        <p:nvSpPr>
          <p:cNvPr id="121" name="Rectangle 2"/>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tabLst>
                <a:tab algn="l" pos="0"/>
              </a:tabLst>
            </a:pPr>
            <a:r>
              <a:rPr lang="en-US" sz="2400" b="1" u="none" strike="noStrike">
                <a:solidFill>
                  <a:srgbClr val="822433"/>
                </a:solidFill>
                <a:effectLst/>
                <a:uFillTx/>
                <a:latin typeface="Arial"/>
                <a:ea typeface="ＭＳ Ｐゴシック"/>
              </a:rPr>
              <a:t>Sparse Matrix Formats Across Architectures </a:t>
            </a:r>
            <a:endParaRPr lang="it-IT" sz="2400" b="0" u="none" strike="noStrike">
              <a:solidFill>
                <a:srgbClr val="000000"/>
              </a:solidFill>
              <a:effectLst/>
              <a:uFillTx/>
              <a:latin typeface="Arial"/>
            </a:endParaRPr>
          </a:p>
        </p:txBody>
      </p:sp>
      <p:sp>
        <p:nvSpPr>
          <p:cNvPr id="122" name="CasellaDiTesto 9"/>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gn="ctr" defTabSz="457200">
              <a:lnSpc>
                <a:spcPct val="100000"/>
              </a:lnSpc>
              <a:tabLst>
                <a:tab algn="l" pos="0"/>
              </a:tabLst>
            </a:pPr>
            <a:endParaRPr lang="en-US" sz="1800" b="0" u="none" strike="noStrike">
              <a:solidFill>
                <a:srgbClr val="000000"/>
              </a:solidFill>
              <a:effectLst/>
              <a:uFillTx/>
              <a:latin typeface="Arial"/>
              <a:ea typeface="ＭＳ Ｐゴシック"/>
            </a:endParaRPr>
          </a:p>
        </p:txBody>
      </p:sp>
      <p:pic>
        <p:nvPicPr>
          <p:cNvPr id="123" name=""/>
          <p:cNvPicPr/>
          <p:nvPr/>
        </p:nvPicPr>
        <p:blipFill>
          <a:blip r:embed="rId1"/>
          <a:stretch/>
        </p:blipFill>
        <p:spPr>
          <a:xfrm>
            <a:off x="3227040" y="950760"/>
            <a:ext cx="2891880" cy="2790720"/>
          </a:xfrm>
          <a:prstGeom prst="rect">
            <a:avLst/>
          </a:prstGeom>
          <a:noFill/>
          <a:ln w="0">
            <a:noFill/>
          </a:ln>
        </p:spPr>
      </p:pic>
    </p:spTree>
  </p:cSld>
  <mc:AlternateContent>
    <mc:Choice Requires="p14">
      <p:transition p14:dur="100">
        <p:fade/>
      </p:transition>
    </mc:Choice>
    <mc:Fallback>
      <p:transition>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ftr" idx="32"/>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125" name="PlaceHolder 2"/>
          <p:cNvSpPr>
            <a:spLocks noGrp="1"/>
          </p:cNvSpPr>
          <p:nvPr>
            <p:ph type="dt" idx="33"/>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126" name="Rettangolo 21"/>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127" name="Segnaposto numero diapositiva 9"/>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3</a:t>
            </a:r>
            <a:endParaRPr lang="it-IT" sz="1100" b="0" u="none" strike="noStrike">
              <a:solidFill>
                <a:srgbClr val="000000"/>
              </a:solidFill>
              <a:effectLst/>
              <a:uFillTx/>
              <a:latin typeface="Arial"/>
            </a:endParaRPr>
          </a:p>
        </p:txBody>
      </p:sp>
      <p:sp>
        <p:nvSpPr>
          <p:cNvPr id="128" name="Rectangle 38"/>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tabLst>
                <a:tab algn="l" pos="0"/>
              </a:tabLst>
            </a:pPr>
            <a:r>
              <a:rPr lang="en-US" sz="2400" b="1" u="none" strike="noStrike">
                <a:solidFill>
                  <a:srgbClr val="822433"/>
                </a:solidFill>
                <a:effectLst/>
                <a:uFillTx/>
                <a:latin typeface="Arial"/>
                <a:ea typeface="ＭＳ Ｐゴシック"/>
              </a:rPr>
              <a:t>Sparse Matrix Formats Across Architectures </a:t>
            </a:r>
            <a:endParaRPr lang="it-IT" sz="2400" b="0" u="none" strike="noStrike">
              <a:solidFill>
                <a:srgbClr val="000000"/>
              </a:solidFill>
              <a:effectLst/>
              <a:uFillTx/>
              <a:latin typeface="Arial"/>
            </a:endParaRPr>
          </a:p>
        </p:txBody>
      </p:sp>
      <p:sp>
        <p:nvSpPr>
          <p:cNvPr id="129" name="CasellaDiTesto 32"/>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pic>
        <p:nvPicPr>
          <p:cNvPr id="130" name=""/>
          <p:cNvPicPr/>
          <p:nvPr/>
        </p:nvPicPr>
        <p:blipFill>
          <a:blip r:embed="rId1"/>
          <a:stretch/>
        </p:blipFill>
        <p:spPr>
          <a:xfrm>
            <a:off x="3767040" y="872640"/>
            <a:ext cx="1811880" cy="1748520"/>
          </a:xfrm>
          <a:prstGeom prst="rect">
            <a:avLst/>
          </a:prstGeom>
          <a:noFill/>
          <a:ln w="0">
            <a:noFill/>
          </a:ln>
        </p:spPr>
      </p:pic>
      <p:cxnSp>
        <p:nvCxnSpPr>
          <p:cNvPr id="131" name="Connettore diritto 2"/>
          <p:cNvCxnSpPr/>
          <p:nvPr/>
        </p:nvCxnSpPr>
        <p:spPr>
          <a:xfrm>
            <a:off x="3060000" y="3240000"/>
            <a:ext cx="14040" cy="2328120"/>
          </a:xfrm>
          <a:prstGeom prst="straightConnector1">
            <a:avLst/>
          </a:prstGeom>
          <a:ln w="19050">
            <a:solidFill>
              <a:srgbClr val="822433"/>
            </a:solidFill>
            <a:prstDash val="dashDot"/>
            <a:round/>
          </a:ln>
        </p:spPr>
      </p:cxnSp>
      <p:cxnSp>
        <p:nvCxnSpPr>
          <p:cNvPr id="132" name="Connettore diritto 3"/>
          <p:cNvCxnSpPr/>
          <p:nvPr/>
        </p:nvCxnSpPr>
        <p:spPr>
          <a:xfrm>
            <a:off x="6300000" y="3253320"/>
            <a:ext cx="14040" cy="2328120"/>
          </a:xfrm>
          <a:prstGeom prst="straightConnector1">
            <a:avLst/>
          </a:prstGeom>
          <a:ln w="19050">
            <a:solidFill>
              <a:srgbClr val="822433"/>
            </a:solidFill>
            <a:prstDash val="dashDot"/>
            <a:round/>
          </a:ln>
        </p:spPr>
      </p:cxnSp>
      <p:sp>
        <p:nvSpPr>
          <p:cNvPr id="133" name=""/>
          <p:cNvSpPr/>
          <p:nvPr/>
        </p:nvSpPr>
        <p:spPr>
          <a:xfrm>
            <a:off x="360000" y="2561760"/>
            <a:ext cx="8278920" cy="8571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spcBef>
                <a:spcPts val="1191"/>
              </a:spcBef>
              <a:spcAft>
                <a:spcPts val="992"/>
              </a:spcAft>
            </a:pPr>
            <a:r>
              <a:rPr lang="en-US" sz="1800" b="0" u="none" strike="noStrike">
                <a:solidFill>
                  <a:srgbClr val="000000"/>
                </a:solidFill>
                <a:effectLst/>
                <a:uFillTx/>
                <a:latin typeface="Arial"/>
                <a:ea typeface="ＭＳ Ｐゴシック"/>
              </a:rPr>
              <a:t>Different hardware prefers different layouts, with differences in terms of storage order of the non-zero entries, the row reordering and the use of padding</a:t>
            </a:r>
            <a:endParaRPr lang="it-IT" sz="1800" b="0" u="none" strike="noStrike">
              <a:solidFill>
                <a:srgbClr val="000000"/>
              </a:solidFill>
              <a:effectLst/>
              <a:uFillTx/>
              <a:latin typeface="Arial"/>
            </a:endParaRPr>
          </a:p>
        </p:txBody>
      </p:sp>
      <p:pic>
        <p:nvPicPr>
          <p:cNvPr id="134" name=""/>
          <p:cNvPicPr/>
          <p:nvPr/>
        </p:nvPicPr>
        <p:blipFill>
          <a:blip r:embed="rId2"/>
          <a:stretch/>
        </p:blipFill>
        <p:spPr>
          <a:xfrm>
            <a:off x="1260000" y="3306960"/>
            <a:ext cx="1078560" cy="2631960"/>
          </a:xfrm>
          <a:prstGeom prst="rect">
            <a:avLst/>
          </a:prstGeom>
          <a:noFill/>
          <a:ln w="0">
            <a:noFill/>
          </a:ln>
        </p:spPr>
      </p:pic>
      <p:sp>
        <p:nvSpPr>
          <p:cNvPr id="135" name=""/>
          <p:cNvSpPr/>
          <p:nvPr/>
        </p:nvSpPr>
        <p:spPr>
          <a:xfrm>
            <a:off x="900000" y="3060000"/>
            <a:ext cx="2158920" cy="35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CPU → CRS </a:t>
            </a:r>
            <a:endParaRPr lang="it-IT" sz="1800" b="0" u="none" strike="noStrike">
              <a:solidFill>
                <a:srgbClr val="000000"/>
              </a:solidFill>
              <a:effectLst/>
              <a:uFillTx/>
              <a:latin typeface="Arial"/>
            </a:endParaRPr>
          </a:p>
        </p:txBody>
      </p:sp>
      <p:pic>
        <p:nvPicPr>
          <p:cNvPr id="136" name=""/>
          <p:cNvPicPr/>
          <p:nvPr/>
        </p:nvPicPr>
        <p:blipFill>
          <a:blip r:embed="rId3"/>
          <a:stretch/>
        </p:blipFill>
        <p:spPr>
          <a:xfrm>
            <a:off x="3873600" y="3350520"/>
            <a:ext cx="1345320" cy="2588400"/>
          </a:xfrm>
          <a:prstGeom prst="rect">
            <a:avLst/>
          </a:prstGeom>
          <a:noFill/>
          <a:ln w="0">
            <a:noFill/>
          </a:ln>
        </p:spPr>
      </p:pic>
      <p:sp>
        <p:nvSpPr>
          <p:cNvPr id="137" name=""/>
          <p:cNvSpPr/>
          <p:nvPr/>
        </p:nvSpPr>
        <p:spPr>
          <a:xfrm>
            <a:off x="3240000" y="3082680"/>
            <a:ext cx="2878920" cy="35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Vector processors → JDS </a:t>
            </a:r>
            <a:endParaRPr lang="it-IT" sz="1800" b="0" u="none" strike="noStrike">
              <a:solidFill>
                <a:srgbClr val="000000"/>
              </a:solidFill>
              <a:effectLst/>
              <a:uFillTx/>
              <a:latin typeface="Arial"/>
            </a:endParaRPr>
          </a:p>
        </p:txBody>
      </p:sp>
      <p:sp>
        <p:nvSpPr>
          <p:cNvPr id="138" name=""/>
          <p:cNvSpPr/>
          <p:nvPr/>
        </p:nvSpPr>
        <p:spPr>
          <a:xfrm>
            <a:off x="6840000" y="3163680"/>
            <a:ext cx="1978920" cy="255240"/>
          </a:xfrm>
          <a:prstGeom prst="rect">
            <a:avLst/>
          </a:prstGeom>
          <a:noFill/>
          <a:ln w="0">
            <a:noFill/>
          </a:ln>
        </p:spPr>
        <p:style>
          <a:lnRef idx="0"/>
          <a:fillRef idx="0"/>
          <a:effectRef idx="0"/>
          <a:fontRef idx="minor"/>
        </p:style>
        <p:txBody>
          <a:bodyPr lIns="0" rIns="0" tIns="0" bIns="0" anchor="t">
            <a:spAutoFit/>
          </a:bodyPr>
          <a:p>
            <a:pPr>
              <a:lnSpc>
                <a:spcPct val="100000"/>
              </a:lnSpc>
            </a:pPr>
            <a:r>
              <a:rPr lang="en-US" sz="1800" b="0" u="none" strike="noStrike">
                <a:solidFill>
                  <a:srgbClr val="822433"/>
                </a:solidFill>
                <a:effectLst/>
                <a:uFillTx/>
                <a:latin typeface="Arial"/>
                <a:ea typeface="ＭＳ Ｐゴシック"/>
              </a:rPr>
              <a:t>GPU → ELLPACK </a:t>
            </a:r>
            <a:endParaRPr lang="it-IT" sz="1800" b="0" u="none" strike="noStrike">
              <a:solidFill>
                <a:srgbClr val="000000"/>
              </a:solidFill>
              <a:effectLst/>
              <a:uFillTx/>
              <a:latin typeface="Arial"/>
            </a:endParaRPr>
          </a:p>
        </p:txBody>
      </p:sp>
      <p:pic>
        <p:nvPicPr>
          <p:cNvPr id="139" name=""/>
          <p:cNvPicPr/>
          <p:nvPr/>
        </p:nvPicPr>
        <p:blipFill>
          <a:blip r:embed="rId4"/>
          <a:stretch/>
        </p:blipFill>
        <p:spPr>
          <a:xfrm>
            <a:off x="7300440" y="3420000"/>
            <a:ext cx="978480" cy="2518920"/>
          </a:xfrm>
          <a:prstGeom prst="rect">
            <a:avLst/>
          </a:prstGeom>
          <a:noFill/>
          <a:ln w="0">
            <a:noFill/>
          </a:ln>
        </p:spPr>
      </p:pic>
    </p:spTree>
  </p:cSld>
  <mc:AlternateContent>
    <mc:Choice Requires="p14">
      <p:transition p14:dur="100">
        <p:fade/>
      </p:transition>
    </mc:Choice>
    <mc:Fallback>
      <p:transition>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ftr" idx="34"/>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141" name="PlaceHolder 2"/>
          <p:cNvSpPr>
            <a:spLocks noGrp="1"/>
          </p:cNvSpPr>
          <p:nvPr>
            <p:ph type="dt" idx="35"/>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142" name="Rettangolo 22"/>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143" name="Segnaposto numero diapositiva 10"/>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4</a:t>
            </a:r>
            <a:endParaRPr lang="it-IT" sz="1100" b="0" u="none" strike="noStrike">
              <a:solidFill>
                <a:srgbClr val="000000"/>
              </a:solidFill>
              <a:effectLst/>
              <a:uFillTx/>
              <a:latin typeface="Arial"/>
            </a:endParaRPr>
          </a:p>
        </p:txBody>
      </p:sp>
      <p:sp>
        <p:nvSpPr>
          <p:cNvPr id="144" name="Rectangle 42"/>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tabLst>
                <a:tab algn="l" pos="0"/>
              </a:tabLst>
            </a:pPr>
            <a:r>
              <a:rPr lang="en-US" sz="2400" b="1" u="none" strike="noStrike">
                <a:solidFill>
                  <a:srgbClr val="822433"/>
                </a:solidFill>
                <a:effectLst/>
                <a:uFillTx/>
                <a:latin typeface="Arial"/>
                <a:ea typeface="ＭＳ Ｐゴシック"/>
              </a:rPr>
              <a:t>Sparse Matrix Formats Across Architectures </a:t>
            </a:r>
            <a:endParaRPr lang="it-IT" sz="2400" b="0" u="none" strike="noStrike">
              <a:solidFill>
                <a:srgbClr val="000000"/>
              </a:solidFill>
              <a:effectLst/>
              <a:uFillTx/>
              <a:latin typeface="Arial"/>
            </a:endParaRPr>
          </a:p>
        </p:txBody>
      </p:sp>
      <p:sp>
        <p:nvSpPr>
          <p:cNvPr id="145" name="CasellaDiTesto 33"/>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146" name=""/>
          <p:cNvSpPr/>
          <p:nvPr/>
        </p:nvSpPr>
        <p:spPr>
          <a:xfrm>
            <a:off x="360000" y="1017720"/>
            <a:ext cx="7738920" cy="4428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2500" b="0" u="none" strike="noStrike">
                <a:solidFill>
                  <a:srgbClr val="822433"/>
                </a:solidFill>
                <a:effectLst/>
                <a:uFillTx/>
                <a:latin typeface="Arial"/>
                <a:ea typeface="ＭＳ Ｐゴシック"/>
              </a:rPr>
              <a:t>Vector processors → Jagged Diagonal Storage </a:t>
            </a:r>
            <a:endParaRPr lang="it-IT" sz="2500" b="0" u="none" strike="noStrike">
              <a:solidFill>
                <a:srgbClr val="000000"/>
              </a:solidFill>
              <a:effectLst/>
              <a:uFillTx/>
              <a:latin typeface="Arial"/>
            </a:endParaRPr>
          </a:p>
        </p:txBody>
      </p:sp>
      <p:pic>
        <p:nvPicPr>
          <p:cNvPr id="147" name=""/>
          <p:cNvPicPr/>
          <p:nvPr/>
        </p:nvPicPr>
        <p:blipFill>
          <a:blip r:embed="rId1"/>
          <a:stretch/>
        </p:blipFill>
        <p:spPr>
          <a:xfrm>
            <a:off x="720000" y="1439640"/>
            <a:ext cx="2245320" cy="4319280"/>
          </a:xfrm>
          <a:prstGeom prst="rect">
            <a:avLst/>
          </a:prstGeom>
          <a:noFill/>
          <a:ln w="0">
            <a:noFill/>
          </a:ln>
        </p:spPr>
      </p:pic>
      <p:sp>
        <p:nvSpPr>
          <p:cNvPr id="148" name=""/>
          <p:cNvSpPr/>
          <p:nvPr/>
        </p:nvSpPr>
        <p:spPr>
          <a:xfrm>
            <a:off x="3240000" y="3082680"/>
            <a:ext cx="2878920" cy="35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149" name=""/>
          <p:cNvSpPr/>
          <p:nvPr/>
        </p:nvSpPr>
        <p:spPr>
          <a:xfrm>
            <a:off x="3600000" y="1620000"/>
            <a:ext cx="4858920" cy="4677480"/>
          </a:xfrm>
          <a:prstGeom prst="rect">
            <a:avLst/>
          </a:prstGeom>
          <a:noFill/>
          <a:ln w="0">
            <a:noFill/>
          </a:ln>
        </p:spPr>
        <p:style>
          <a:lnRef idx="0"/>
          <a:fillRef idx="0"/>
          <a:effectRef idx="0"/>
          <a:fontRef idx="minor"/>
        </p:style>
        <p:txBody>
          <a:bodyPr lIns="90000" rIns="90000" tIns="45000" bIns="45000" anchor="t">
            <a:spAutoFit/>
          </a:bodyPr>
          <a:p>
            <a:pPr marL="216000" indent="-216000" algn="just">
              <a:lnSpc>
                <a:spcPct val="100000"/>
              </a:lnSpc>
              <a:spcBef>
                <a:spcPts val="340"/>
              </a:spcBef>
              <a:spcAft>
                <a:spcPts val="142"/>
              </a:spcAft>
              <a:buClr>
                <a:srgbClr val="000000"/>
              </a:buClr>
              <a:buSzPct val="45000"/>
              <a:buFont typeface="Wingdings" charset="2"/>
              <a:buChar char=""/>
            </a:pPr>
            <a:r>
              <a:rPr lang="en-US" sz="1500" b="0" u="none" strike="noStrike">
                <a:solidFill>
                  <a:srgbClr val="000000"/>
                </a:solidFill>
                <a:effectLst/>
                <a:uFillTx/>
                <a:latin typeface="Arial"/>
                <a:ea typeface="ＭＳ Ｐゴシック"/>
              </a:rPr>
              <a:t>The main idea is to globally reorder the rows so that the longest rows come first</a:t>
            </a:r>
            <a:endParaRPr lang="it-IT" sz="1500" b="0" u="none" strike="noStrike">
              <a:solidFill>
                <a:srgbClr val="000000"/>
              </a:solidFill>
              <a:effectLst/>
              <a:uFillTx/>
              <a:latin typeface="Arial"/>
            </a:endParaRPr>
          </a:p>
          <a:p>
            <a:pPr marL="216000" indent="-216000" algn="just">
              <a:lnSpc>
                <a:spcPct val="100000"/>
              </a:lnSpc>
              <a:spcBef>
                <a:spcPts val="340"/>
              </a:spcBef>
              <a:spcAft>
                <a:spcPts val="142"/>
              </a:spcAft>
              <a:buClr>
                <a:srgbClr val="000000"/>
              </a:buClr>
              <a:buSzPct val="45000"/>
              <a:buFont typeface="Wingdings" charset="2"/>
              <a:buChar char=""/>
            </a:pPr>
            <a:r>
              <a:rPr lang="en-US" sz="1500" b="0" u="none" strike="noStrike">
                <a:solidFill>
                  <a:srgbClr val="000000"/>
                </a:solidFill>
                <a:effectLst/>
                <a:uFillTx/>
                <a:latin typeface="Arial"/>
                <a:ea typeface="ＭＳ Ｐゴシック"/>
              </a:rPr>
              <a:t>vector processors and SIMD architectures work better when different rows have a similar number of non-zero elements</a:t>
            </a:r>
            <a:endParaRPr lang="it-IT" sz="1500" b="0" u="none" strike="noStrike">
              <a:solidFill>
                <a:srgbClr val="000000"/>
              </a:solidFill>
              <a:effectLst/>
              <a:uFillTx/>
              <a:latin typeface="Arial"/>
            </a:endParaRPr>
          </a:p>
          <a:p>
            <a:pPr marL="360000" indent="-360000" algn="just">
              <a:lnSpc>
                <a:spcPct val="100000"/>
              </a:lnSpc>
              <a:spcBef>
                <a:spcPts val="340"/>
              </a:spcBef>
              <a:spcAft>
                <a:spcPts val="142"/>
              </a:spcAft>
              <a:buClr>
                <a:srgbClr val="000000"/>
              </a:buClr>
              <a:buSzPct val="45000"/>
              <a:buFont typeface="Wingdings" charset="2"/>
              <a:buChar char=""/>
            </a:pPr>
            <a:r>
              <a:rPr lang="en-US" sz="1500" b="0" u="none" strike="noStrike">
                <a:solidFill>
                  <a:srgbClr val="000000"/>
                </a:solidFill>
                <a:effectLst/>
                <a:uFillTx/>
                <a:latin typeface="Arial"/>
                <a:ea typeface="ＭＳ Ｐゴシック"/>
              </a:rPr>
              <a:t>Used arrays:</a:t>
            </a:r>
            <a:endParaRPr lang="it-IT" sz="1500" b="0" u="none" strike="noStrike">
              <a:solidFill>
                <a:srgbClr val="000000"/>
              </a:solidFill>
              <a:effectLst/>
              <a:uFillTx/>
              <a:latin typeface="Arial"/>
            </a:endParaRPr>
          </a:p>
          <a:p>
            <a:pPr marL="360000" lvl="2" indent="-360000" algn="just">
              <a:lnSpc>
                <a:spcPct val="100000"/>
              </a:lnSpc>
              <a:spcBef>
                <a:spcPts val="340"/>
              </a:spcBef>
              <a:spcAft>
                <a:spcPts val="142"/>
              </a:spcAft>
              <a:buClr>
                <a:srgbClr val="000000"/>
              </a:buClr>
              <a:buSzPct val="45000"/>
              <a:buFont typeface="Wingdings" charset="2"/>
              <a:buChar char=""/>
            </a:pPr>
            <a:r>
              <a:rPr lang="en-US" sz="1500" b="1" u="none" strike="noStrike">
                <a:solidFill>
                  <a:srgbClr val="822433"/>
                </a:solidFill>
                <a:effectLst/>
                <a:uFillTx/>
                <a:latin typeface="Arial"/>
                <a:ea typeface="ＭＳ Ｐゴシック"/>
              </a:rPr>
              <a:t>val[]</a:t>
            </a:r>
            <a:r>
              <a:rPr lang="en-US" sz="1500" b="0" u="none" strike="noStrike">
                <a:solidFill>
                  <a:srgbClr val="000000"/>
                </a:solidFill>
                <a:effectLst/>
                <a:uFillTx/>
                <a:latin typeface="Arial"/>
                <a:ea typeface="ＭＳ Ｐゴシック"/>
              </a:rPr>
              <a:t>: stores the nonzero values in jagged diagonal order</a:t>
            </a:r>
            <a:endParaRPr lang="it-IT" sz="1500" b="0" u="none" strike="noStrike">
              <a:solidFill>
                <a:srgbClr val="000000"/>
              </a:solidFill>
              <a:effectLst/>
              <a:uFillTx/>
              <a:latin typeface="Arial"/>
            </a:endParaRPr>
          </a:p>
          <a:p>
            <a:pPr marL="360000" lvl="2" indent="-360000" algn="just">
              <a:lnSpc>
                <a:spcPct val="100000"/>
              </a:lnSpc>
              <a:spcBef>
                <a:spcPts val="624"/>
              </a:spcBef>
              <a:spcAft>
                <a:spcPts val="425"/>
              </a:spcAft>
              <a:buClr>
                <a:srgbClr val="000000"/>
              </a:buClr>
              <a:buSzPct val="45000"/>
              <a:buFont typeface="Wingdings" charset="2"/>
              <a:buChar char=""/>
            </a:pPr>
            <a:r>
              <a:rPr lang="en-US" sz="1500" b="1" u="none" strike="noStrike">
                <a:solidFill>
                  <a:srgbClr val="822433"/>
                </a:solidFill>
                <a:effectLst/>
                <a:uFillTx/>
                <a:latin typeface="Arial"/>
                <a:ea typeface="ＭＳ Ｐゴシック"/>
              </a:rPr>
              <a:t>col[]</a:t>
            </a:r>
            <a:r>
              <a:rPr lang="en-US" sz="1500" b="0" u="none" strike="noStrike">
                <a:solidFill>
                  <a:srgbClr val="000000"/>
                </a:solidFill>
                <a:effectLst/>
                <a:uFillTx/>
                <a:latin typeface="Arial"/>
                <a:ea typeface="Microsoft YaHei"/>
              </a:rPr>
              <a:t>: stores the column index of each nonzero </a:t>
            </a:r>
            <a:endParaRPr lang="it-IT" sz="1500" b="0" u="none" strike="noStrike">
              <a:solidFill>
                <a:srgbClr val="000000"/>
              </a:solidFill>
              <a:effectLst/>
              <a:uFillTx/>
              <a:latin typeface="Arial"/>
            </a:endParaRPr>
          </a:p>
          <a:p>
            <a:pPr marL="360000" lvl="2" indent="-360000" algn="just">
              <a:lnSpc>
                <a:spcPct val="100000"/>
              </a:lnSpc>
              <a:spcBef>
                <a:spcPts val="624"/>
              </a:spcBef>
              <a:spcAft>
                <a:spcPts val="425"/>
              </a:spcAft>
              <a:buClr>
                <a:srgbClr val="000000"/>
              </a:buClr>
              <a:buSzPct val="45000"/>
              <a:buFont typeface="Wingdings" charset="2"/>
              <a:buChar char=""/>
            </a:pPr>
            <a:r>
              <a:rPr lang="en-US" sz="1500" b="1" u="none" strike="noStrike">
                <a:solidFill>
                  <a:srgbClr val="822433"/>
                </a:solidFill>
                <a:effectLst/>
                <a:uFillTx/>
                <a:latin typeface="Arial"/>
                <a:ea typeface="Microsoft YaHei"/>
              </a:rPr>
              <a:t>jd_ptr[]</a:t>
            </a:r>
            <a:r>
              <a:rPr lang="en-US" sz="1500" b="0" u="none" strike="noStrike">
                <a:solidFill>
                  <a:srgbClr val="000000"/>
                </a:solidFill>
                <a:effectLst/>
                <a:uFillTx/>
                <a:latin typeface="Arial"/>
                <a:ea typeface="Microsoft YaHei"/>
              </a:rPr>
              <a:t>: stores the starting position of each jagged diagonal </a:t>
            </a:r>
            <a:endParaRPr lang="it-IT" sz="1500" b="0" u="none" strike="noStrike">
              <a:solidFill>
                <a:srgbClr val="000000"/>
              </a:solidFill>
              <a:effectLst/>
              <a:uFillTx/>
              <a:latin typeface="Arial"/>
            </a:endParaRPr>
          </a:p>
          <a:p>
            <a:pPr marL="360000" lvl="2" indent="-360000" algn="just">
              <a:lnSpc>
                <a:spcPct val="100000"/>
              </a:lnSpc>
              <a:spcBef>
                <a:spcPts val="624"/>
              </a:spcBef>
              <a:spcAft>
                <a:spcPts val="425"/>
              </a:spcAft>
              <a:buClr>
                <a:srgbClr val="000000"/>
              </a:buClr>
              <a:buSzPct val="45000"/>
              <a:buFont typeface="Wingdings" charset="2"/>
              <a:buChar char=""/>
            </a:pPr>
            <a:r>
              <a:rPr lang="en-US" sz="1500" b="1" u="none" strike="noStrike">
                <a:solidFill>
                  <a:srgbClr val="822433"/>
                </a:solidFill>
                <a:effectLst/>
                <a:uFillTx/>
                <a:latin typeface="Arial"/>
                <a:ea typeface="Microsoft YaHei"/>
              </a:rPr>
              <a:t>perm[]</a:t>
            </a:r>
            <a:r>
              <a:rPr lang="en-US" sz="1500" b="0" u="none" strike="noStrike">
                <a:solidFill>
                  <a:srgbClr val="000000"/>
                </a:solidFill>
                <a:effectLst/>
                <a:uFillTx/>
                <a:latin typeface="Arial"/>
                <a:ea typeface="Microsoft YaHei"/>
              </a:rPr>
              <a:t>: stores the permutation of the original row order </a:t>
            </a:r>
            <a:endParaRPr lang="it-IT" sz="1500" b="0" u="none" strike="noStrike">
              <a:solidFill>
                <a:srgbClr val="000000"/>
              </a:solidFill>
              <a:effectLst/>
              <a:uFillTx/>
              <a:latin typeface="Arial"/>
            </a:endParaRPr>
          </a:p>
          <a:p>
            <a:pPr marL="216000" indent="-216000" algn="just">
              <a:lnSpc>
                <a:spcPct val="100000"/>
              </a:lnSpc>
              <a:spcBef>
                <a:spcPts val="340"/>
              </a:spcBef>
              <a:spcAft>
                <a:spcPts val="142"/>
              </a:spcAft>
              <a:buClr>
                <a:srgbClr val="000000"/>
              </a:buClr>
              <a:buSzPct val="45000"/>
              <a:buFont typeface="Wingdings" charset="2"/>
              <a:buChar char=""/>
            </a:pPr>
            <a:r>
              <a:rPr lang="en-US" sz="1500" b="0" u="none" strike="noStrike">
                <a:solidFill>
                  <a:srgbClr val="000000"/>
                </a:solidFill>
                <a:effectLst/>
                <a:uFillTx/>
                <a:latin typeface="Arial"/>
                <a:ea typeface="Microsoft YaHei"/>
              </a:rPr>
              <a:t>Disadvantages: requires row reordering, needs to store the permutation array, can hurt cache locality of the RHS vector</a:t>
            </a:r>
            <a:endParaRPr lang="it-IT" sz="1500" b="0" u="none" strike="noStrike">
              <a:solidFill>
                <a:srgbClr val="000000"/>
              </a:solidFill>
              <a:effectLst/>
              <a:uFillTx/>
              <a:latin typeface="Arial"/>
            </a:endParaRPr>
          </a:p>
          <a:p>
            <a:pPr>
              <a:lnSpc>
                <a:spcPct val="100000"/>
              </a:lnSpc>
              <a:spcBef>
                <a:spcPts val="907"/>
              </a:spcBef>
              <a:spcAft>
                <a:spcPts val="709"/>
              </a:spcAft>
            </a:pPr>
            <a:endParaRPr lang="it-IT" sz="10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ftr" idx="36"/>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151" name="PlaceHolder 2"/>
          <p:cNvSpPr>
            <a:spLocks noGrp="1"/>
          </p:cNvSpPr>
          <p:nvPr>
            <p:ph type="dt" idx="37"/>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152" name="Rettangolo 23"/>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153" name="Segnaposto numero diapositiva 11"/>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4</a:t>
            </a:r>
            <a:endParaRPr lang="it-IT" sz="1100" b="0" u="none" strike="noStrike">
              <a:solidFill>
                <a:srgbClr val="000000"/>
              </a:solidFill>
              <a:effectLst/>
              <a:uFillTx/>
              <a:latin typeface="Arial"/>
            </a:endParaRPr>
          </a:p>
        </p:txBody>
      </p:sp>
      <p:sp>
        <p:nvSpPr>
          <p:cNvPr id="154" name="Rectangle 46"/>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tabLst>
                <a:tab algn="l" pos="0"/>
              </a:tabLst>
            </a:pPr>
            <a:r>
              <a:rPr lang="en-US" sz="2400" b="1" u="none" strike="noStrike">
                <a:solidFill>
                  <a:srgbClr val="822433"/>
                </a:solidFill>
                <a:effectLst/>
                <a:uFillTx/>
                <a:latin typeface="Arial"/>
                <a:ea typeface="ＭＳ Ｐゴシック"/>
              </a:rPr>
              <a:t>Sparse Matrix Formats Across Architectures </a:t>
            </a:r>
            <a:endParaRPr lang="it-IT" sz="2400" b="0" u="none" strike="noStrike">
              <a:solidFill>
                <a:srgbClr val="000000"/>
              </a:solidFill>
              <a:effectLst/>
              <a:uFillTx/>
              <a:latin typeface="Arial"/>
            </a:endParaRPr>
          </a:p>
        </p:txBody>
      </p:sp>
      <p:sp>
        <p:nvSpPr>
          <p:cNvPr id="155" name="CasellaDiTesto 34"/>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156" name=""/>
          <p:cNvSpPr/>
          <p:nvPr/>
        </p:nvSpPr>
        <p:spPr>
          <a:xfrm>
            <a:off x="360000" y="1017720"/>
            <a:ext cx="7738920" cy="4428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2500" b="0" u="none" strike="noStrike">
                <a:solidFill>
                  <a:srgbClr val="822433"/>
                </a:solidFill>
                <a:effectLst/>
                <a:uFillTx/>
                <a:latin typeface="Arial"/>
                <a:ea typeface="ＭＳ Ｐゴシック"/>
              </a:rPr>
              <a:t>Vector processors → Jagged Diagonal Storage </a:t>
            </a:r>
            <a:endParaRPr lang="it-IT" sz="2500" b="0" u="none" strike="noStrike">
              <a:solidFill>
                <a:srgbClr val="000000"/>
              </a:solidFill>
              <a:effectLst/>
              <a:uFillTx/>
              <a:latin typeface="Arial"/>
            </a:endParaRPr>
          </a:p>
        </p:txBody>
      </p:sp>
      <p:sp>
        <p:nvSpPr>
          <p:cNvPr id="157" name=""/>
          <p:cNvSpPr/>
          <p:nvPr/>
        </p:nvSpPr>
        <p:spPr>
          <a:xfrm>
            <a:off x="3240000" y="3082680"/>
            <a:ext cx="2878920" cy="35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pic>
        <p:nvPicPr>
          <p:cNvPr id="158" name=""/>
          <p:cNvPicPr/>
          <p:nvPr/>
        </p:nvPicPr>
        <p:blipFill>
          <a:blip r:embed="rId1"/>
          <a:stretch/>
        </p:blipFill>
        <p:spPr>
          <a:xfrm>
            <a:off x="0" y="1522800"/>
            <a:ext cx="4389840" cy="3696120"/>
          </a:xfrm>
          <a:prstGeom prst="rect">
            <a:avLst/>
          </a:prstGeom>
          <a:noFill/>
          <a:ln w="0">
            <a:noFill/>
          </a:ln>
        </p:spPr>
      </p:pic>
      <p:sp>
        <p:nvSpPr>
          <p:cNvPr id="159" name=""/>
          <p:cNvSpPr/>
          <p:nvPr/>
        </p:nvSpPr>
        <p:spPr>
          <a:xfrm>
            <a:off x="3600000" y="1620000"/>
            <a:ext cx="4858920" cy="4799160"/>
          </a:xfrm>
          <a:prstGeom prst="rect">
            <a:avLst/>
          </a:prstGeom>
          <a:noFill/>
          <a:ln w="0">
            <a:noFill/>
          </a:ln>
        </p:spPr>
        <p:style>
          <a:lnRef idx="0"/>
          <a:fillRef idx="0"/>
          <a:effectRef idx="0"/>
          <a:fontRef idx="minor"/>
        </p:style>
        <p:txBody>
          <a:bodyPr lIns="90000" rIns="90000" tIns="45000" bIns="45000" anchor="t">
            <a:spAutoFit/>
          </a:bodyPr>
          <a:p>
            <a:pPr marL="216000" indent="-216000" algn="just">
              <a:lnSpc>
                <a:spcPct val="100000"/>
              </a:lnSpc>
              <a:spcBef>
                <a:spcPts val="340"/>
              </a:spcBef>
              <a:spcAft>
                <a:spcPts val="142"/>
              </a:spcAft>
              <a:buClr>
                <a:srgbClr val="000000"/>
              </a:buClr>
              <a:buSzPct val="45000"/>
              <a:buFont typeface="Wingdings" charset="2"/>
              <a:buChar char=""/>
            </a:pPr>
            <a:r>
              <a:rPr lang="en-US" sz="1500" b="0" u="none" strike="noStrike">
                <a:solidFill>
                  <a:srgbClr val="000000"/>
                </a:solidFill>
                <a:effectLst/>
                <a:uFillTx/>
                <a:latin typeface="Arial"/>
                <a:ea typeface="ＭＳ Ｐゴシック"/>
              </a:rPr>
              <a:t>The main idea is to globally reorder the rows so that the longest rows come first</a:t>
            </a:r>
            <a:endParaRPr lang="it-IT" sz="1500" b="0" u="none" strike="noStrike">
              <a:solidFill>
                <a:srgbClr val="000000"/>
              </a:solidFill>
              <a:effectLst/>
              <a:uFillTx/>
              <a:latin typeface="Arial"/>
            </a:endParaRPr>
          </a:p>
          <a:p>
            <a:pPr marL="216000" indent="-216000" algn="just">
              <a:lnSpc>
                <a:spcPct val="100000"/>
              </a:lnSpc>
              <a:spcBef>
                <a:spcPts val="340"/>
              </a:spcBef>
              <a:spcAft>
                <a:spcPts val="142"/>
              </a:spcAft>
              <a:buClr>
                <a:srgbClr val="000000"/>
              </a:buClr>
              <a:buSzPct val="45000"/>
              <a:buFont typeface="Wingdings" charset="2"/>
              <a:buChar char=""/>
            </a:pPr>
            <a:r>
              <a:rPr lang="en-US" sz="1500" b="0" u="none" strike="noStrike">
                <a:solidFill>
                  <a:srgbClr val="000000"/>
                </a:solidFill>
                <a:effectLst/>
                <a:uFillTx/>
                <a:latin typeface="Arial"/>
                <a:ea typeface="ＭＳ Ｐゴシック"/>
              </a:rPr>
              <a:t>vector processors and SIMD architectures work better when different rows have a similar number of non-zero elements</a:t>
            </a:r>
            <a:endParaRPr lang="it-IT" sz="1500" b="0" u="none" strike="noStrike">
              <a:solidFill>
                <a:srgbClr val="000000"/>
              </a:solidFill>
              <a:effectLst/>
              <a:uFillTx/>
              <a:latin typeface="Arial"/>
            </a:endParaRPr>
          </a:p>
          <a:p>
            <a:pPr marL="360000" indent="-360000" algn="just">
              <a:lnSpc>
                <a:spcPct val="100000"/>
              </a:lnSpc>
              <a:spcBef>
                <a:spcPts val="340"/>
              </a:spcBef>
              <a:spcAft>
                <a:spcPts val="142"/>
              </a:spcAft>
              <a:buClr>
                <a:srgbClr val="000000"/>
              </a:buClr>
              <a:buSzPct val="45000"/>
              <a:buFont typeface="Wingdings" charset="2"/>
              <a:buChar char=""/>
            </a:pPr>
            <a:r>
              <a:rPr lang="en-US" sz="1500" b="0" u="none" strike="noStrike">
                <a:solidFill>
                  <a:srgbClr val="000000"/>
                </a:solidFill>
                <a:effectLst/>
                <a:uFillTx/>
                <a:latin typeface="Arial"/>
                <a:ea typeface="ＭＳ Ｐゴシック"/>
              </a:rPr>
              <a:t>Used arrays:</a:t>
            </a:r>
            <a:endParaRPr lang="it-IT" sz="1500" b="0" u="none" strike="noStrike">
              <a:solidFill>
                <a:srgbClr val="000000"/>
              </a:solidFill>
              <a:effectLst/>
              <a:uFillTx/>
              <a:latin typeface="Arial"/>
            </a:endParaRPr>
          </a:p>
          <a:p>
            <a:pPr marL="360000" lvl="2" indent="-360000" algn="just">
              <a:lnSpc>
                <a:spcPct val="100000"/>
              </a:lnSpc>
              <a:spcBef>
                <a:spcPts val="340"/>
              </a:spcBef>
              <a:spcAft>
                <a:spcPts val="142"/>
              </a:spcAft>
              <a:buClr>
                <a:srgbClr val="000000"/>
              </a:buClr>
              <a:buSzPct val="45000"/>
              <a:buFont typeface="Wingdings" charset="2"/>
              <a:buChar char=""/>
            </a:pPr>
            <a:r>
              <a:rPr lang="en-US" sz="1500" b="1" u="none" strike="noStrike">
                <a:solidFill>
                  <a:srgbClr val="822433"/>
                </a:solidFill>
                <a:effectLst/>
                <a:uFillTx/>
                <a:latin typeface="Arial"/>
                <a:ea typeface="ＭＳ Ｐゴシック"/>
              </a:rPr>
              <a:t>val[]</a:t>
            </a:r>
            <a:r>
              <a:rPr lang="en-US" sz="1500" b="0" u="none" strike="noStrike">
                <a:solidFill>
                  <a:srgbClr val="000000"/>
                </a:solidFill>
                <a:effectLst/>
                <a:uFillTx/>
                <a:latin typeface="Arial"/>
                <a:ea typeface="ＭＳ Ｐゴシック"/>
              </a:rPr>
              <a:t>: stores the nonzero values in jagged diagonal order</a:t>
            </a:r>
            <a:endParaRPr lang="it-IT" sz="1500" b="0" u="none" strike="noStrike">
              <a:solidFill>
                <a:srgbClr val="000000"/>
              </a:solidFill>
              <a:effectLst/>
              <a:uFillTx/>
              <a:latin typeface="Arial"/>
            </a:endParaRPr>
          </a:p>
          <a:p>
            <a:pPr marL="360000" lvl="2" indent="-360000" algn="just">
              <a:lnSpc>
                <a:spcPct val="100000"/>
              </a:lnSpc>
              <a:spcBef>
                <a:spcPts val="624"/>
              </a:spcBef>
              <a:spcAft>
                <a:spcPts val="425"/>
              </a:spcAft>
              <a:buClr>
                <a:srgbClr val="000000"/>
              </a:buClr>
              <a:buSzPct val="45000"/>
              <a:buFont typeface="Wingdings" charset="2"/>
              <a:buChar char=""/>
            </a:pPr>
            <a:r>
              <a:rPr lang="en-US" sz="1500" b="1" u="none" strike="noStrike">
                <a:solidFill>
                  <a:srgbClr val="822433"/>
                </a:solidFill>
                <a:effectLst/>
                <a:uFillTx/>
                <a:latin typeface="Arial"/>
                <a:ea typeface="ＭＳ Ｐゴシック"/>
              </a:rPr>
              <a:t>col[]</a:t>
            </a:r>
            <a:r>
              <a:rPr lang="en-US" sz="1500" b="0" u="none" strike="noStrike">
                <a:solidFill>
                  <a:srgbClr val="000000"/>
                </a:solidFill>
                <a:effectLst/>
                <a:uFillTx/>
                <a:latin typeface="Arial"/>
                <a:ea typeface="Microsoft YaHei"/>
              </a:rPr>
              <a:t>: stores the column index of each nonzero </a:t>
            </a:r>
            <a:endParaRPr lang="it-IT" sz="1500" b="0" u="none" strike="noStrike">
              <a:solidFill>
                <a:srgbClr val="000000"/>
              </a:solidFill>
              <a:effectLst/>
              <a:uFillTx/>
              <a:latin typeface="Arial"/>
            </a:endParaRPr>
          </a:p>
          <a:p>
            <a:pPr marL="360000" lvl="2" indent="-360000" algn="just">
              <a:lnSpc>
                <a:spcPct val="100000"/>
              </a:lnSpc>
              <a:spcBef>
                <a:spcPts val="624"/>
              </a:spcBef>
              <a:spcAft>
                <a:spcPts val="425"/>
              </a:spcAft>
              <a:buClr>
                <a:srgbClr val="000000"/>
              </a:buClr>
              <a:buSzPct val="45000"/>
              <a:buFont typeface="Wingdings" charset="2"/>
              <a:buChar char=""/>
            </a:pPr>
            <a:r>
              <a:rPr lang="en-US" sz="1500" b="1" u="none" strike="noStrike">
                <a:solidFill>
                  <a:srgbClr val="822433"/>
                </a:solidFill>
                <a:effectLst/>
                <a:uFillTx/>
                <a:latin typeface="Arial"/>
                <a:ea typeface="Microsoft YaHei"/>
              </a:rPr>
              <a:t>jd_ptr[]</a:t>
            </a:r>
            <a:r>
              <a:rPr lang="en-US" sz="1500" b="0" u="none" strike="noStrike">
                <a:solidFill>
                  <a:srgbClr val="000000"/>
                </a:solidFill>
                <a:effectLst/>
                <a:uFillTx/>
                <a:latin typeface="Arial"/>
                <a:ea typeface="Microsoft YaHei"/>
              </a:rPr>
              <a:t>: stores the starting position of each jagged diagonal </a:t>
            </a:r>
            <a:endParaRPr lang="it-IT" sz="1500" b="0" u="none" strike="noStrike">
              <a:solidFill>
                <a:srgbClr val="000000"/>
              </a:solidFill>
              <a:effectLst/>
              <a:uFillTx/>
              <a:latin typeface="Arial"/>
            </a:endParaRPr>
          </a:p>
          <a:p>
            <a:pPr marL="360000" lvl="2" indent="-360000" algn="just">
              <a:lnSpc>
                <a:spcPct val="100000"/>
              </a:lnSpc>
              <a:spcBef>
                <a:spcPts val="624"/>
              </a:spcBef>
              <a:spcAft>
                <a:spcPts val="425"/>
              </a:spcAft>
              <a:buClr>
                <a:srgbClr val="000000"/>
              </a:buClr>
              <a:buSzPct val="45000"/>
              <a:buFont typeface="Wingdings" charset="2"/>
              <a:buChar char=""/>
            </a:pPr>
            <a:r>
              <a:rPr lang="en-US" sz="1500" b="1" u="none" strike="noStrike">
                <a:solidFill>
                  <a:srgbClr val="822433"/>
                </a:solidFill>
                <a:effectLst/>
                <a:uFillTx/>
                <a:latin typeface="Arial"/>
                <a:ea typeface="Microsoft YaHei"/>
              </a:rPr>
              <a:t>perm[]</a:t>
            </a:r>
            <a:r>
              <a:rPr lang="en-US" sz="1500" b="0" u="none" strike="noStrike">
                <a:solidFill>
                  <a:srgbClr val="000000"/>
                </a:solidFill>
                <a:effectLst/>
                <a:uFillTx/>
                <a:latin typeface="Arial"/>
                <a:ea typeface="Microsoft YaHei"/>
              </a:rPr>
              <a:t>: stores the permutation of the original row order </a:t>
            </a:r>
            <a:endParaRPr lang="it-IT" sz="1500" b="0" u="none" strike="noStrike">
              <a:solidFill>
                <a:srgbClr val="000000"/>
              </a:solidFill>
              <a:effectLst/>
              <a:uFillTx/>
              <a:latin typeface="Arial"/>
            </a:endParaRPr>
          </a:p>
          <a:p>
            <a:pPr marL="216000" indent="-216000" algn="just">
              <a:lnSpc>
                <a:spcPct val="100000"/>
              </a:lnSpc>
              <a:spcBef>
                <a:spcPts val="340"/>
              </a:spcBef>
              <a:spcAft>
                <a:spcPts val="142"/>
              </a:spcAft>
              <a:buClr>
                <a:srgbClr val="000000"/>
              </a:buClr>
              <a:buSzPct val="45000"/>
              <a:buFont typeface="Wingdings" charset="2"/>
              <a:buChar char=""/>
            </a:pPr>
            <a:r>
              <a:rPr lang="en-US" sz="1500" b="0" u="none" strike="noStrike">
                <a:solidFill>
                  <a:srgbClr val="822433"/>
                </a:solidFill>
                <a:effectLst/>
                <a:uFillTx/>
                <a:latin typeface="Arial"/>
                <a:ea typeface="Microsoft YaHei"/>
              </a:rPr>
              <a:t>Disadvantages</a:t>
            </a:r>
            <a:r>
              <a:rPr lang="en-US" sz="1500" b="0" u="none" strike="noStrike">
                <a:solidFill>
                  <a:srgbClr val="000000"/>
                </a:solidFill>
                <a:effectLst/>
                <a:uFillTx/>
                <a:latin typeface="Arial"/>
                <a:ea typeface="Microsoft YaHei"/>
              </a:rPr>
              <a:t>: requires row reordering, needs to store the permutation array, can hurt cache locality of the RHS vector</a:t>
            </a:r>
            <a:endParaRPr lang="it-IT" sz="1500" b="0" u="none" strike="noStrike">
              <a:solidFill>
                <a:srgbClr val="000000"/>
              </a:solidFill>
              <a:effectLst/>
              <a:uFillTx/>
              <a:latin typeface="Arial"/>
            </a:endParaRPr>
          </a:p>
          <a:p>
            <a:pPr>
              <a:lnSpc>
                <a:spcPct val="100000"/>
              </a:lnSpc>
              <a:spcBef>
                <a:spcPts val="907"/>
              </a:spcBef>
              <a:spcAft>
                <a:spcPts val="709"/>
              </a:spcAft>
            </a:pPr>
            <a:endParaRPr lang="it-IT" sz="1800" b="0" u="none" strike="noStrike">
              <a:solidFill>
                <a:srgbClr val="000000"/>
              </a:solidFill>
              <a:effectLst/>
              <a:uFillTx/>
              <a:latin typeface="Arial"/>
            </a:endParaRPr>
          </a:p>
        </p:txBody>
      </p:sp>
      <p:sp>
        <p:nvSpPr>
          <p:cNvPr id="160" name=""/>
          <p:cNvSpPr/>
          <p:nvPr/>
        </p:nvSpPr>
        <p:spPr>
          <a:xfrm>
            <a:off x="1440000" y="2520000"/>
            <a:ext cx="720000" cy="36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Arial"/>
              <a:ea typeface="ＭＳ Ｐゴシック"/>
            </a:endParaRPr>
          </a:p>
        </p:txBody>
      </p:sp>
      <p:pic>
        <p:nvPicPr>
          <p:cNvPr id="161" name=""/>
          <p:cNvPicPr/>
          <p:nvPr/>
        </p:nvPicPr>
        <p:blipFill>
          <a:blip r:embed="rId2"/>
          <a:stretch/>
        </p:blipFill>
        <p:spPr>
          <a:xfrm>
            <a:off x="2257200" y="2012040"/>
            <a:ext cx="909720" cy="1420920"/>
          </a:xfrm>
          <a:prstGeom prst="rect">
            <a:avLst/>
          </a:prstGeom>
          <a:noFill/>
          <a:ln w="0">
            <a:noFill/>
          </a:ln>
        </p:spPr>
      </p:pic>
    </p:spTree>
  </p:cSld>
  <mc:AlternateContent>
    <mc:Choice Requires="p14">
      <p:transition p14:dur="100">
        <p:fade/>
      </p:transition>
    </mc:Choice>
    <mc:Fallback>
      <p:transition>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ftr" idx="38"/>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163" name="PlaceHolder 2"/>
          <p:cNvSpPr>
            <a:spLocks noGrp="1"/>
          </p:cNvSpPr>
          <p:nvPr>
            <p:ph type="dt" idx="39"/>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164" name="Rettangolo 24"/>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165" name="Segnaposto numero diapositiva 12"/>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5</a:t>
            </a:r>
            <a:endParaRPr lang="it-IT" sz="1100" b="0" u="none" strike="noStrike">
              <a:solidFill>
                <a:srgbClr val="000000"/>
              </a:solidFill>
              <a:effectLst/>
              <a:uFillTx/>
              <a:latin typeface="Arial"/>
            </a:endParaRPr>
          </a:p>
          <a:p>
            <a:pPr algn="r" defTabSz="457200">
              <a:lnSpc>
                <a:spcPct val="100000"/>
              </a:lnSpc>
            </a:pPr>
            <a:endParaRPr lang="it-IT" sz="1100" b="0" u="none" strike="noStrike">
              <a:solidFill>
                <a:srgbClr val="000000"/>
              </a:solidFill>
              <a:effectLst/>
              <a:uFillTx/>
              <a:latin typeface="Arial"/>
            </a:endParaRPr>
          </a:p>
        </p:txBody>
      </p:sp>
      <p:sp>
        <p:nvSpPr>
          <p:cNvPr id="166" name="Rectangle 50"/>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tabLst>
                <a:tab algn="l" pos="0"/>
              </a:tabLst>
            </a:pPr>
            <a:r>
              <a:rPr lang="en-US" sz="2400" b="1" u="none" strike="noStrike">
                <a:solidFill>
                  <a:srgbClr val="822433"/>
                </a:solidFill>
                <a:effectLst/>
                <a:uFillTx/>
                <a:latin typeface="Arial"/>
                <a:ea typeface="ＭＳ Ｐゴシック"/>
              </a:rPr>
              <a:t>Sparse Matrix Formats Across Architectures </a:t>
            </a:r>
            <a:endParaRPr lang="it-IT" sz="2400" b="0" u="none" strike="noStrike">
              <a:solidFill>
                <a:srgbClr val="000000"/>
              </a:solidFill>
              <a:effectLst/>
              <a:uFillTx/>
              <a:latin typeface="Arial"/>
            </a:endParaRPr>
          </a:p>
        </p:txBody>
      </p:sp>
      <p:sp>
        <p:nvSpPr>
          <p:cNvPr id="167" name="CasellaDiTesto 35"/>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168" name=""/>
          <p:cNvSpPr/>
          <p:nvPr/>
        </p:nvSpPr>
        <p:spPr>
          <a:xfrm>
            <a:off x="360000" y="1017720"/>
            <a:ext cx="7738920" cy="4428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2500" b="0" u="none" strike="noStrike">
                <a:solidFill>
                  <a:srgbClr val="822433"/>
                </a:solidFill>
                <a:effectLst/>
                <a:uFillTx/>
                <a:latin typeface="Arial"/>
                <a:ea typeface="ＭＳ Ｐゴシック"/>
              </a:rPr>
              <a:t>CPU → CRS  </a:t>
            </a:r>
            <a:endParaRPr lang="it-IT" sz="2500" b="0" u="none" strike="noStrike">
              <a:solidFill>
                <a:srgbClr val="000000"/>
              </a:solidFill>
              <a:effectLst/>
              <a:uFillTx/>
              <a:latin typeface="Arial"/>
            </a:endParaRPr>
          </a:p>
        </p:txBody>
      </p:sp>
      <p:sp>
        <p:nvSpPr>
          <p:cNvPr id="169" name=""/>
          <p:cNvSpPr/>
          <p:nvPr/>
        </p:nvSpPr>
        <p:spPr>
          <a:xfrm>
            <a:off x="3240000" y="3082680"/>
            <a:ext cx="2878920" cy="35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170" name=""/>
          <p:cNvSpPr/>
          <p:nvPr/>
        </p:nvSpPr>
        <p:spPr>
          <a:xfrm>
            <a:off x="3600000" y="1620000"/>
            <a:ext cx="4858920" cy="3778920"/>
          </a:xfrm>
          <a:prstGeom prst="rect">
            <a:avLst/>
          </a:prstGeom>
          <a:noFill/>
          <a:ln w="0">
            <a:noFill/>
          </a:ln>
        </p:spPr>
        <p:style>
          <a:lnRef idx="0"/>
          <a:fillRef idx="0"/>
          <a:effectRef idx="0"/>
          <a:fontRef idx="minor"/>
        </p:style>
        <p:txBody>
          <a:bodyPr lIns="90000" rIns="90000" tIns="45000" bIns="45000" anchor="t">
            <a:spAutoFit/>
          </a:bodyPr>
          <a:p>
            <a:pPr marL="216000" indent="-216000" algn="just">
              <a:lnSpc>
                <a:spcPct val="100000"/>
              </a:lnSpc>
              <a:spcBef>
                <a:spcPts val="907"/>
              </a:spcBef>
              <a:spcAft>
                <a:spcPts val="709"/>
              </a:spcAft>
              <a:buClr>
                <a:srgbClr val="000000"/>
              </a:buClr>
              <a:buSzPct val="45000"/>
              <a:buFont typeface="Wingdings" charset="2"/>
              <a:buChar char=""/>
            </a:pPr>
            <a:r>
              <a:rPr lang="en-US" sz="1500" b="0" u="none" strike="noStrike">
                <a:solidFill>
                  <a:srgbClr val="000000"/>
                </a:solidFill>
                <a:effectLst/>
                <a:uFillTx/>
                <a:latin typeface="Arial"/>
                <a:ea typeface="ＭＳ Ｐゴシック"/>
              </a:rPr>
              <a:t>Cache-friendly layout</a:t>
            </a:r>
            <a:endParaRPr lang="it-IT" sz="1500" b="0" u="none" strike="noStrike">
              <a:solidFill>
                <a:srgbClr val="000000"/>
              </a:solidFill>
              <a:effectLst/>
              <a:uFillTx/>
              <a:latin typeface="Arial"/>
            </a:endParaRPr>
          </a:p>
          <a:p>
            <a:pPr marL="216000" indent="-216000" algn="just">
              <a:lnSpc>
                <a:spcPct val="100000"/>
              </a:lnSpc>
              <a:spcBef>
                <a:spcPts val="907"/>
              </a:spcBef>
              <a:spcAft>
                <a:spcPts val="709"/>
              </a:spcAft>
              <a:buClr>
                <a:srgbClr val="000000"/>
              </a:buClr>
              <a:buSzPct val="45000"/>
              <a:buFont typeface="Wingdings" charset="2"/>
              <a:buChar char=""/>
            </a:pPr>
            <a:r>
              <a:rPr lang="en-US" sz="1500" b="0" u="none" strike="noStrike">
                <a:solidFill>
                  <a:srgbClr val="000000"/>
                </a:solidFill>
                <a:effectLst/>
                <a:uFillTx/>
                <a:latin typeface="Arial"/>
                <a:ea typeface="ＭＳ Ｐゴシック"/>
              </a:rPr>
              <a:t>3 arrays:</a:t>
            </a:r>
            <a:endParaRPr lang="it-IT" sz="1500" b="0" u="none" strike="noStrike">
              <a:solidFill>
                <a:srgbClr val="000000"/>
              </a:solidFill>
              <a:effectLst/>
              <a:uFillTx/>
              <a:latin typeface="Arial"/>
            </a:endParaRPr>
          </a:p>
          <a:p>
            <a:pPr marL="432000" lvl="1" indent="-216000" algn="just">
              <a:lnSpc>
                <a:spcPct val="100000"/>
              </a:lnSpc>
              <a:spcBef>
                <a:spcPts val="907"/>
              </a:spcBef>
              <a:spcAft>
                <a:spcPts val="709"/>
              </a:spcAft>
              <a:buClr>
                <a:srgbClr val="000000"/>
              </a:buClr>
              <a:buSzPct val="45000"/>
              <a:buFont typeface="Wingdings" charset="2"/>
              <a:buChar char=""/>
            </a:pPr>
            <a:r>
              <a:rPr lang="en-US" sz="1500" b="0" u="none" strike="noStrike">
                <a:solidFill>
                  <a:srgbClr val="000000"/>
                </a:solidFill>
                <a:effectLst/>
                <a:uFillTx/>
                <a:latin typeface="Arial"/>
                <a:ea typeface="ＭＳ Ｐゴシック"/>
              </a:rPr>
              <a:t>val[]: non-zero elements stored row by row</a:t>
            </a:r>
            <a:endParaRPr lang="it-IT" sz="1500" b="0" u="none" strike="noStrike">
              <a:solidFill>
                <a:srgbClr val="000000"/>
              </a:solidFill>
              <a:effectLst/>
              <a:uFillTx/>
              <a:latin typeface="Arial"/>
            </a:endParaRPr>
          </a:p>
          <a:p>
            <a:pPr marL="432000" lvl="1" indent="-216000" algn="just">
              <a:lnSpc>
                <a:spcPct val="100000"/>
              </a:lnSpc>
              <a:spcBef>
                <a:spcPts val="907"/>
              </a:spcBef>
              <a:spcAft>
                <a:spcPts val="709"/>
              </a:spcAft>
              <a:buClr>
                <a:srgbClr val="000000"/>
              </a:buClr>
              <a:buSzPct val="45000"/>
              <a:buFont typeface="Wingdings" charset="2"/>
              <a:buChar char=""/>
            </a:pPr>
            <a:r>
              <a:rPr lang="en-US" sz="1500" b="0" u="none" strike="noStrike">
                <a:solidFill>
                  <a:srgbClr val="000000"/>
                </a:solidFill>
                <a:effectLst/>
                <a:uFillTx/>
                <a:latin typeface="Arial"/>
                <a:ea typeface="ＭＳ Ｐゴシック"/>
              </a:rPr>
              <a:t>col[]: original column indices of val[] elements</a:t>
            </a:r>
            <a:endParaRPr lang="it-IT" sz="1500" b="0" u="none" strike="noStrike">
              <a:solidFill>
                <a:srgbClr val="000000"/>
              </a:solidFill>
              <a:effectLst/>
              <a:uFillTx/>
              <a:latin typeface="Arial"/>
            </a:endParaRPr>
          </a:p>
          <a:p>
            <a:pPr marL="432000" lvl="1" indent="-216000" algn="just">
              <a:lnSpc>
                <a:spcPct val="100000"/>
              </a:lnSpc>
              <a:spcBef>
                <a:spcPts val="907"/>
              </a:spcBef>
              <a:spcAft>
                <a:spcPts val="709"/>
              </a:spcAft>
              <a:buClr>
                <a:srgbClr val="000000"/>
              </a:buClr>
              <a:buSzPct val="45000"/>
              <a:buFont typeface="Wingdings" charset="2"/>
              <a:buChar char=""/>
            </a:pPr>
            <a:r>
              <a:rPr lang="en-US" sz="1500" b="0" u="none" strike="noStrike">
                <a:solidFill>
                  <a:srgbClr val="000000"/>
                </a:solidFill>
                <a:effectLst/>
                <a:uFillTx/>
                <a:latin typeface="Arial"/>
                <a:ea typeface="ＭＳ Ｐゴシック"/>
              </a:rPr>
              <a:t>rpt[]: the starting offsets of the rows</a:t>
            </a:r>
            <a:endParaRPr lang="it-IT" sz="1500" b="0" u="none" strike="noStrike">
              <a:solidFill>
                <a:srgbClr val="000000"/>
              </a:solidFill>
              <a:effectLst/>
              <a:uFillTx/>
              <a:latin typeface="Arial"/>
            </a:endParaRPr>
          </a:p>
          <a:p>
            <a:pPr algn="just">
              <a:lnSpc>
                <a:spcPct val="100000"/>
              </a:lnSpc>
              <a:spcBef>
                <a:spcPts val="907"/>
              </a:spcBef>
              <a:spcAft>
                <a:spcPts val="709"/>
              </a:spcAft>
            </a:pPr>
            <a:endParaRPr lang="it-IT" sz="1500" b="0" u="none" strike="noStrike">
              <a:solidFill>
                <a:srgbClr val="000000"/>
              </a:solidFill>
              <a:effectLst/>
              <a:uFillTx/>
              <a:latin typeface="Arial"/>
            </a:endParaRPr>
          </a:p>
          <a:p>
            <a:pPr>
              <a:lnSpc>
                <a:spcPct val="100000"/>
              </a:lnSpc>
              <a:spcBef>
                <a:spcPts val="1474"/>
              </a:spcBef>
              <a:spcAft>
                <a:spcPts val="1276"/>
              </a:spcAft>
            </a:pPr>
            <a:endParaRPr lang="it-IT" sz="1000" b="0" u="none" strike="noStrike">
              <a:solidFill>
                <a:srgbClr val="000000"/>
              </a:solidFill>
              <a:effectLst/>
              <a:uFillTx/>
              <a:latin typeface="Arial"/>
            </a:endParaRPr>
          </a:p>
        </p:txBody>
      </p:sp>
      <p:pic>
        <p:nvPicPr>
          <p:cNvPr id="171" name=""/>
          <p:cNvPicPr/>
          <p:nvPr/>
        </p:nvPicPr>
        <p:blipFill>
          <a:blip r:embed="rId1"/>
          <a:stretch/>
        </p:blipFill>
        <p:spPr>
          <a:xfrm>
            <a:off x="900000" y="1550160"/>
            <a:ext cx="1798920" cy="4388760"/>
          </a:xfrm>
          <a:prstGeom prst="rect">
            <a:avLst/>
          </a:prstGeom>
          <a:noFill/>
          <a:ln w="0">
            <a:noFill/>
          </a:ln>
        </p:spPr>
      </p:pic>
    </p:spTree>
  </p:cSld>
  <mc:AlternateContent>
    <mc:Choice Requires="p14">
      <p:transition p14:dur="100">
        <p:fade/>
      </p:transition>
    </mc:Choice>
    <mc:Fallback>
      <p:transition>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ftr" idx="40"/>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173" name="PlaceHolder 2"/>
          <p:cNvSpPr>
            <a:spLocks noGrp="1"/>
          </p:cNvSpPr>
          <p:nvPr>
            <p:ph type="dt" idx="41"/>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174" name="Rettangolo 25"/>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175" name="Segnaposto numero diapositiva 13"/>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5</a:t>
            </a:r>
            <a:endParaRPr lang="it-IT" sz="1100" b="0" u="none" strike="noStrike">
              <a:solidFill>
                <a:srgbClr val="000000"/>
              </a:solidFill>
              <a:effectLst/>
              <a:uFillTx/>
              <a:latin typeface="Arial"/>
            </a:endParaRPr>
          </a:p>
        </p:txBody>
      </p:sp>
      <p:sp>
        <p:nvSpPr>
          <p:cNvPr id="176" name="Rectangle 54"/>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tabLst>
                <a:tab algn="l" pos="0"/>
              </a:tabLst>
            </a:pPr>
            <a:r>
              <a:rPr lang="en-US" sz="2400" b="1" u="none" strike="noStrike">
                <a:solidFill>
                  <a:srgbClr val="822433"/>
                </a:solidFill>
                <a:effectLst/>
                <a:uFillTx/>
                <a:latin typeface="Arial"/>
                <a:ea typeface="ＭＳ Ｐゴシック"/>
              </a:rPr>
              <a:t>Sparse Matrix Formats Across Architectures </a:t>
            </a:r>
            <a:endParaRPr lang="it-IT" sz="2400" b="0" u="none" strike="noStrike">
              <a:solidFill>
                <a:srgbClr val="000000"/>
              </a:solidFill>
              <a:effectLst/>
              <a:uFillTx/>
              <a:latin typeface="Arial"/>
            </a:endParaRPr>
          </a:p>
        </p:txBody>
      </p:sp>
      <p:sp>
        <p:nvSpPr>
          <p:cNvPr id="177" name="CasellaDiTesto 36"/>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178" name=""/>
          <p:cNvSpPr/>
          <p:nvPr/>
        </p:nvSpPr>
        <p:spPr>
          <a:xfrm>
            <a:off x="360000" y="1017720"/>
            <a:ext cx="7738920" cy="4428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2500" b="0" u="none" strike="noStrike">
                <a:solidFill>
                  <a:srgbClr val="822433"/>
                </a:solidFill>
                <a:effectLst/>
                <a:uFillTx/>
                <a:latin typeface="Arial"/>
                <a:ea typeface="ＭＳ Ｐゴシック"/>
              </a:rPr>
              <a:t>CPU → CRS  </a:t>
            </a:r>
            <a:endParaRPr lang="it-IT" sz="2500" b="0" u="none" strike="noStrike">
              <a:solidFill>
                <a:srgbClr val="000000"/>
              </a:solidFill>
              <a:effectLst/>
              <a:uFillTx/>
              <a:latin typeface="Arial"/>
            </a:endParaRPr>
          </a:p>
        </p:txBody>
      </p:sp>
      <p:sp>
        <p:nvSpPr>
          <p:cNvPr id="179" name=""/>
          <p:cNvSpPr/>
          <p:nvPr/>
        </p:nvSpPr>
        <p:spPr>
          <a:xfrm>
            <a:off x="3240000" y="3082680"/>
            <a:ext cx="2878920" cy="35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180" name=""/>
          <p:cNvSpPr/>
          <p:nvPr/>
        </p:nvSpPr>
        <p:spPr>
          <a:xfrm>
            <a:off x="3600000" y="1620000"/>
            <a:ext cx="4858920" cy="29163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spcBef>
                <a:spcPts val="907"/>
              </a:spcBef>
              <a:spcAft>
                <a:spcPts val="709"/>
              </a:spcAft>
            </a:pPr>
            <a:endParaRPr lang="it-IT" sz="1500" b="0" u="none" strike="noStrike">
              <a:solidFill>
                <a:srgbClr val="000000"/>
              </a:solidFill>
              <a:effectLst/>
              <a:uFillTx/>
              <a:latin typeface="Arial"/>
            </a:endParaRPr>
          </a:p>
          <a:p>
            <a:pPr algn="just">
              <a:lnSpc>
                <a:spcPct val="100000"/>
              </a:lnSpc>
              <a:spcBef>
                <a:spcPts val="907"/>
              </a:spcBef>
              <a:spcAft>
                <a:spcPts val="709"/>
              </a:spcAft>
            </a:pPr>
            <a:endParaRPr lang="it-IT" sz="1500" b="0" u="none" strike="noStrike">
              <a:solidFill>
                <a:srgbClr val="000000"/>
              </a:solidFill>
              <a:effectLst/>
              <a:uFillTx/>
              <a:latin typeface="Arial"/>
            </a:endParaRPr>
          </a:p>
          <a:p>
            <a:pPr marL="216000" indent="-216000" algn="just">
              <a:lnSpc>
                <a:spcPct val="100000"/>
              </a:lnSpc>
              <a:spcBef>
                <a:spcPts val="1191"/>
              </a:spcBef>
              <a:spcAft>
                <a:spcPts val="992"/>
              </a:spcAft>
              <a:buClr>
                <a:srgbClr val="000000"/>
              </a:buClr>
              <a:buSzPct val="45000"/>
              <a:buFont typeface="Wingdings" charset="2"/>
              <a:buChar char=""/>
            </a:pPr>
            <a:r>
              <a:rPr lang="en-US" sz="1800" b="0" u="none" strike="noStrike">
                <a:solidFill>
                  <a:srgbClr val="000000"/>
                </a:solidFill>
                <a:effectLst/>
                <a:uFillTx/>
                <a:latin typeface="Arial"/>
                <a:ea typeface="Microsoft YaHei"/>
              </a:rPr>
              <a:t>Efficient SIMD vectorization requires consecutive data access, so the inner loop is the target for the vectorization</a:t>
            </a:r>
            <a:endParaRPr lang="it-IT" sz="1800" b="0" u="none" strike="noStrike">
              <a:solidFill>
                <a:srgbClr val="000000"/>
              </a:solidFill>
              <a:effectLst/>
              <a:uFillTx/>
              <a:latin typeface="Arial"/>
            </a:endParaRPr>
          </a:p>
          <a:p>
            <a:pPr marL="216000" indent="-216000" algn="just">
              <a:lnSpc>
                <a:spcPct val="100000"/>
              </a:lnSpc>
              <a:spcBef>
                <a:spcPts val="1191"/>
              </a:spcBef>
              <a:spcAft>
                <a:spcPts val="992"/>
              </a:spcAft>
              <a:buClr>
                <a:srgbClr val="000000"/>
              </a:buClr>
              <a:buSzPct val="45000"/>
              <a:buFont typeface="Wingdings" charset="2"/>
              <a:buChar char=""/>
            </a:pPr>
            <a:r>
              <a:rPr lang="en-US" sz="1800" b="0" u="none" strike="noStrike">
                <a:solidFill>
                  <a:srgbClr val="000000"/>
                </a:solidFill>
                <a:effectLst/>
                <a:uFillTx/>
                <a:latin typeface="Arial"/>
                <a:ea typeface="Microsoft YaHei"/>
              </a:rPr>
              <a:t>We can formulate this kernel in an SIMD-friendly way for the Intel SNB applying four-way modulo unrolling</a:t>
            </a:r>
            <a:endParaRPr lang="it-IT" sz="1800" b="0" u="none" strike="noStrike">
              <a:solidFill>
                <a:srgbClr val="000000"/>
              </a:solidFill>
              <a:effectLst/>
              <a:uFillTx/>
              <a:latin typeface="Arial"/>
            </a:endParaRPr>
          </a:p>
        </p:txBody>
      </p:sp>
      <p:pic>
        <p:nvPicPr>
          <p:cNvPr id="181" name=""/>
          <p:cNvPicPr/>
          <p:nvPr/>
        </p:nvPicPr>
        <p:blipFill>
          <a:blip r:embed="rId1"/>
          <a:stretch/>
        </p:blipFill>
        <p:spPr>
          <a:xfrm>
            <a:off x="900000" y="1550160"/>
            <a:ext cx="1798920" cy="4388760"/>
          </a:xfrm>
          <a:prstGeom prst="rect">
            <a:avLst/>
          </a:prstGeom>
          <a:noFill/>
          <a:ln w="0">
            <a:noFill/>
          </a:ln>
        </p:spPr>
      </p:pic>
      <p:pic>
        <p:nvPicPr>
          <p:cNvPr id="182" name=""/>
          <p:cNvPicPr/>
          <p:nvPr/>
        </p:nvPicPr>
        <p:blipFill>
          <a:blip r:embed="rId2"/>
          <a:stretch/>
        </p:blipFill>
        <p:spPr>
          <a:xfrm>
            <a:off x="3780000" y="1461600"/>
            <a:ext cx="4352040" cy="998640"/>
          </a:xfrm>
          <a:prstGeom prst="rect">
            <a:avLst/>
          </a:prstGeom>
          <a:noFill/>
          <a:ln w="0">
            <a:noFill/>
          </a:ln>
        </p:spPr>
      </p:pic>
    </p:spTree>
  </p:cSld>
  <mc:AlternateContent>
    <mc:Choice Requires="p14">
      <p:transition p14:dur="100">
        <p:fade/>
      </p:transition>
    </mc:Choice>
    <mc:Fallback>
      <p:transition>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ftr" idx="42"/>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184" name="PlaceHolder 2"/>
          <p:cNvSpPr>
            <a:spLocks noGrp="1"/>
          </p:cNvSpPr>
          <p:nvPr>
            <p:ph type="dt" idx="43"/>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185" name="Rettangolo 26"/>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186" name="Segnaposto numero diapositiva 14"/>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5</a:t>
            </a:r>
            <a:endParaRPr lang="it-IT" sz="1100" b="0" u="none" strike="noStrike">
              <a:solidFill>
                <a:srgbClr val="000000"/>
              </a:solidFill>
              <a:effectLst/>
              <a:uFillTx/>
              <a:latin typeface="Arial"/>
            </a:endParaRPr>
          </a:p>
        </p:txBody>
      </p:sp>
      <p:sp>
        <p:nvSpPr>
          <p:cNvPr id="187" name="Rectangle 58"/>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tabLst>
                <a:tab algn="l" pos="0"/>
              </a:tabLst>
            </a:pPr>
            <a:r>
              <a:rPr lang="en-US" sz="2400" b="1" u="none" strike="noStrike">
                <a:solidFill>
                  <a:srgbClr val="822433"/>
                </a:solidFill>
                <a:effectLst/>
                <a:uFillTx/>
                <a:latin typeface="Arial"/>
                <a:ea typeface="ＭＳ Ｐゴシック"/>
              </a:rPr>
              <a:t>Sparse Matrix Formats Across Architectures </a:t>
            </a:r>
            <a:endParaRPr lang="it-IT" sz="2400" b="0" u="none" strike="noStrike">
              <a:solidFill>
                <a:srgbClr val="000000"/>
              </a:solidFill>
              <a:effectLst/>
              <a:uFillTx/>
              <a:latin typeface="Arial"/>
            </a:endParaRPr>
          </a:p>
        </p:txBody>
      </p:sp>
      <p:sp>
        <p:nvSpPr>
          <p:cNvPr id="188" name="CasellaDiTesto 37"/>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189" name=""/>
          <p:cNvSpPr/>
          <p:nvPr/>
        </p:nvSpPr>
        <p:spPr>
          <a:xfrm>
            <a:off x="360000" y="1017720"/>
            <a:ext cx="7738920" cy="4428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2500" b="0" u="none" strike="noStrike">
                <a:solidFill>
                  <a:srgbClr val="822433"/>
                </a:solidFill>
                <a:effectLst/>
                <a:uFillTx/>
                <a:latin typeface="Arial"/>
                <a:ea typeface="ＭＳ Ｐゴシック"/>
              </a:rPr>
              <a:t>CPU → CRS  </a:t>
            </a:r>
            <a:endParaRPr lang="it-IT" sz="2500" b="0" u="none" strike="noStrike">
              <a:solidFill>
                <a:srgbClr val="000000"/>
              </a:solidFill>
              <a:effectLst/>
              <a:uFillTx/>
              <a:latin typeface="Arial"/>
            </a:endParaRPr>
          </a:p>
        </p:txBody>
      </p:sp>
      <p:sp>
        <p:nvSpPr>
          <p:cNvPr id="190" name=""/>
          <p:cNvSpPr/>
          <p:nvPr/>
        </p:nvSpPr>
        <p:spPr>
          <a:xfrm>
            <a:off x="3240000" y="3082680"/>
            <a:ext cx="2878920" cy="35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191" name=""/>
          <p:cNvSpPr/>
          <p:nvPr/>
        </p:nvSpPr>
        <p:spPr>
          <a:xfrm>
            <a:off x="3600000" y="1620000"/>
            <a:ext cx="4858920" cy="40194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spcBef>
                <a:spcPts val="907"/>
              </a:spcBef>
              <a:spcAft>
                <a:spcPts val="709"/>
              </a:spcAft>
            </a:pPr>
            <a:endParaRPr lang="it-IT" sz="1500" b="0" u="none" strike="noStrike">
              <a:solidFill>
                <a:srgbClr val="000000"/>
              </a:solidFill>
              <a:effectLst/>
              <a:uFillTx/>
              <a:latin typeface="Arial"/>
            </a:endParaRPr>
          </a:p>
          <a:p>
            <a:pPr algn="just">
              <a:lnSpc>
                <a:spcPct val="100000"/>
              </a:lnSpc>
              <a:spcBef>
                <a:spcPts val="907"/>
              </a:spcBef>
              <a:spcAft>
                <a:spcPts val="709"/>
              </a:spcAft>
            </a:pPr>
            <a:endParaRPr lang="it-IT" sz="1500" b="0" u="none" strike="noStrike">
              <a:solidFill>
                <a:srgbClr val="000000"/>
              </a:solidFill>
              <a:effectLst/>
              <a:uFillTx/>
              <a:latin typeface="Arial"/>
            </a:endParaRPr>
          </a:p>
          <a:p>
            <a:pPr algn="just">
              <a:lnSpc>
                <a:spcPct val="100000"/>
              </a:lnSpc>
              <a:spcBef>
                <a:spcPts val="1191"/>
              </a:spcBef>
              <a:spcAft>
                <a:spcPts val="992"/>
              </a:spcAft>
            </a:pPr>
            <a:endParaRPr lang="it-IT" sz="1800" b="0" u="none" strike="noStrike">
              <a:solidFill>
                <a:srgbClr val="000000"/>
              </a:solidFill>
              <a:effectLst/>
              <a:uFillTx/>
              <a:latin typeface="Arial"/>
            </a:endParaRPr>
          </a:p>
          <a:p>
            <a:pPr algn="just">
              <a:lnSpc>
                <a:spcPct val="100000"/>
              </a:lnSpc>
              <a:spcBef>
                <a:spcPts val="1191"/>
              </a:spcBef>
              <a:spcAft>
                <a:spcPts val="992"/>
              </a:spcAft>
            </a:pPr>
            <a:endParaRPr lang="it-IT" sz="1800" b="0" u="none" strike="noStrike">
              <a:solidFill>
                <a:srgbClr val="000000"/>
              </a:solidFill>
              <a:effectLst/>
              <a:uFillTx/>
              <a:latin typeface="Arial"/>
            </a:endParaRPr>
          </a:p>
          <a:p>
            <a:pPr algn="just">
              <a:lnSpc>
                <a:spcPct val="100000"/>
              </a:lnSpc>
              <a:spcBef>
                <a:spcPts val="1191"/>
              </a:spcBef>
              <a:spcAft>
                <a:spcPts val="992"/>
              </a:spcAft>
            </a:pPr>
            <a:endParaRPr lang="it-IT" sz="1800" b="0" u="none" strike="noStrike">
              <a:solidFill>
                <a:srgbClr val="000000"/>
              </a:solidFill>
              <a:effectLst/>
              <a:uFillTx/>
              <a:latin typeface="Arial"/>
            </a:endParaRPr>
          </a:p>
          <a:p>
            <a:pPr algn="just">
              <a:lnSpc>
                <a:spcPct val="100000"/>
              </a:lnSpc>
              <a:spcBef>
                <a:spcPts val="1191"/>
              </a:spcBef>
              <a:spcAft>
                <a:spcPts val="992"/>
              </a:spcAft>
            </a:pPr>
            <a:r>
              <a:rPr lang="en-US" sz="1800" b="0" u="none" strike="noStrike">
                <a:solidFill>
                  <a:srgbClr val="822433"/>
                </a:solidFill>
                <a:effectLst/>
                <a:uFillTx/>
                <a:latin typeface="Arial"/>
                <a:ea typeface="Microsoft YaHei"/>
              </a:rPr>
              <a:t>PROBLEM</a:t>
            </a:r>
            <a:r>
              <a:rPr lang="en-US" sz="1800" b="0" u="none" strike="noStrike">
                <a:solidFill>
                  <a:srgbClr val="000000"/>
                </a:solidFill>
                <a:effectLst/>
                <a:uFillTx/>
                <a:latin typeface="Arial"/>
                <a:ea typeface="Microsoft YaHei"/>
              </a:rPr>
              <a:t>: for matrices with few non-zeros per row, the overheads of the vectorized code may nullify the performance gain. The worst case occurs when the row length is smaller than the SIMD width</a:t>
            </a:r>
            <a:endParaRPr lang="it-IT" sz="1800" b="0" u="none" strike="noStrike">
              <a:solidFill>
                <a:srgbClr val="000000"/>
              </a:solidFill>
              <a:effectLst/>
              <a:uFillTx/>
              <a:latin typeface="Arial"/>
            </a:endParaRPr>
          </a:p>
        </p:txBody>
      </p:sp>
      <p:pic>
        <p:nvPicPr>
          <p:cNvPr id="192" name=""/>
          <p:cNvPicPr/>
          <p:nvPr/>
        </p:nvPicPr>
        <p:blipFill>
          <a:blip r:embed="rId1"/>
          <a:stretch/>
        </p:blipFill>
        <p:spPr>
          <a:xfrm>
            <a:off x="900000" y="1550160"/>
            <a:ext cx="1798920" cy="4388760"/>
          </a:xfrm>
          <a:prstGeom prst="rect">
            <a:avLst/>
          </a:prstGeom>
          <a:noFill/>
          <a:ln w="0">
            <a:noFill/>
          </a:ln>
        </p:spPr>
      </p:pic>
      <p:pic>
        <p:nvPicPr>
          <p:cNvPr id="193" name=""/>
          <p:cNvPicPr/>
          <p:nvPr/>
        </p:nvPicPr>
        <p:blipFill>
          <a:blip r:embed="rId2"/>
          <a:stretch/>
        </p:blipFill>
        <p:spPr>
          <a:xfrm>
            <a:off x="3700440" y="1112040"/>
            <a:ext cx="4218480" cy="2846880"/>
          </a:xfrm>
          <a:prstGeom prst="rect">
            <a:avLst/>
          </a:prstGeom>
          <a:noFill/>
          <a:ln w="0">
            <a:noFill/>
          </a:ln>
        </p:spPr>
      </p:pic>
    </p:spTree>
  </p:cSld>
  <mc:AlternateContent>
    <mc:Choice Requires="p14">
      <p:transition p14:dur="100">
        <p:fade/>
      </p:transition>
    </mc:Choice>
    <mc:Fallback>
      <p:transition>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ftr" idx="44"/>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195" name="PlaceHolder 2"/>
          <p:cNvSpPr>
            <a:spLocks noGrp="1"/>
          </p:cNvSpPr>
          <p:nvPr>
            <p:ph type="dt" idx="45"/>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196" name="Rettangolo 27"/>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197" name="Segnaposto numero diapositiva 15"/>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6</a:t>
            </a:r>
            <a:endParaRPr lang="it-IT" sz="1100" b="0" u="none" strike="noStrike">
              <a:solidFill>
                <a:srgbClr val="000000"/>
              </a:solidFill>
              <a:effectLst/>
              <a:uFillTx/>
              <a:latin typeface="Arial"/>
            </a:endParaRPr>
          </a:p>
        </p:txBody>
      </p:sp>
      <p:sp>
        <p:nvSpPr>
          <p:cNvPr id="198" name="Rectangle 62"/>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Why ELLPACK Works Well on GPUs</a:t>
            </a:r>
            <a:endParaRPr lang="it-IT" sz="2400" b="0" u="none" strike="noStrike">
              <a:solidFill>
                <a:srgbClr val="000000"/>
              </a:solidFill>
              <a:effectLst/>
              <a:uFillTx/>
              <a:latin typeface="Arial"/>
            </a:endParaRPr>
          </a:p>
        </p:txBody>
      </p:sp>
      <p:sp>
        <p:nvSpPr>
          <p:cNvPr id="199" name="CasellaDiTesto 38"/>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200" name=""/>
          <p:cNvSpPr/>
          <p:nvPr/>
        </p:nvSpPr>
        <p:spPr>
          <a:xfrm>
            <a:off x="3240000" y="3082680"/>
            <a:ext cx="2878920" cy="35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201" name=""/>
          <p:cNvSpPr/>
          <p:nvPr/>
        </p:nvSpPr>
        <p:spPr>
          <a:xfrm>
            <a:off x="900000" y="1620000"/>
            <a:ext cx="7558920" cy="18716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spcBef>
                <a:spcPts val="907"/>
              </a:spcBef>
              <a:spcAft>
                <a:spcPts val="709"/>
              </a:spcAft>
            </a:pPr>
            <a:r>
              <a:rPr lang="en-US" sz="1800" b="0" u="none" strike="noStrike">
                <a:solidFill>
                  <a:srgbClr val="000000"/>
                </a:solidFill>
                <a:effectLst/>
                <a:uFillTx/>
                <a:latin typeface="Arial"/>
                <a:ea typeface="Microsoft YaHei"/>
              </a:rPr>
              <a:t>Addresses the problems of CRS for GPGPUs:</a:t>
            </a:r>
            <a:endParaRPr lang="it-IT" sz="1800" b="0" u="none" strike="noStrike">
              <a:solidFill>
                <a:srgbClr val="000000"/>
              </a:solidFill>
              <a:effectLst/>
              <a:uFillTx/>
              <a:latin typeface="Arial"/>
            </a:endParaRPr>
          </a:p>
          <a:p>
            <a:pPr marL="216000" indent="-216000" algn="just">
              <a:lnSpc>
                <a:spcPct val="100000"/>
              </a:lnSpc>
              <a:spcBef>
                <a:spcPts val="907"/>
              </a:spcBef>
              <a:spcAft>
                <a:spcPts val="709"/>
              </a:spcAft>
              <a:buClr>
                <a:srgbClr val="000000"/>
              </a:buClr>
              <a:buSzPct val="45000"/>
              <a:buFont typeface="Wingdings" charset="2"/>
              <a:buChar char=""/>
            </a:pPr>
            <a:r>
              <a:rPr lang="en-US" sz="1800" b="0" u="none" strike="noStrike">
                <a:solidFill>
                  <a:srgbClr val="000000"/>
                </a:solidFill>
                <a:effectLst/>
                <a:uFillTx/>
                <a:latin typeface="Arial"/>
                <a:ea typeface="Microsoft YaHei"/>
              </a:rPr>
              <a:t>Column-wise storage and padding all rows to the same length allow row-wise thread parallelization with consecutive memory access and a good load coalescing.</a:t>
            </a:r>
            <a:endParaRPr lang="it-IT" sz="1800" b="0" u="none" strike="noStrike">
              <a:solidFill>
                <a:srgbClr val="000000"/>
              </a:solidFill>
              <a:effectLst/>
              <a:uFillTx/>
              <a:latin typeface="Arial"/>
            </a:endParaRPr>
          </a:p>
          <a:p>
            <a:pPr algn="just">
              <a:lnSpc>
                <a:spcPct val="100000"/>
              </a:lnSpc>
              <a:spcBef>
                <a:spcPts val="907"/>
              </a:spcBef>
              <a:spcAft>
                <a:spcPts val="709"/>
              </a:spcAft>
            </a:pP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ftr" idx="46"/>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203" name="PlaceHolder 2"/>
          <p:cNvSpPr>
            <a:spLocks noGrp="1"/>
          </p:cNvSpPr>
          <p:nvPr>
            <p:ph type="dt" idx="47"/>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204" name="Rettangolo 36"/>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205" name="Segnaposto numero diapositiva 26"/>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6</a:t>
            </a:r>
            <a:endParaRPr lang="it-IT" sz="1100" b="0" u="none" strike="noStrike">
              <a:solidFill>
                <a:srgbClr val="000000"/>
              </a:solidFill>
              <a:effectLst/>
              <a:uFillTx/>
              <a:latin typeface="Arial"/>
            </a:endParaRPr>
          </a:p>
        </p:txBody>
      </p:sp>
      <p:sp>
        <p:nvSpPr>
          <p:cNvPr id="206" name="Rectangle 10"/>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Why ELLPACK Works Well on GPUs</a:t>
            </a:r>
            <a:endParaRPr lang="it-IT" sz="2400" b="0" u="none" strike="noStrike">
              <a:solidFill>
                <a:srgbClr val="000000"/>
              </a:solidFill>
              <a:effectLst/>
              <a:uFillTx/>
              <a:latin typeface="Arial"/>
            </a:endParaRPr>
          </a:p>
        </p:txBody>
      </p:sp>
      <p:sp>
        <p:nvSpPr>
          <p:cNvPr id="207" name="CasellaDiTesto 49"/>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208" name=""/>
          <p:cNvSpPr/>
          <p:nvPr/>
        </p:nvSpPr>
        <p:spPr>
          <a:xfrm>
            <a:off x="3240000" y="3082680"/>
            <a:ext cx="28789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209" name=""/>
          <p:cNvSpPr/>
          <p:nvPr/>
        </p:nvSpPr>
        <p:spPr>
          <a:xfrm>
            <a:off x="900000" y="1620000"/>
            <a:ext cx="7558920" cy="26254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spcBef>
                <a:spcPts val="907"/>
              </a:spcBef>
              <a:spcAft>
                <a:spcPts val="709"/>
              </a:spcAft>
            </a:pPr>
            <a:r>
              <a:rPr lang="en-US" sz="1800" b="0" u="none" strike="noStrike">
                <a:solidFill>
                  <a:srgbClr val="000000"/>
                </a:solidFill>
                <a:effectLst/>
                <a:uFillTx/>
                <a:latin typeface="Arial"/>
                <a:ea typeface="Microsoft YaHei"/>
              </a:rPr>
              <a:t>Addresses the problems of CRS for GPGPUs:</a:t>
            </a:r>
            <a:endParaRPr lang="it-IT" sz="1800" b="0" u="none" strike="noStrike">
              <a:solidFill>
                <a:srgbClr val="000000"/>
              </a:solidFill>
              <a:effectLst/>
              <a:uFillTx/>
              <a:latin typeface="Arial"/>
            </a:endParaRPr>
          </a:p>
          <a:p>
            <a:pPr marL="216000" indent="-216000" algn="just">
              <a:lnSpc>
                <a:spcPct val="100000"/>
              </a:lnSpc>
              <a:spcBef>
                <a:spcPts val="907"/>
              </a:spcBef>
              <a:spcAft>
                <a:spcPts val="709"/>
              </a:spcAft>
              <a:buClr>
                <a:srgbClr val="000000"/>
              </a:buClr>
              <a:buSzPct val="45000"/>
              <a:buFont typeface="Wingdings" charset="2"/>
              <a:buChar char=""/>
            </a:pPr>
            <a:r>
              <a:rPr lang="en-US" sz="1800" b="0" u="none" strike="noStrike">
                <a:solidFill>
                  <a:srgbClr val="000000"/>
                </a:solidFill>
                <a:effectLst/>
                <a:uFillTx/>
                <a:latin typeface="Arial"/>
                <a:ea typeface="Microsoft YaHei"/>
              </a:rPr>
              <a:t>Column-wise storage and padding all rows to the same length allow row-wise thread parallelization with consecutive memory access and a good load coalescing.</a:t>
            </a:r>
            <a:endParaRPr lang="it-IT" sz="1800" b="0" u="none" strike="noStrike">
              <a:solidFill>
                <a:srgbClr val="000000"/>
              </a:solidFill>
              <a:effectLst/>
              <a:uFillTx/>
              <a:latin typeface="Arial"/>
            </a:endParaRPr>
          </a:p>
          <a:p>
            <a:pPr algn="just">
              <a:lnSpc>
                <a:spcPct val="100000"/>
              </a:lnSpc>
              <a:spcBef>
                <a:spcPts val="907"/>
              </a:spcBef>
              <a:spcAft>
                <a:spcPts val="709"/>
              </a:spcAft>
            </a:pPr>
            <a:r>
              <a:rPr lang="en-US" sz="1800" b="0" u="none" strike="noStrike">
                <a:solidFill>
                  <a:srgbClr val="822433"/>
                </a:solidFill>
                <a:effectLst/>
                <a:uFillTx/>
                <a:latin typeface="Arial"/>
                <a:ea typeface="Microsoft YaHei"/>
              </a:rPr>
              <a:t>PROBLEM:  </a:t>
            </a:r>
            <a:r>
              <a:rPr lang="en-US" sz="1800" b="0" u="none" strike="noStrike">
                <a:solidFill>
                  <a:srgbClr val="000000"/>
                </a:solidFill>
                <a:effectLst/>
                <a:uFillTx/>
                <a:latin typeface="Arial"/>
                <a:ea typeface="Microsoft YaHei"/>
              </a:rPr>
              <a:t>The number of rows must be padded to a multiple of the warp size</a:t>
            </a:r>
            <a:endParaRPr lang="it-IT" sz="1800" b="0" u="none" strike="noStrike">
              <a:solidFill>
                <a:srgbClr val="000000"/>
              </a:solidFill>
              <a:effectLst/>
              <a:uFillTx/>
              <a:latin typeface="Arial"/>
            </a:endParaRPr>
          </a:p>
          <a:p>
            <a:pPr algn="just">
              <a:lnSpc>
                <a:spcPct val="100000"/>
              </a:lnSpc>
              <a:spcBef>
                <a:spcPts val="907"/>
              </a:spcBef>
              <a:spcAft>
                <a:spcPts val="709"/>
              </a:spcAft>
            </a:pPr>
            <a:r>
              <a:rPr lang="en-US" sz="1800" b="0" u="none" strike="noStrike">
                <a:solidFill>
                  <a:srgbClr val="822433"/>
                </a:solidFill>
                <a:effectLst/>
                <a:uFillTx/>
                <a:latin typeface="Arial"/>
                <a:ea typeface="Microsoft YaHei"/>
              </a:rPr>
              <a:t>BIGGER PROBLEM: </a:t>
            </a:r>
            <a:r>
              <a:rPr lang="en-US" sz="1800" b="0" u="none" strike="noStrike">
                <a:solidFill>
                  <a:srgbClr val="000000"/>
                </a:solidFill>
                <a:effectLst/>
                <a:uFillTx/>
                <a:latin typeface="Arial"/>
                <a:ea typeface="Microsoft YaHei"/>
              </a:rPr>
              <a:t>may incur substantial overhead for padding </a:t>
            </a: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ftr" idx="48"/>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211" name="PlaceHolder 2"/>
          <p:cNvSpPr>
            <a:spLocks noGrp="1"/>
          </p:cNvSpPr>
          <p:nvPr>
            <p:ph type="dt" idx="49"/>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212" name="Rettangolo 37"/>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213" name="Segnaposto numero diapositiva 27"/>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7</a:t>
            </a:r>
            <a:endParaRPr lang="it-IT" sz="1100" b="0" u="none" strike="noStrike">
              <a:solidFill>
                <a:srgbClr val="000000"/>
              </a:solidFill>
              <a:effectLst/>
              <a:uFillTx/>
              <a:latin typeface="Arial"/>
            </a:endParaRPr>
          </a:p>
        </p:txBody>
      </p:sp>
      <p:sp>
        <p:nvSpPr>
          <p:cNvPr id="214" name="Rectangle 13"/>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From ELLPACK to Sliced ELLPACK</a:t>
            </a:r>
            <a:endParaRPr lang="it-IT" sz="2400" b="0" u="none" strike="noStrike">
              <a:solidFill>
                <a:srgbClr val="000000"/>
              </a:solidFill>
              <a:effectLst/>
              <a:uFillTx/>
              <a:latin typeface="Arial"/>
            </a:endParaRPr>
          </a:p>
        </p:txBody>
      </p:sp>
      <p:sp>
        <p:nvSpPr>
          <p:cNvPr id="215" name="CasellaDiTesto 50"/>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216" name=""/>
          <p:cNvSpPr/>
          <p:nvPr/>
        </p:nvSpPr>
        <p:spPr>
          <a:xfrm>
            <a:off x="3240000" y="3082680"/>
            <a:ext cx="28789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217" name=""/>
          <p:cNvSpPr/>
          <p:nvPr/>
        </p:nvSpPr>
        <p:spPr>
          <a:xfrm>
            <a:off x="900000" y="1620000"/>
            <a:ext cx="7558920" cy="16664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spcBef>
                <a:spcPts val="907"/>
              </a:spcBef>
              <a:spcAft>
                <a:spcPts val="709"/>
              </a:spcAft>
            </a:pPr>
            <a:r>
              <a:rPr lang="en-US" sz="1800" b="0" u="none" strike="noStrike">
                <a:solidFill>
                  <a:srgbClr val="000000"/>
                </a:solidFill>
                <a:effectLst/>
                <a:uFillTx/>
                <a:latin typeface="Arial"/>
                <a:ea typeface="Microsoft YaHei"/>
              </a:rPr>
              <a:t>Sliced ELLPACK is a variant which reduces overhead by dividing the matrix into chunks of C rows, padding only to match the length of the longest row within each chunk to obtain less zero-padding. Chunks are stored in column-major order, consecutively in memory.</a:t>
            </a:r>
            <a:endParaRPr lang="it-IT" sz="1800" b="0" u="none" strike="noStrike">
              <a:solidFill>
                <a:srgbClr val="000000"/>
              </a:solidFill>
              <a:effectLst/>
              <a:uFillTx/>
              <a:latin typeface="Arial"/>
            </a:endParaRPr>
          </a:p>
          <a:p>
            <a:pPr algn="just">
              <a:lnSpc>
                <a:spcPct val="100000"/>
              </a:lnSpc>
              <a:spcBef>
                <a:spcPts val="907"/>
              </a:spcBef>
              <a:spcAft>
                <a:spcPts val="709"/>
              </a:spcAft>
            </a:pP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ftr" idx="50"/>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219" name="PlaceHolder 2"/>
          <p:cNvSpPr>
            <a:spLocks noGrp="1"/>
          </p:cNvSpPr>
          <p:nvPr>
            <p:ph type="dt" idx="51"/>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220" name="Rettangolo 38"/>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221" name="Segnaposto numero diapositiva 28"/>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7</a:t>
            </a:r>
            <a:endParaRPr lang="it-IT" sz="1100" b="0" u="none" strike="noStrike">
              <a:solidFill>
                <a:srgbClr val="000000"/>
              </a:solidFill>
              <a:effectLst/>
              <a:uFillTx/>
              <a:latin typeface="Arial"/>
            </a:endParaRPr>
          </a:p>
        </p:txBody>
      </p:sp>
      <p:sp>
        <p:nvSpPr>
          <p:cNvPr id="222" name="Rectangle 14"/>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From ELLPACK to Sliced ELLPACK</a:t>
            </a:r>
            <a:endParaRPr lang="it-IT" sz="2400" b="0" u="none" strike="noStrike">
              <a:solidFill>
                <a:srgbClr val="000000"/>
              </a:solidFill>
              <a:effectLst/>
              <a:uFillTx/>
              <a:latin typeface="Arial"/>
            </a:endParaRPr>
          </a:p>
        </p:txBody>
      </p:sp>
      <p:sp>
        <p:nvSpPr>
          <p:cNvPr id="223" name="CasellaDiTesto 51"/>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224" name=""/>
          <p:cNvSpPr/>
          <p:nvPr/>
        </p:nvSpPr>
        <p:spPr>
          <a:xfrm>
            <a:off x="3240000" y="3082680"/>
            <a:ext cx="28789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225" name=""/>
          <p:cNvSpPr/>
          <p:nvPr/>
        </p:nvSpPr>
        <p:spPr>
          <a:xfrm>
            <a:off x="900000" y="1620000"/>
            <a:ext cx="7558920" cy="16664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spcBef>
                <a:spcPts val="907"/>
              </a:spcBef>
              <a:spcAft>
                <a:spcPts val="709"/>
              </a:spcAft>
            </a:pPr>
            <a:r>
              <a:rPr lang="en-US" sz="1800" b="0" u="none" strike="noStrike">
                <a:solidFill>
                  <a:srgbClr val="000000"/>
                </a:solidFill>
                <a:effectLst/>
                <a:uFillTx/>
                <a:latin typeface="Arial"/>
                <a:ea typeface="Microsoft YaHei"/>
              </a:rPr>
              <a:t>Sliced ELLPACK is a variant which reduces overhead by dividing the matrix into chunks of C rows, padding only to match the length of the longest row within each chunk to obtain less zero-padding. Chunks are stored in column-major order, consecutively in memory.</a:t>
            </a:r>
            <a:endParaRPr lang="it-IT" sz="1800" b="0" u="none" strike="noStrike">
              <a:solidFill>
                <a:srgbClr val="000000"/>
              </a:solidFill>
              <a:effectLst/>
              <a:uFillTx/>
              <a:latin typeface="Arial"/>
            </a:endParaRPr>
          </a:p>
          <a:p>
            <a:pPr algn="just">
              <a:lnSpc>
                <a:spcPct val="100000"/>
              </a:lnSpc>
              <a:spcBef>
                <a:spcPts val="907"/>
              </a:spcBef>
              <a:spcAft>
                <a:spcPts val="709"/>
              </a:spcAft>
            </a:pPr>
            <a:endParaRPr lang="it-IT" sz="1800" b="0" u="none" strike="noStrike">
              <a:solidFill>
                <a:srgbClr val="000000"/>
              </a:solidFill>
              <a:effectLst/>
              <a:uFillTx/>
              <a:latin typeface="Arial"/>
            </a:endParaRPr>
          </a:p>
        </p:txBody>
      </p:sp>
      <p:sp>
        <p:nvSpPr>
          <p:cNvPr id="226" name="Rettangolo con angoli arrotondati 25"/>
          <p:cNvSpPr/>
          <p:nvPr/>
        </p:nvSpPr>
        <p:spPr>
          <a:xfrm>
            <a:off x="3548880" y="3331800"/>
            <a:ext cx="1870920" cy="790560"/>
          </a:xfrm>
          <a:prstGeom prst="roundRect">
            <a:avLst>
              <a:gd name="adj" fmla="val 16667"/>
            </a:avLst>
          </a:prstGeom>
          <a:solidFill>
            <a:srgbClr val="790022"/>
          </a:solidFill>
          <a:ln w="0">
            <a:noFill/>
          </a:ln>
        </p:spPr>
        <p:style>
          <a:lnRef idx="0"/>
          <a:fillRef idx="0"/>
          <a:effectRef idx="0"/>
          <a:fontRef idx="minor"/>
        </p:style>
        <p:txBody>
          <a:bodyPr numCol="1" spcCol="0" lIns="90000" rIns="90000" tIns="45000" bIns="45000" anchor="t">
            <a:noAutofit/>
          </a:bodyPr>
          <a:p>
            <a:pPr>
              <a:lnSpc>
                <a:spcPct val="100000"/>
              </a:lnSpc>
            </a:pPr>
            <a:endParaRPr lang="it-IT" sz="1800" b="0" u="none" strike="noStrike">
              <a:solidFill>
                <a:schemeClr val="dk1"/>
              </a:solidFill>
              <a:effectLst/>
              <a:uFillTx/>
              <a:latin typeface="Arial"/>
              <a:ea typeface="ＭＳ Ｐゴシック"/>
            </a:endParaRPr>
          </a:p>
        </p:txBody>
      </p:sp>
      <p:sp>
        <p:nvSpPr>
          <p:cNvPr id="227" name="Titolo 8"/>
          <p:cNvSpPr/>
          <p:nvPr/>
        </p:nvSpPr>
        <p:spPr>
          <a:xfrm>
            <a:off x="3548880" y="3365280"/>
            <a:ext cx="187092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pPr>
            <a:r>
              <a:rPr lang="it-IT" sz="2000" b="0" u="none" strike="noStrike">
                <a:solidFill>
                  <a:schemeClr val="lt1"/>
                </a:solidFill>
                <a:effectLst/>
                <a:uFillTx/>
                <a:latin typeface="Arial"/>
                <a:ea typeface="ＭＳ Ｐゴシック"/>
              </a:rPr>
              <a:t>C parameter</a:t>
            </a:r>
            <a:endParaRPr lang="it-IT" sz="2000" b="0" u="none" strike="noStrike">
              <a:solidFill>
                <a:srgbClr val="000000"/>
              </a:solidFill>
              <a:effectLst/>
              <a:uFillTx/>
              <a:latin typeface="Arial"/>
            </a:endParaRPr>
          </a:p>
        </p:txBody>
      </p:sp>
      <p:sp>
        <p:nvSpPr>
          <p:cNvPr id="228" name="Rettangolo con angoli arrotondati 26"/>
          <p:cNvSpPr/>
          <p:nvPr/>
        </p:nvSpPr>
        <p:spPr>
          <a:xfrm>
            <a:off x="3548880" y="3745440"/>
            <a:ext cx="1870920" cy="1293840"/>
          </a:xfrm>
          <a:prstGeom prst="roundRect">
            <a:avLst>
              <a:gd name="adj" fmla="val 16667"/>
            </a:avLst>
          </a:prstGeom>
          <a:solidFill>
            <a:srgbClr val="790022">
              <a:alpha val="9000"/>
            </a:srgbClr>
          </a:solidFill>
          <a:ln w="0">
            <a:solidFill>
              <a:srgbClr val="790022"/>
            </a:solidFill>
          </a:ln>
        </p:spPr>
        <p:style>
          <a:lnRef idx="0"/>
          <a:fillRef idx="0"/>
          <a:effectRef idx="0"/>
          <a:fontRef idx="minor"/>
        </p:style>
        <p:txBody>
          <a:bodyPr numCol="1" spcCol="0" lIns="90000" rIns="90000" tIns="45000" bIns="45000" anchor="ctr">
            <a:noAutofit/>
          </a:bodyPr>
          <a:p>
            <a:pPr>
              <a:lnSpc>
                <a:spcPct val="100000"/>
              </a:lnSpc>
            </a:pPr>
            <a:endParaRPr lang="it-IT" sz="2000" b="0" u="none" strike="noStrike">
              <a:solidFill>
                <a:srgbClr val="000000"/>
              </a:solidFill>
              <a:effectLst/>
              <a:uFillTx/>
              <a:latin typeface="Arial"/>
              <a:ea typeface="ＭＳ Ｐゴシック"/>
            </a:endParaRPr>
          </a:p>
        </p:txBody>
      </p:sp>
      <p:sp>
        <p:nvSpPr>
          <p:cNvPr id="229" name="CasellaDiTesto 52"/>
          <p:cNvSpPr/>
          <p:nvPr/>
        </p:nvSpPr>
        <p:spPr>
          <a:xfrm>
            <a:off x="3420000" y="4320000"/>
            <a:ext cx="2030400" cy="394560"/>
          </a:xfrm>
          <a:prstGeom prst="rect">
            <a:avLst/>
          </a:prstGeom>
          <a:noFill/>
          <a:ln w="0">
            <a:noFill/>
          </a:ln>
        </p:spPr>
        <p:style>
          <a:lnRef idx="0"/>
          <a:fillRef idx="0"/>
          <a:effectRef idx="0"/>
          <a:fontRef idx="minor"/>
        </p:style>
        <p:txBody>
          <a:bodyPr lIns="90000" rIns="90000" tIns="45000" bIns="45000" anchor="t">
            <a:spAutoFit/>
          </a:bodyPr>
          <a:p>
            <a:pPr marL="343080" indent="-343080" algn="just" defTabSz="457200">
              <a:lnSpc>
                <a:spcPct val="100000"/>
              </a:lnSpc>
              <a:buClr>
                <a:srgbClr val="000000"/>
              </a:buClr>
              <a:buFont typeface="Arial"/>
              <a:buChar char="•"/>
            </a:pPr>
            <a:r>
              <a:rPr lang="it-IT" sz="2000" b="0" u="none" strike="noStrike">
                <a:solidFill>
                  <a:srgbClr val="000000"/>
                </a:solidFill>
                <a:effectLst/>
                <a:uFillTx/>
                <a:latin typeface="Arial"/>
                <a:ea typeface="ＭＳ Ｐゴシック"/>
              </a:rPr>
              <a:t>Chunk size</a:t>
            </a:r>
            <a:endParaRPr lang="it-IT" sz="20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ftr" idx="52"/>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231" name="PlaceHolder 2"/>
          <p:cNvSpPr>
            <a:spLocks noGrp="1"/>
          </p:cNvSpPr>
          <p:nvPr>
            <p:ph type="dt" idx="53"/>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232" name="Rettangolo 39"/>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233" name="Segnaposto numero diapositiva 29"/>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8</a:t>
            </a:r>
            <a:endParaRPr lang="it-IT" sz="1100" b="0" u="none" strike="noStrike">
              <a:solidFill>
                <a:srgbClr val="000000"/>
              </a:solidFill>
              <a:effectLst/>
              <a:uFillTx/>
              <a:latin typeface="Arial"/>
            </a:endParaRPr>
          </a:p>
        </p:txBody>
      </p:sp>
      <p:sp>
        <p:nvSpPr>
          <p:cNvPr id="234" name="Rectangle 16"/>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SELL-C-σ </a:t>
            </a:r>
            <a:endParaRPr lang="it-IT" sz="2400" b="0" u="none" strike="noStrike">
              <a:solidFill>
                <a:srgbClr val="000000"/>
              </a:solidFill>
              <a:effectLst/>
              <a:uFillTx/>
              <a:latin typeface="Arial"/>
            </a:endParaRPr>
          </a:p>
        </p:txBody>
      </p:sp>
      <p:sp>
        <p:nvSpPr>
          <p:cNvPr id="235" name="CasellaDiTesto 53"/>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236" name=""/>
          <p:cNvSpPr/>
          <p:nvPr/>
        </p:nvSpPr>
        <p:spPr>
          <a:xfrm>
            <a:off x="3240000" y="1910880"/>
            <a:ext cx="28789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237" name=""/>
          <p:cNvSpPr/>
          <p:nvPr/>
        </p:nvSpPr>
        <p:spPr>
          <a:xfrm>
            <a:off x="2160000" y="919800"/>
            <a:ext cx="7558920" cy="8794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spcBef>
                <a:spcPts val="1191"/>
              </a:spcBef>
              <a:spcAft>
                <a:spcPts val="992"/>
              </a:spcAft>
            </a:pPr>
            <a:r>
              <a:rPr lang="en-US" sz="1800" b="0" u="none" strike="noStrike">
                <a:solidFill>
                  <a:srgbClr val="000000"/>
                </a:solidFill>
                <a:effectLst/>
                <a:uFillTx/>
                <a:latin typeface="Arial"/>
                <a:ea typeface="Microsoft YaHei"/>
              </a:rPr>
              <a:t>SELL-C-σ is a generalized SELL with:</a:t>
            </a:r>
            <a:endParaRPr lang="it-IT" sz="1800" b="0" u="none" strike="noStrike">
              <a:solidFill>
                <a:srgbClr val="000000"/>
              </a:solidFill>
              <a:effectLst/>
              <a:uFillTx/>
              <a:latin typeface="Arial"/>
            </a:endParaRPr>
          </a:p>
          <a:p>
            <a:pPr algn="just">
              <a:lnSpc>
                <a:spcPct val="100000"/>
              </a:lnSpc>
              <a:spcBef>
                <a:spcPts val="907"/>
              </a:spcBef>
              <a:spcAft>
                <a:spcPts val="709"/>
              </a:spcAft>
            </a:pPr>
            <a:endParaRPr lang="it-IT" sz="1800" b="0" u="none" strike="noStrike">
              <a:solidFill>
                <a:srgbClr val="000000"/>
              </a:solidFill>
              <a:effectLst/>
              <a:uFillTx/>
              <a:latin typeface="Arial"/>
            </a:endParaRPr>
          </a:p>
        </p:txBody>
      </p:sp>
      <p:sp>
        <p:nvSpPr>
          <p:cNvPr id="238" name="Rettangolo con angoli arrotondati 27"/>
          <p:cNvSpPr/>
          <p:nvPr/>
        </p:nvSpPr>
        <p:spPr>
          <a:xfrm>
            <a:off x="1646640" y="1440360"/>
            <a:ext cx="1870920" cy="790560"/>
          </a:xfrm>
          <a:prstGeom prst="roundRect">
            <a:avLst>
              <a:gd name="adj" fmla="val 16667"/>
            </a:avLst>
          </a:prstGeom>
          <a:solidFill>
            <a:srgbClr val="790022"/>
          </a:solidFill>
          <a:ln w="0">
            <a:noFill/>
          </a:ln>
        </p:spPr>
        <p:style>
          <a:lnRef idx="0"/>
          <a:fillRef idx="0"/>
          <a:effectRef idx="0"/>
          <a:fontRef idx="minor"/>
        </p:style>
        <p:txBody>
          <a:bodyPr numCol="1" spcCol="0" lIns="90000" rIns="90000" tIns="45000" bIns="45000" anchor="t">
            <a:noAutofit/>
          </a:bodyPr>
          <a:p>
            <a:pPr>
              <a:lnSpc>
                <a:spcPct val="100000"/>
              </a:lnSpc>
            </a:pPr>
            <a:endParaRPr lang="it-IT" sz="1800" b="0" u="none" strike="noStrike">
              <a:solidFill>
                <a:schemeClr val="dk1"/>
              </a:solidFill>
              <a:effectLst/>
              <a:uFillTx/>
              <a:latin typeface="Arial"/>
              <a:ea typeface="ＭＳ Ｐゴシック"/>
            </a:endParaRPr>
          </a:p>
        </p:txBody>
      </p:sp>
      <p:sp>
        <p:nvSpPr>
          <p:cNvPr id="239" name="Titolo 9"/>
          <p:cNvSpPr/>
          <p:nvPr/>
        </p:nvSpPr>
        <p:spPr>
          <a:xfrm>
            <a:off x="1646640" y="1473840"/>
            <a:ext cx="187092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pPr>
            <a:r>
              <a:rPr lang="it-IT" sz="2000" b="0" u="none" strike="noStrike">
                <a:solidFill>
                  <a:schemeClr val="lt1"/>
                </a:solidFill>
                <a:effectLst/>
                <a:uFillTx/>
                <a:latin typeface="Arial"/>
                <a:ea typeface="ＭＳ Ｐゴシック"/>
              </a:rPr>
              <a:t>C parameter</a:t>
            </a:r>
            <a:endParaRPr lang="it-IT" sz="2000" b="0" u="none" strike="noStrike">
              <a:solidFill>
                <a:srgbClr val="000000"/>
              </a:solidFill>
              <a:effectLst/>
              <a:uFillTx/>
              <a:latin typeface="Arial"/>
            </a:endParaRPr>
          </a:p>
        </p:txBody>
      </p:sp>
      <p:sp>
        <p:nvSpPr>
          <p:cNvPr id="240" name="Rettangolo con angoli arrotondati 28"/>
          <p:cNvSpPr/>
          <p:nvPr/>
        </p:nvSpPr>
        <p:spPr>
          <a:xfrm>
            <a:off x="1646640" y="1854000"/>
            <a:ext cx="1870920" cy="2193480"/>
          </a:xfrm>
          <a:prstGeom prst="roundRect">
            <a:avLst>
              <a:gd name="adj" fmla="val 16667"/>
            </a:avLst>
          </a:prstGeom>
          <a:solidFill>
            <a:srgbClr val="790022">
              <a:alpha val="9000"/>
            </a:srgbClr>
          </a:solidFill>
          <a:ln w="0">
            <a:solidFill>
              <a:srgbClr val="790022"/>
            </a:solidFill>
          </a:ln>
        </p:spPr>
        <p:style>
          <a:lnRef idx="0"/>
          <a:fillRef idx="0"/>
          <a:effectRef idx="0"/>
          <a:fontRef idx="minor"/>
        </p:style>
        <p:txBody>
          <a:bodyPr numCol="1" spcCol="0" lIns="90000" rIns="90000" tIns="45000" bIns="45000" anchor="ctr">
            <a:noAutofit/>
          </a:bodyPr>
          <a:p>
            <a:pPr>
              <a:lnSpc>
                <a:spcPct val="100000"/>
              </a:lnSpc>
            </a:pPr>
            <a:endParaRPr lang="it-IT" sz="2000" b="0" u="none" strike="noStrike">
              <a:solidFill>
                <a:srgbClr val="000000"/>
              </a:solidFill>
              <a:effectLst/>
              <a:uFillTx/>
              <a:latin typeface="Arial"/>
              <a:ea typeface="ＭＳ Ｐゴシック"/>
            </a:endParaRPr>
          </a:p>
        </p:txBody>
      </p:sp>
      <p:sp>
        <p:nvSpPr>
          <p:cNvPr id="241" name="CasellaDiTesto 54"/>
          <p:cNvSpPr/>
          <p:nvPr/>
        </p:nvSpPr>
        <p:spPr>
          <a:xfrm>
            <a:off x="1517760" y="2428560"/>
            <a:ext cx="2030400" cy="1461240"/>
          </a:xfrm>
          <a:prstGeom prst="rect">
            <a:avLst/>
          </a:prstGeom>
          <a:noFill/>
          <a:ln w="0">
            <a:noFill/>
          </a:ln>
        </p:spPr>
        <p:style>
          <a:lnRef idx="0"/>
          <a:fillRef idx="0"/>
          <a:effectRef idx="0"/>
          <a:fontRef idx="minor"/>
        </p:style>
        <p:txBody>
          <a:bodyPr lIns="90000" rIns="90000" tIns="45000" bIns="45000" anchor="t">
            <a:spAutoFit/>
          </a:bodyPr>
          <a:p>
            <a:pPr marL="432000" lvl="1" indent="-216000" algn="just" defTabSz="457200">
              <a:lnSpc>
                <a:spcPct val="100000"/>
              </a:lnSpc>
              <a:buClr>
                <a:srgbClr val="000000"/>
              </a:buClr>
              <a:buSzPct val="45000"/>
              <a:buFont typeface="Wingdings" charset="2"/>
              <a:buChar char=""/>
            </a:pPr>
            <a:r>
              <a:rPr lang="it-IT" sz="1500" b="0" u="none" strike="noStrike">
                <a:solidFill>
                  <a:srgbClr val="000000"/>
                </a:solidFill>
                <a:effectLst/>
                <a:uFillTx/>
                <a:latin typeface="Arial"/>
                <a:ea typeface="ＭＳ Ｐゴシック"/>
              </a:rPr>
              <a:t>Chunk size</a:t>
            </a:r>
            <a:endParaRPr lang="it-IT" sz="1500" b="0" u="none" strike="noStrike">
              <a:solidFill>
                <a:srgbClr val="000000"/>
              </a:solidFill>
              <a:effectLst/>
              <a:uFillTx/>
              <a:latin typeface="Arial"/>
            </a:endParaRPr>
          </a:p>
          <a:p>
            <a:pPr marL="432000" lvl="1" indent="-216000" algn="just" defTabSz="457200">
              <a:lnSpc>
                <a:spcPct val="100000"/>
              </a:lnSpc>
              <a:buClr>
                <a:srgbClr val="000000"/>
              </a:buClr>
              <a:buSzPct val="45000"/>
              <a:buFont typeface="Wingdings" charset="2"/>
              <a:buChar char=""/>
            </a:pPr>
            <a:r>
              <a:rPr lang="it-IT" sz="1500" b="0" u="none" strike="noStrike">
                <a:solidFill>
                  <a:srgbClr val="000000"/>
                </a:solidFill>
                <a:effectLst/>
                <a:uFillTx/>
                <a:latin typeface="Arial"/>
                <a:ea typeface="ＭＳ Ｐゴシック"/>
              </a:rPr>
              <a:t>Number of rows padded to a multiple of C</a:t>
            </a:r>
            <a:endParaRPr lang="it-IT" sz="1500" b="0" u="none" strike="noStrike">
              <a:solidFill>
                <a:srgbClr val="000000"/>
              </a:solidFill>
              <a:effectLst/>
              <a:uFillTx/>
              <a:latin typeface="Arial"/>
            </a:endParaRPr>
          </a:p>
          <a:p>
            <a:pPr marL="432000" lvl="1" indent="-216000" algn="just" defTabSz="457200">
              <a:lnSpc>
                <a:spcPct val="100000"/>
              </a:lnSpc>
              <a:buClr>
                <a:srgbClr val="000000"/>
              </a:buClr>
              <a:buSzPct val="45000"/>
              <a:buFont typeface="Wingdings" charset="2"/>
              <a:buChar char=""/>
            </a:pPr>
            <a:r>
              <a:rPr lang="it-IT" sz="1500" b="0" u="none" strike="noStrike">
                <a:solidFill>
                  <a:srgbClr val="000000"/>
                </a:solidFill>
                <a:effectLst/>
                <a:uFillTx/>
                <a:latin typeface="Arial"/>
                <a:ea typeface="ＭＳ Ｐゴシック"/>
              </a:rPr>
              <a:t>C depends on the architecture</a:t>
            </a:r>
            <a:endParaRPr lang="it-IT" sz="1500" b="0" u="none" strike="noStrike">
              <a:solidFill>
                <a:srgbClr val="000000"/>
              </a:solidFill>
              <a:effectLst/>
              <a:uFillTx/>
              <a:latin typeface="Arial"/>
            </a:endParaRPr>
          </a:p>
        </p:txBody>
      </p:sp>
      <p:sp>
        <p:nvSpPr>
          <p:cNvPr id="242" name="Rettangolo con angoli arrotondati 29"/>
          <p:cNvSpPr/>
          <p:nvPr/>
        </p:nvSpPr>
        <p:spPr>
          <a:xfrm>
            <a:off x="5477760" y="1440000"/>
            <a:ext cx="1870920" cy="790560"/>
          </a:xfrm>
          <a:prstGeom prst="roundRect">
            <a:avLst>
              <a:gd name="adj" fmla="val 16667"/>
            </a:avLst>
          </a:prstGeom>
          <a:solidFill>
            <a:srgbClr val="790022"/>
          </a:solidFill>
          <a:ln w="0">
            <a:noFill/>
          </a:ln>
        </p:spPr>
        <p:style>
          <a:lnRef idx="0"/>
          <a:fillRef idx="0"/>
          <a:effectRef idx="0"/>
          <a:fontRef idx="minor"/>
        </p:style>
        <p:txBody>
          <a:bodyPr numCol="1" spcCol="0" lIns="90000" rIns="90000" tIns="45000" bIns="45000" anchor="t">
            <a:noAutofit/>
          </a:bodyPr>
          <a:p>
            <a:pPr>
              <a:lnSpc>
                <a:spcPct val="100000"/>
              </a:lnSpc>
            </a:pPr>
            <a:endParaRPr lang="it-IT" sz="1800" b="0" u="none" strike="noStrike">
              <a:solidFill>
                <a:schemeClr val="dk1"/>
              </a:solidFill>
              <a:effectLst/>
              <a:uFillTx/>
              <a:latin typeface="Arial"/>
              <a:ea typeface="ＭＳ Ｐゴシック"/>
            </a:endParaRPr>
          </a:p>
        </p:txBody>
      </p:sp>
      <p:sp>
        <p:nvSpPr>
          <p:cNvPr id="243" name="Titolo 10"/>
          <p:cNvSpPr/>
          <p:nvPr/>
        </p:nvSpPr>
        <p:spPr>
          <a:xfrm>
            <a:off x="5477760" y="1473480"/>
            <a:ext cx="187092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pPr>
            <a:r>
              <a:rPr lang="it-IT" sz="2000" b="0" u="none" strike="noStrike">
                <a:solidFill>
                  <a:schemeClr val="lt1"/>
                </a:solidFill>
                <a:effectLst/>
                <a:uFillTx/>
                <a:latin typeface="Arial"/>
                <a:ea typeface="ＭＳ Ｐゴシック"/>
              </a:rPr>
              <a:t>σ parameter</a:t>
            </a:r>
            <a:endParaRPr lang="it-IT" sz="2000" b="0" u="none" strike="noStrike">
              <a:solidFill>
                <a:srgbClr val="000000"/>
              </a:solidFill>
              <a:effectLst/>
              <a:uFillTx/>
              <a:latin typeface="Arial"/>
            </a:endParaRPr>
          </a:p>
        </p:txBody>
      </p:sp>
      <p:sp>
        <p:nvSpPr>
          <p:cNvPr id="244" name="Rettangolo con angoli arrotondati 30"/>
          <p:cNvSpPr/>
          <p:nvPr/>
        </p:nvSpPr>
        <p:spPr>
          <a:xfrm>
            <a:off x="5477760" y="1853640"/>
            <a:ext cx="1870920" cy="2193840"/>
          </a:xfrm>
          <a:prstGeom prst="roundRect">
            <a:avLst>
              <a:gd name="adj" fmla="val 16667"/>
            </a:avLst>
          </a:prstGeom>
          <a:solidFill>
            <a:srgbClr val="790022">
              <a:alpha val="9000"/>
            </a:srgbClr>
          </a:solidFill>
          <a:ln w="0">
            <a:solidFill>
              <a:srgbClr val="790022"/>
            </a:solidFill>
          </a:ln>
        </p:spPr>
        <p:style>
          <a:lnRef idx="0"/>
          <a:fillRef idx="0"/>
          <a:effectRef idx="0"/>
          <a:fontRef idx="minor"/>
        </p:style>
        <p:txBody>
          <a:bodyPr numCol="1" spcCol="0" lIns="90000" rIns="90000" tIns="45000" bIns="45000" anchor="ctr">
            <a:noAutofit/>
          </a:bodyPr>
          <a:p>
            <a:pPr>
              <a:lnSpc>
                <a:spcPct val="100000"/>
              </a:lnSpc>
            </a:pPr>
            <a:endParaRPr lang="it-IT" sz="2000" b="0" u="none" strike="noStrike">
              <a:solidFill>
                <a:srgbClr val="000000"/>
              </a:solidFill>
              <a:effectLst/>
              <a:uFillTx/>
              <a:latin typeface="Arial"/>
              <a:ea typeface="ＭＳ Ｐゴシック"/>
            </a:endParaRPr>
          </a:p>
        </p:txBody>
      </p:sp>
      <p:sp>
        <p:nvSpPr>
          <p:cNvPr id="245" name="CasellaDiTesto 55"/>
          <p:cNvSpPr/>
          <p:nvPr/>
        </p:nvSpPr>
        <p:spPr>
          <a:xfrm>
            <a:off x="5348880" y="2428200"/>
            <a:ext cx="2030400" cy="1461240"/>
          </a:xfrm>
          <a:prstGeom prst="rect">
            <a:avLst/>
          </a:prstGeom>
          <a:noFill/>
          <a:ln w="0">
            <a:noFill/>
          </a:ln>
        </p:spPr>
        <p:style>
          <a:lnRef idx="0"/>
          <a:fillRef idx="0"/>
          <a:effectRef idx="0"/>
          <a:fontRef idx="minor"/>
        </p:style>
        <p:txBody>
          <a:bodyPr lIns="90000" rIns="90000" tIns="45000" bIns="45000" anchor="t">
            <a:spAutoFit/>
          </a:bodyPr>
          <a:p>
            <a:pPr marL="432000" lvl="1" indent="-216000" algn="just" defTabSz="457200">
              <a:lnSpc>
                <a:spcPct val="100000"/>
              </a:lnSpc>
              <a:buClr>
                <a:srgbClr val="000000"/>
              </a:buClr>
              <a:buSzPct val="45000"/>
              <a:buFont typeface="Wingdings" charset="2"/>
              <a:buChar char=""/>
            </a:pPr>
            <a:r>
              <a:rPr lang="it-IT" sz="1500" b="0" u="none" strike="noStrike">
                <a:solidFill>
                  <a:srgbClr val="000000"/>
                </a:solidFill>
                <a:effectLst/>
                <a:uFillTx/>
                <a:latin typeface="Arial"/>
                <a:ea typeface="ＭＳ Ｐゴシック"/>
              </a:rPr>
              <a:t>Sorting scope</a:t>
            </a:r>
            <a:endParaRPr lang="it-IT" sz="1500" b="0" u="none" strike="noStrike">
              <a:solidFill>
                <a:srgbClr val="000000"/>
              </a:solidFill>
              <a:effectLst/>
              <a:uFillTx/>
              <a:latin typeface="Arial"/>
            </a:endParaRPr>
          </a:p>
          <a:p>
            <a:pPr marL="432000" lvl="1" indent="-216000" algn="just" defTabSz="457200">
              <a:lnSpc>
                <a:spcPct val="100000"/>
              </a:lnSpc>
              <a:buClr>
                <a:srgbClr val="000000"/>
              </a:buClr>
              <a:buSzPct val="45000"/>
              <a:buFont typeface="Wingdings" charset="2"/>
              <a:buChar char=""/>
            </a:pPr>
            <a:r>
              <a:rPr lang="it-IT" sz="1500" b="0" u="none" strike="noStrike">
                <a:solidFill>
                  <a:srgbClr val="000000"/>
                </a:solidFill>
                <a:effectLst/>
                <a:uFillTx/>
                <a:latin typeface="Arial"/>
                <a:ea typeface="ＭＳ Ｐゴシック"/>
              </a:rPr>
              <a:t>It tells us how many rows we are allowed to reorder locally</a:t>
            </a:r>
            <a:endParaRPr lang="it-IT" sz="1500" b="0" u="none" strike="noStrike">
              <a:solidFill>
                <a:srgbClr val="000000"/>
              </a:solidFill>
              <a:effectLst/>
              <a:uFillTx/>
              <a:latin typeface="Arial"/>
            </a:endParaRPr>
          </a:p>
          <a:p>
            <a:pPr algn="just" defTabSz="457200">
              <a:lnSpc>
                <a:spcPct val="100000"/>
              </a:lnSpc>
            </a:pPr>
            <a:endParaRPr lang="it-IT" sz="1500" b="0" u="none" strike="noStrike">
              <a:solidFill>
                <a:srgbClr val="000000"/>
              </a:solidFill>
              <a:effectLst/>
              <a:uFillTx/>
              <a:latin typeface="Arial"/>
            </a:endParaRPr>
          </a:p>
        </p:txBody>
      </p:sp>
      <p:pic>
        <p:nvPicPr>
          <p:cNvPr id="246" name=""/>
          <p:cNvPicPr/>
          <p:nvPr/>
        </p:nvPicPr>
        <p:blipFill>
          <a:blip r:embed="rId1"/>
          <a:stretch/>
        </p:blipFill>
        <p:spPr>
          <a:xfrm>
            <a:off x="1198080" y="4500000"/>
            <a:ext cx="6541200" cy="1271160"/>
          </a:xfrm>
          <a:prstGeom prst="rect">
            <a:avLst/>
          </a:prstGeom>
          <a:noFill/>
          <a:ln w="0">
            <a:noFill/>
          </a:ln>
        </p:spPr>
      </p:pic>
    </p:spTree>
  </p:cSld>
  <mc:AlternateContent>
    <mc:Choice Requires="p14">
      <p:transition p14:dur="100">
        <p:fade/>
      </p:transition>
    </mc:Choice>
    <mc:Fallback>
      <p:transition>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ftr" idx="54"/>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248" name="PlaceHolder 2"/>
          <p:cNvSpPr>
            <a:spLocks noGrp="1"/>
          </p:cNvSpPr>
          <p:nvPr>
            <p:ph type="dt" idx="55"/>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249" name="Rettangolo 44"/>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250" name="Segnaposto numero diapositiva 32"/>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8</a:t>
            </a:r>
            <a:endParaRPr lang="it-IT" sz="1100" b="0" u="none" strike="noStrike">
              <a:solidFill>
                <a:srgbClr val="000000"/>
              </a:solidFill>
              <a:effectLst/>
              <a:uFillTx/>
              <a:latin typeface="Arial"/>
            </a:endParaRPr>
          </a:p>
        </p:txBody>
      </p:sp>
      <p:sp>
        <p:nvSpPr>
          <p:cNvPr id="251" name="Rectangle 22"/>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SELL-C-σ </a:t>
            </a:r>
            <a:endParaRPr lang="it-IT" sz="2400" b="0" u="none" strike="noStrike">
              <a:solidFill>
                <a:srgbClr val="000000"/>
              </a:solidFill>
              <a:effectLst/>
              <a:uFillTx/>
              <a:latin typeface="Arial"/>
            </a:endParaRPr>
          </a:p>
        </p:txBody>
      </p:sp>
      <p:sp>
        <p:nvSpPr>
          <p:cNvPr id="252" name="CasellaDiTesto 15"/>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253" name=""/>
          <p:cNvSpPr/>
          <p:nvPr/>
        </p:nvSpPr>
        <p:spPr>
          <a:xfrm>
            <a:off x="3240000" y="1910880"/>
            <a:ext cx="28789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254" name=""/>
          <p:cNvSpPr/>
          <p:nvPr/>
        </p:nvSpPr>
        <p:spPr>
          <a:xfrm>
            <a:off x="2160000" y="919800"/>
            <a:ext cx="7558920" cy="8794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spcBef>
                <a:spcPts val="1191"/>
              </a:spcBef>
              <a:spcAft>
                <a:spcPts val="992"/>
              </a:spcAft>
            </a:pPr>
            <a:r>
              <a:rPr lang="en-US" sz="1800" b="0" u="none" strike="noStrike">
                <a:solidFill>
                  <a:srgbClr val="000000"/>
                </a:solidFill>
                <a:effectLst/>
                <a:uFillTx/>
                <a:latin typeface="Arial"/>
                <a:ea typeface="Microsoft YaHei"/>
              </a:rPr>
              <a:t>SELL-C-σ is a generalized SELL with:</a:t>
            </a:r>
            <a:endParaRPr lang="it-IT" sz="1800" b="0" u="none" strike="noStrike">
              <a:solidFill>
                <a:srgbClr val="000000"/>
              </a:solidFill>
              <a:effectLst/>
              <a:uFillTx/>
              <a:latin typeface="Arial"/>
            </a:endParaRPr>
          </a:p>
          <a:p>
            <a:pPr algn="just">
              <a:lnSpc>
                <a:spcPct val="100000"/>
              </a:lnSpc>
              <a:spcBef>
                <a:spcPts val="907"/>
              </a:spcBef>
              <a:spcAft>
                <a:spcPts val="709"/>
              </a:spcAft>
            </a:pPr>
            <a:endParaRPr lang="it-IT" sz="1800" b="0" u="none" strike="noStrike">
              <a:solidFill>
                <a:srgbClr val="000000"/>
              </a:solidFill>
              <a:effectLst/>
              <a:uFillTx/>
              <a:latin typeface="Arial"/>
            </a:endParaRPr>
          </a:p>
        </p:txBody>
      </p:sp>
      <p:sp>
        <p:nvSpPr>
          <p:cNvPr id="255" name="Rettangolo con angoli arrotondati 3"/>
          <p:cNvSpPr/>
          <p:nvPr/>
        </p:nvSpPr>
        <p:spPr>
          <a:xfrm>
            <a:off x="1646640" y="1440360"/>
            <a:ext cx="1870920" cy="790560"/>
          </a:xfrm>
          <a:prstGeom prst="roundRect">
            <a:avLst>
              <a:gd name="adj" fmla="val 16667"/>
            </a:avLst>
          </a:prstGeom>
          <a:solidFill>
            <a:srgbClr val="790022"/>
          </a:solidFill>
          <a:ln w="0">
            <a:noFill/>
          </a:ln>
        </p:spPr>
        <p:style>
          <a:lnRef idx="0"/>
          <a:fillRef idx="0"/>
          <a:effectRef idx="0"/>
          <a:fontRef idx="minor"/>
        </p:style>
        <p:txBody>
          <a:bodyPr numCol="1" spcCol="0" lIns="90000" rIns="90000" tIns="45000" bIns="45000" anchor="t">
            <a:noAutofit/>
          </a:bodyPr>
          <a:p>
            <a:pPr>
              <a:lnSpc>
                <a:spcPct val="100000"/>
              </a:lnSpc>
            </a:pPr>
            <a:endParaRPr lang="it-IT" sz="1800" b="0" u="none" strike="noStrike">
              <a:solidFill>
                <a:schemeClr val="dk1"/>
              </a:solidFill>
              <a:effectLst/>
              <a:uFillTx/>
              <a:latin typeface="Arial"/>
              <a:ea typeface="ＭＳ Ｐゴシック"/>
            </a:endParaRPr>
          </a:p>
        </p:txBody>
      </p:sp>
      <p:sp>
        <p:nvSpPr>
          <p:cNvPr id="256" name="Titolo 1"/>
          <p:cNvSpPr/>
          <p:nvPr/>
        </p:nvSpPr>
        <p:spPr>
          <a:xfrm>
            <a:off x="1646640" y="1473840"/>
            <a:ext cx="187092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pPr>
            <a:r>
              <a:rPr lang="it-IT" sz="2000" b="0" u="none" strike="noStrike">
                <a:solidFill>
                  <a:schemeClr val="lt1"/>
                </a:solidFill>
                <a:effectLst/>
                <a:uFillTx/>
                <a:latin typeface="Arial"/>
                <a:ea typeface="ＭＳ Ｐゴシック"/>
              </a:rPr>
              <a:t>C parameter</a:t>
            </a:r>
            <a:endParaRPr lang="it-IT" sz="2000" b="0" u="none" strike="noStrike">
              <a:solidFill>
                <a:srgbClr val="000000"/>
              </a:solidFill>
              <a:effectLst/>
              <a:uFillTx/>
              <a:latin typeface="Arial"/>
            </a:endParaRPr>
          </a:p>
        </p:txBody>
      </p:sp>
      <p:sp>
        <p:nvSpPr>
          <p:cNvPr id="257" name="Rettangolo con angoli arrotondati 4"/>
          <p:cNvSpPr/>
          <p:nvPr/>
        </p:nvSpPr>
        <p:spPr>
          <a:xfrm>
            <a:off x="1646640" y="1854000"/>
            <a:ext cx="1870920" cy="2193480"/>
          </a:xfrm>
          <a:prstGeom prst="roundRect">
            <a:avLst>
              <a:gd name="adj" fmla="val 16667"/>
            </a:avLst>
          </a:prstGeom>
          <a:solidFill>
            <a:srgbClr val="790022">
              <a:alpha val="9000"/>
            </a:srgbClr>
          </a:solidFill>
          <a:ln w="0">
            <a:solidFill>
              <a:srgbClr val="790022"/>
            </a:solidFill>
          </a:ln>
        </p:spPr>
        <p:style>
          <a:lnRef idx="0"/>
          <a:fillRef idx="0"/>
          <a:effectRef idx="0"/>
          <a:fontRef idx="minor"/>
        </p:style>
        <p:txBody>
          <a:bodyPr numCol="1" spcCol="0" lIns="90000" rIns="90000" tIns="45000" bIns="45000" anchor="ctr">
            <a:noAutofit/>
          </a:bodyPr>
          <a:p>
            <a:pPr>
              <a:lnSpc>
                <a:spcPct val="100000"/>
              </a:lnSpc>
            </a:pPr>
            <a:endParaRPr lang="it-IT" sz="2000" b="0" u="none" strike="noStrike">
              <a:solidFill>
                <a:srgbClr val="000000"/>
              </a:solidFill>
              <a:effectLst/>
              <a:uFillTx/>
              <a:latin typeface="Arial"/>
              <a:ea typeface="ＭＳ Ｐゴシック"/>
            </a:endParaRPr>
          </a:p>
        </p:txBody>
      </p:sp>
      <p:sp>
        <p:nvSpPr>
          <p:cNvPr id="258" name="CasellaDiTesto 20"/>
          <p:cNvSpPr/>
          <p:nvPr/>
        </p:nvSpPr>
        <p:spPr>
          <a:xfrm>
            <a:off x="1517760" y="2428560"/>
            <a:ext cx="2030400" cy="1461240"/>
          </a:xfrm>
          <a:prstGeom prst="rect">
            <a:avLst/>
          </a:prstGeom>
          <a:noFill/>
          <a:ln w="0">
            <a:noFill/>
          </a:ln>
        </p:spPr>
        <p:style>
          <a:lnRef idx="0"/>
          <a:fillRef idx="0"/>
          <a:effectRef idx="0"/>
          <a:fontRef idx="minor"/>
        </p:style>
        <p:txBody>
          <a:bodyPr lIns="90000" rIns="90000" tIns="45000" bIns="45000" anchor="t">
            <a:spAutoFit/>
          </a:bodyPr>
          <a:p>
            <a:pPr marL="432000" lvl="1" indent="-216000" algn="just" defTabSz="457200">
              <a:lnSpc>
                <a:spcPct val="100000"/>
              </a:lnSpc>
              <a:buClr>
                <a:srgbClr val="000000"/>
              </a:buClr>
              <a:buSzPct val="45000"/>
              <a:buFont typeface="Wingdings" charset="2"/>
              <a:buChar char=""/>
            </a:pPr>
            <a:r>
              <a:rPr lang="it-IT" sz="1500" b="0" u="none" strike="noStrike">
                <a:solidFill>
                  <a:srgbClr val="000000"/>
                </a:solidFill>
                <a:effectLst/>
                <a:uFillTx/>
                <a:latin typeface="Arial"/>
                <a:ea typeface="ＭＳ Ｐゴシック"/>
              </a:rPr>
              <a:t>Chunk size</a:t>
            </a:r>
            <a:endParaRPr lang="it-IT" sz="1500" b="0" u="none" strike="noStrike">
              <a:solidFill>
                <a:srgbClr val="000000"/>
              </a:solidFill>
              <a:effectLst/>
              <a:uFillTx/>
              <a:latin typeface="Arial"/>
            </a:endParaRPr>
          </a:p>
          <a:p>
            <a:pPr marL="432000" lvl="1" indent="-216000" algn="just" defTabSz="457200">
              <a:lnSpc>
                <a:spcPct val="100000"/>
              </a:lnSpc>
              <a:buClr>
                <a:srgbClr val="000000"/>
              </a:buClr>
              <a:buSzPct val="45000"/>
              <a:buFont typeface="Wingdings" charset="2"/>
              <a:buChar char=""/>
            </a:pPr>
            <a:r>
              <a:rPr lang="it-IT" sz="1500" b="0" u="none" strike="noStrike">
                <a:solidFill>
                  <a:srgbClr val="000000"/>
                </a:solidFill>
                <a:effectLst/>
                <a:uFillTx/>
                <a:latin typeface="Arial"/>
                <a:ea typeface="ＭＳ Ｐゴシック"/>
              </a:rPr>
              <a:t>Number of rows padded to a multiple of C</a:t>
            </a:r>
            <a:endParaRPr lang="it-IT" sz="1500" b="0" u="none" strike="noStrike">
              <a:solidFill>
                <a:srgbClr val="000000"/>
              </a:solidFill>
              <a:effectLst/>
              <a:uFillTx/>
              <a:latin typeface="Arial"/>
            </a:endParaRPr>
          </a:p>
          <a:p>
            <a:pPr marL="432000" lvl="1" indent="-216000" algn="just" defTabSz="457200">
              <a:lnSpc>
                <a:spcPct val="100000"/>
              </a:lnSpc>
              <a:buClr>
                <a:srgbClr val="000000"/>
              </a:buClr>
              <a:buSzPct val="45000"/>
              <a:buFont typeface="Wingdings" charset="2"/>
              <a:buChar char=""/>
            </a:pPr>
            <a:r>
              <a:rPr lang="it-IT" sz="1500" b="0" u="none" strike="noStrike">
                <a:solidFill>
                  <a:srgbClr val="000000"/>
                </a:solidFill>
                <a:effectLst/>
                <a:uFillTx/>
                <a:latin typeface="Arial"/>
                <a:ea typeface="ＭＳ Ｐゴシック"/>
              </a:rPr>
              <a:t>C depends on the architecture</a:t>
            </a:r>
            <a:endParaRPr lang="it-IT" sz="1500" b="0" u="none" strike="noStrike">
              <a:solidFill>
                <a:srgbClr val="000000"/>
              </a:solidFill>
              <a:effectLst/>
              <a:uFillTx/>
              <a:latin typeface="Arial"/>
            </a:endParaRPr>
          </a:p>
        </p:txBody>
      </p:sp>
      <p:sp>
        <p:nvSpPr>
          <p:cNvPr id="259" name="Rettangolo con angoli arrotondati 11"/>
          <p:cNvSpPr/>
          <p:nvPr/>
        </p:nvSpPr>
        <p:spPr>
          <a:xfrm>
            <a:off x="5477760" y="1440000"/>
            <a:ext cx="1870920" cy="790560"/>
          </a:xfrm>
          <a:prstGeom prst="roundRect">
            <a:avLst>
              <a:gd name="adj" fmla="val 16667"/>
            </a:avLst>
          </a:prstGeom>
          <a:solidFill>
            <a:srgbClr val="790022"/>
          </a:solidFill>
          <a:ln w="0">
            <a:noFill/>
          </a:ln>
        </p:spPr>
        <p:style>
          <a:lnRef idx="0"/>
          <a:fillRef idx="0"/>
          <a:effectRef idx="0"/>
          <a:fontRef idx="minor"/>
        </p:style>
        <p:txBody>
          <a:bodyPr numCol="1" spcCol="0" lIns="90000" rIns="90000" tIns="45000" bIns="45000" anchor="t">
            <a:noAutofit/>
          </a:bodyPr>
          <a:p>
            <a:pPr>
              <a:lnSpc>
                <a:spcPct val="100000"/>
              </a:lnSpc>
            </a:pPr>
            <a:endParaRPr lang="it-IT" sz="1800" b="0" u="none" strike="noStrike">
              <a:solidFill>
                <a:schemeClr val="dk1"/>
              </a:solidFill>
              <a:effectLst/>
              <a:uFillTx/>
              <a:latin typeface="Arial"/>
              <a:ea typeface="ＭＳ Ｐゴシック"/>
            </a:endParaRPr>
          </a:p>
        </p:txBody>
      </p:sp>
      <p:sp>
        <p:nvSpPr>
          <p:cNvPr id="260" name="Titolo 2"/>
          <p:cNvSpPr/>
          <p:nvPr/>
        </p:nvSpPr>
        <p:spPr>
          <a:xfrm>
            <a:off x="5477760" y="1473480"/>
            <a:ext cx="187092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pPr>
            <a:r>
              <a:rPr lang="it-IT" sz="2000" b="0" u="none" strike="noStrike">
                <a:solidFill>
                  <a:schemeClr val="lt1"/>
                </a:solidFill>
                <a:effectLst/>
                <a:uFillTx/>
                <a:latin typeface="Arial"/>
                <a:ea typeface="ＭＳ Ｐゴシック"/>
              </a:rPr>
              <a:t>σ parameter</a:t>
            </a:r>
            <a:endParaRPr lang="it-IT" sz="2000" b="0" u="none" strike="noStrike">
              <a:solidFill>
                <a:srgbClr val="000000"/>
              </a:solidFill>
              <a:effectLst/>
              <a:uFillTx/>
              <a:latin typeface="Arial"/>
            </a:endParaRPr>
          </a:p>
        </p:txBody>
      </p:sp>
      <p:sp>
        <p:nvSpPr>
          <p:cNvPr id="261" name="Rettangolo con angoli arrotondati 12"/>
          <p:cNvSpPr/>
          <p:nvPr/>
        </p:nvSpPr>
        <p:spPr>
          <a:xfrm>
            <a:off x="5477760" y="1853640"/>
            <a:ext cx="1870920" cy="2193840"/>
          </a:xfrm>
          <a:prstGeom prst="roundRect">
            <a:avLst>
              <a:gd name="adj" fmla="val 16667"/>
            </a:avLst>
          </a:prstGeom>
          <a:solidFill>
            <a:srgbClr val="790022">
              <a:alpha val="9000"/>
            </a:srgbClr>
          </a:solidFill>
          <a:ln w="0">
            <a:solidFill>
              <a:srgbClr val="790022"/>
            </a:solidFill>
          </a:ln>
        </p:spPr>
        <p:style>
          <a:lnRef idx="0"/>
          <a:fillRef idx="0"/>
          <a:effectRef idx="0"/>
          <a:fontRef idx="minor"/>
        </p:style>
        <p:txBody>
          <a:bodyPr numCol="1" spcCol="0" lIns="90000" rIns="90000" tIns="45000" bIns="45000" anchor="ctr">
            <a:noAutofit/>
          </a:bodyPr>
          <a:p>
            <a:pPr>
              <a:lnSpc>
                <a:spcPct val="100000"/>
              </a:lnSpc>
            </a:pPr>
            <a:endParaRPr lang="it-IT" sz="2000" b="0" u="none" strike="noStrike">
              <a:solidFill>
                <a:srgbClr val="000000"/>
              </a:solidFill>
              <a:effectLst/>
              <a:uFillTx/>
              <a:latin typeface="Arial"/>
              <a:ea typeface="ＭＳ Ｐゴシック"/>
            </a:endParaRPr>
          </a:p>
        </p:txBody>
      </p:sp>
      <p:sp>
        <p:nvSpPr>
          <p:cNvPr id="262" name="CasellaDiTesto 25"/>
          <p:cNvSpPr/>
          <p:nvPr/>
        </p:nvSpPr>
        <p:spPr>
          <a:xfrm>
            <a:off x="5348880" y="2428200"/>
            <a:ext cx="2030400" cy="1461240"/>
          </a:xfrm>
          <a:prstGeom prst="rect">
            <a:avLst/>
          </a:prstGeom>
          <a:noFill/>
          <a:ln w="0">
            <a:noFill/>
          </a:ln>
        </p:spPr>
        <p:style>
          <a:lnRef idx="0"/>
          <a:fillRef idx="0"/>
          <a:effectRef idx="0"/>
          <a:fontRef idx="minor"/>
        </p:style>
        <p:txBody>
          <a:bodyPr lIns="90000" rIns="90000" tIns="45000" bIns="45000" anchor="t">
            <a:spAutoFit/>
          </a:bodyPr>
          <a:p>
            <a:pPr marL="432000" lvl="1" indent="-216000" algn="just" defTabSz="457200">
              <a:lnSpc>
                <a:spcPct val="100000"/>
              </a:lnSpc>
              <a:buClr>
                <a:srgbClr val="000000"/>
              </a:buClr>
              <a:buSzPct val="45000"/>
              <a:buFont typeface="Wingdings" charset="2"/>
              <a:buChar char=""/>
            </a:pPr>
            <a:r>
              <a:rPr lang="it-IT" sz="1500" b="0" u="none" strike="noStrike">
                <a:solidFill>
                  <a:srgbClr val="000000"/>
                </a:solidFill>
                <a:effectLst/>
                <a:uFillTx/>
                <a:latin typeface="Arial"/>
                <a:ea typeface="ＭＳ Ｐゴシック"/>
              </a:rPr>
              <a:t>Sorting scope</a:t>
            </a:r>
            <a:endParaRPr lang="it-IT" sz="1500" b="0" u="none" strike="noStrike">
              <a:solidFill>
                <a:srgbClr val="000000"/>
              </a:solidFill>
              <a:effectLst/>
              <a:uFillTx/>
              <a:latin typeface="Arial"/>
            </a:endParaRPr>
          </a:p>
          <a:p>
            <a:pPr marL="432000" lvl="1" indent="-216000" algn="just" defTabSz="457200">
              <a:lnSpc>
                <a:spcPct val="100000"/>
              </a:lnSpc>
              <a:buClr>
                <a:srgbClr val="000000"/>
              </a:buClr>
              <a:buSzPct val="45000"/>
              <a:buFont typeface="Wingdings" charset="2"/>
              <a:buChar char=""/>
            </a:pPr>
            <a:r>
              <a:rPr lang="it-IT" sz="1500" b="0" u="none" strike="noStrike">
                <a:solidFill>
                  <a:srgbClr val="000000"/>
                </a:solidFill>
                <a:effectLst/>
                <a:uFillTx/>
                <a:latin typeface="Arial"/>
                <a:ea typeface="ＭＳ Ｐゴシック"/>
              </a:rPr>
              <a:t>It tells us how many rows we are allowed to reorder locally</a:t>
            </a:r>
            <a:endParaRPr lang="it-IT" sz="1500" b="0" u="none" strike="noStrike">
              <a:solidFill>
                <a:srgbClr val="000000"/>
              </a:solidFill>
              <a:effectLst/>
              <a:uFillTx/>
              <a:latin typeface="Arial"/>
            </a:endParaRPr>
          </a:p>
          <a:p>
            <a:pPr algn="just" defTabSz="457200">
              <a:lnSpc>
                <a:spcPct val="100000"/>
              </a:lnSpc>
            </a:pPr>
            <a:endParaRPr lang="it-IT" sz="1500" b="0" u="none" strike="noStrike">
              <a:solidFill>
                <a:srgbClr val="000000"/>
              </a:solidFill>
              <a:effectLst/>
              <a:uFillTx/>
              <a:latin typeface="Arial"/>
            </a:endParaRPr>
          </a:p>
        </p:txBody>
      </p:sp>
      <p:sp>
        <p:nvSpPr>
          <p:cNvPr id="263" name=""/>
          <p:cNvSpPr/>
          <p:nvPr/>
        </p:nvSpPr>
        <p:spPr>
          <a:xfrm>
            <a:off x="360000" y="4320000"/>
            <a:ext cx="8459280" cy="1619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it-IT" sz="1800" b="0" u="none" strike="noStrike">
                <a:solidFill>
                  <a:srgbClr val="000000"/>
                </a:solidFill>
                <a:effectLst/>
                <a:uFillTx/>
                <a:latin typeface="Arial"/>
                <a:ea typeface="ＭＳ Ｐゴシック"/>
              </a:rPr>
              <a:t>Uses:</a:t>
            </a:r>
            <a:endParaRPr lang="it-IT"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500" b="1" u="none" strike="noStrike">
                <a:solidFill>
                  <a:srgbClr val="822433"/>
                </a:solidFill>
                <a:effectLst/>
                <a:uFillTx/>
                <a:latin typeface="Arial"/>
                <a:ea typeface="ＭＳ Ｐゴシック"/>
              </a:rPr>
              <a:t>val[]</a:t>
            </a:r>
            <a:r>
              <a:rPr lang="it-IT" sz="1800" b="0" u="none" strike="noStrike">
                <a:solidFill>
                  <a:srgbClr val="000000"/>
                </a:solidFill>
                <a:effectLst/>
                <a:uFillTx/>
                <a:latin typeface="Arial"/>
                <a:ea typeface="ＭＳ Ｐゴシック"/>
              </a:rPr>
              <a:t> and </a:t>
            </a:r>
            <a:r>
              <a:rPr lang="en-US" sz="1500" b="1" u="none" strike="noStrike">
                <a:solidFill>
                  <a:srgbClr val="822433"/>
                </a:solidFill>
                <a:effectLst/>
                <a:uFillTx/>
                <a:latin typeface="Arial"/>
                <a:ea typeface="ＭＳ Ｐゴシック"/>
              </a:rPr>
              <a:t>col[]</a:t>
            </a:r>
            <a:r>
              <a:rPr lang="it-IT" sz="1800" b="0" u="none" strike="noStrike">
                <a:solidFill>
                  <a:srgbClr val="000000"/>
                </a:solidFill>
                <a:effectLst/>
                <a:uFillTx/>
                <a:latin typeface="Arial"/>
                <a:ea typeface="ＭＳ Ｐゴシック"/>
              </a:rPr>
              <a:t> as in ELL</a:t>
            </a:r>
            <a:endParaRPr lang="it-IT"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500" b="1" u="none" strike="noStrike">
                <a:solidFill>
                  <a:srgbClr val="822433"/>
                </a:solidFill>
                <a:effectLst/>
                <a:uFillTx/>
                <a:latin typeface="Arial"/>
                <a:ea typeface="ＭＳ Ｐゴシック"/>
              </a:rPr>
              <a:t>cs[]</a:t>
            </a:r>
            <a:r>
              <a:rPr lang="it-IT" sz="1800" b="0" u="none" strike="noStrike">
                <a:solidFill>
                  <a:srgbClr val="000000"/>
                </a:solidFill>
                <a:effectLst/>
                <a:uFillTx/>
                <a:latin typeface="Arial"/>
                <a:ea typeface="ＭＳ Ｐゴシック"/>
              </a:rPr>
              <a:t> to store the starting offset of each chunk</a:t>
            </a:r>
            <a:endParaRPr lang="it-IT"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500" b="1" u="none" strike="noStrike">
                <a:solidFill>
                  <a:srgbClr val="822433"/>
                </a:solidFill>
                <a:effectLst/>
                <a:uFillTx/>
                <a:latin typeface="Arial"/>
                <a:ea typeface="ＭＳ Ｐゴシック"/>
              </a:rPr>
              <a:t>cl[]</a:t>
            </a:r>
            <a:r>
              <a:rPr lang="it-IT" sz="1800" b="0" u="none" strike="noStrike">
                <a:solidFill>
                  <a:srgbClr val="000000"/>
                </a:solidFill>
                <a:effectLst/>
                <a:uFillTx/>
                <a:latin typeface="Arial"/>
                <a:ea typeface="ＭＳ Ｐゴシック"/>
              </a:rPr>
              <a:t> to store the length of the longest row in the chunk (the width of the chunk), so that </a:t>
            </a:r>
            <a:r>
              <a:rPr lang="it-IT" sz="1800" b="1" i="1" u="none" strike="noStrike">
                <a:solidFill>
                  <a:srgbClr val="000000"/>
                </a:solidFill>
                <a:effectLst/>
                <a:uFillTx/>
                <a:latin typeface="Arial"/>
                <a:ea typeface="ＭＳ Ｐゴシック"/>
              </a:rPr>
              <a:t>cl[i] = (cs[i+1] – cs[i]) / C</a:t>
            </a: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ftr" idx="56"/>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265" name="PlaceHolder 2"/>
          <p:cNvSpPr>
            <a:spLocks noGrp="1"/>
          </p:cNvSpPr>
          <p:nvPr>
            <p:ph type="dt" idx="57"/>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266" name="Rettangolo 40"/>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267" name="Segnaposto numero diapositiva 30"/>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9</a:t>
            </a:r>
            <a:endParaRPr lang="it-IT" sz="1100" b="0" u="none" strike="noStrike">
              <a:solidFill>
                <a:srgbClr val="000000"/>
              </a:solidFill>
              <a:effectLst/>
              <a:uFillTx/>
              <a:latin typeface="Arial"/>
            </a:endParaRPr>
          </a:p>
        </p:txBody>
      </p:sp>
      <p:sp>
        <p:nvSpPr>
          <p:cNvPr id="268" name="Rectangle 17"/>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Chunk Occupancy β </a:t>
            </a:r>
            <a:endParaRPr lang="it-IT" sz="2400" b="0" u="none" strike="noStrike">
              <a:solidFill>
                <a:srgbClr val="000000"/>
              </a:solidFill>
              <a:effectLst/>
              <a:uFillTx/>
              <a:latin typeface="Arial"/>
            </a:endParaRPr>
          </a:p>
        </p:txBody>
      </p:sp>
      <p:sp>
        <p:nvSpPr>
          <p:cNvPr id="269" name="CasellaDiTesto 56"/>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270" name=""/>
          <p:cNvSpPr/>
          <p:nvPr/>
        </p:nvSpPr>
        <p:spPr>
          <a:xfrm>
            <a:off x="3240000" y="3082680"/>
            <a:ext cx="28789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271" name=""/>
          <p:cNvSpPr/>
          <p:nvPr/>
        </p:nvSpPr>
        <p:spPr>
          <a:xfrm>
            <a:off x="900000" y="3420000"/>
            <a:ext cx="7558920" cy="11941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spcBef>
                <a:spcPts val="57"/>
              </a:spcBef>
            </a:pPr>
            <a:r>
              <a:rPr lang="en-US" sz="1800" b="0" u="none" strike="noStrike">
                <a:solidFill>
                  <a:srgbClr val="000000"/>
                </a:solidFill>
                <a:effectLst/>
                <a:uFillTx/>
                <a:latin typeface="Arial"/>
                <a:ea typeface="Microsoft YaHei"/>
              </a:rPr>
              <a:t>When</a:t>
            </a:r>
            <a:r>
              <a:rPr lang="en-US" sz="1000" b="0" u="none" strike="noStrike">
                <a:solidFill>
                  <a:srgbClr val="000000"/>
                </a:solidFill>
                <a:effectLst/>
                <a:uFillTx/>
                <a:latin typeface="Arial"/>
                <a:ea typeface="Microsoft YaHei"/>
              </a:rPr>
              <a:t> </a:t>
            </a:r>
            <a:r>
              <a:rPr lang="en-US" sz="1800" b="0" u="none" strike="noStrike">
                <a:solidFill>
                  <a:srgbClr val="000000"/>
                </a:solidFill>
                <a:effectLst/>
                <a:uFillTx/>
                <a:latin typeface="Arial"/>
                <a:ea typeface="ＭＳ Ｐゴシック"/>
              </a:rPr>
              <a:t>β</a:t>
            </a:r>
            <a:r>
              <a:rPr lang="en-US" sz="1800" b="0" u="none" strike="noStrike">
                <a:solidFill>
                  <a:srgbClr val="000000"/>
                </a:solidFill>
                <a:effectLst/>
                <a:uFillTx/>
                <a:latin typeface="Arial"/>
                <a:ea typeface="Microsoft YaHei"/>
              </a:rPr>
              <a:t> is close to 1, all the stored elements are meaningful elements. Best case: all rows in a chunk have similar length.</a:t>
            </a:r>
            <a:endParaRPr lang="it-IT" sz="1800" b="0" u="none" strike="noStrike">
              <a:solidFill>
                <a:srgbClr val="000000"/>
              </a:solidFill>
              <a:effectLst/>
              <a:uFillTx/>
              <a:latin typeface="Arial"/>
            </a:endParaRPr>
          </a:p>
          <a:p>
            <a:pPr algn="just">
              <a:lnSpc>
                <a:spcPct val="100000"/>
              </a:lnSpc>
              <a:spcBef>
                <a:spcPts val="57"/>
              </a:spcBef>
            </a:pPr>
            <a:r>
              <a:rPr lang="en-US" sz="1800" b="0" u="none" strike="noStrike">
                <a:solidFill>
                  <a:srgbClr val="000000"/>
                </a:solidFill>
                <a:effectLst/>
                <a:uFillTx/>
                <a:latin typeface="Arial"/>
                <a:ea typeface="Microsoft YaHei"/>
              </a:rPr>
              <a:t>When β is small, we have too much padding. Worst case: one single long row, many very short</a:t>
            </a:r>
            <a:endParaRPr lang="it-IT" sz="1800" b="0" u="none" strike="noStrike">
              <a:solidFill>
                <a:srgbClr val="000000"/>
              </a:solidFill>
              <a:effectLst/>
              <a:uFillTx/>
              <a:latin typeface="Arial"/>
            </a:endParaRPr>
          </a:p>
        </p:txBody>
      </p:sp>
      <p:sp>
        <p:nvSpPr>
          <p:cNvPr id="272" name=""/>
          <p:cNvSpPr/>
          <p:nvPr/>
        </p:nvSpPr>
        <p:spPr>
          <a:xfrm>
            <a:off x="4488840" y="3260520"/>
            <a:ext cx="180000" cy="231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it-IT" sz="1000" b="0" u="none" strike="noStrike">
              <a:solidFill>
                <a:srgbClr val="000000"/>
              </a:solidFill>
              <a:effectLst/>
              <a:uFillTx/>
              <a:latin typeface="Arial"/>
              <a:ea typeface="ＭＳ Ｐゴシック"/>
            </a:endParaRPr>
          </a:p>
        </p:txBody>
      </p:sp>
      <p:pic>
        <p:nvPicPr>
          <p:cNvPr id="273" name=""/>
          <p:cNvPicPr/>
          <p:nvPr/>
        </p:nvPicPr>
        <p:blipFill>
          <a:blip r:embed="rId1"/>
          <a:stretch/>
        </p:blipFill>
        <p:spPr>
          <a:xfrm>
            <a:off x="2340000" y="1440000"/>
            <a:ext cx="4499640" cy="1799280"/>
          </a:xfrm>
          <a:prstGeom prst="rect">
            <a:avLst/>
          </a:prstGeom>
          <a:noFill/>
          <a:ln w="0">
            <a:noFill/>
          </a:ln>
        </p:spPr>
      </p:pic>
    </p:spTree>
  </p:cSld>
  <mc:AlternateContent>
    <mc:Choice Requires="p14">
      <p:transition p14:dur="100">
        <p:fade/>
      </p:transition>
    </mc:Choice>
    <mc:Fallback>
      <p:transition>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ftr" idx="58"/>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275" name="PlaceHolder 2"/>
          <p:cNvSpPr>
            <a:spLocks noGrp="1"/>
          </p:cNvSpPr>
          <p:nvPr>
            <p:ph type="dt" idx="59"/>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276" name="Rettangolo 41"/>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277" name="Segnaposto numero diapositiva 31"/>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9</a:t>
            </a:r>
            <a:endParaRPr lang="it-IT" sz="1100" b="0" u="none" strike="noStrike">
              <a:solidFill>
                <a:srgbClr val="000000"/>
              </a:solidFill>
              <a:effectLst/>
              <a:uFillTx/>
              <a:latin typeface="Arial"/>
            </a:endParaRPr>
          </a:p>
        </p:txBody>
      </p:sp>
      <p:sp>
        <p:nvSpPr>
          <p:cNvPr id="278" name="Rectangle 18"/>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Chunk Occupancy β </a:t>
            </a:r>
            <a:endParaRPr lang="it-IT" sz="2400" b="0" u="none" strike="noStrike">
              <a:solidFill>
                <a:srgbClr val="000000"/>
              </a:solidFill>
              <a:effectLst/>
              <a:uFillTx/>
              <a:latin typeface="Arial"/>
            </a:endParaRPr>
          </a:p>
        </p:txBody>
      </p:sp>
      <p:sp>
        <p:nvSpPr>
          <p:cNvPr id="279" name="CasellaDiTesto 57"/>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280" name=""/>
          <p:cNvSpPr/>
          <p:nvPr/>
        </p:nvSpPr>
        <p:spPr>
          <a:xfrm>
            <a:off x="3240000" y="3082680"/>
            <a:ext cx="28789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281" name=""/>
          <p:cNvSpPr/>
          <p:nvPr/>
        </p:nvSpPr>
        <p:spPr>
          <a:xfrm>
            <a:off x="900000" y="3420000"/>
            <a:ext cx="7558920" cy="11934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spcBef>
                <a:spcPts val="57"/>
              </a:spcBef>
            </a:pPr>
            <a:endParaRPr lang="it-IT" sz="1000" b="0" u="none" strike="noStrike">
              <a:solidFill>
                <a:srgbClr val="000000"/>
              </a:solidFill>
              <a:effectLst/>
              <a:uFillTx/>
              <a:latin typeface="Arial"/>
              <a:ea typeface="Microsoft YaHei"/>
            </a:endParaRPr>
          </a:p>
        </p:txBody>
      </p:sp>
      <p:sp>
        <p:nvSpPr>
          <p:cNvPr id="282" name=""/>
          <p:cNvSpPr/>
          <p:nvPr/>
        </p:nvSpPr>
        <p:spPr>
          <a:xfrm>
            <a:off x="4488840" y="3260520"/>
            <a:ext cx="180000" cy="231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it-IT" sz="1000" b="0" u="none" strike="noStrike">
              <a:solidFill>
                <a:srgbClr val="000000"/>
              </a:solidFill>
              <a:effectLst/>
              <a:uFillTx/>
              <a:latin typeface="Arial"/>
              <a:ea typeface="ＭＳ Ｐゴシック"/>
            </a:endParaRPr>
          </a:p>
        </p:txBody>
      </p:sp>
      <p:pic>
        <p:nvPicPr>
          <p:cNvPr id="283" name=""/>
          <p:cNvPicPr/>
          <p:nvPr/>
        </p:nvPicPr>
        <p:blipFill>
          <a:blip r:embed="rId1"/>
          <a:stretch/>
        </p:blipFill>
        <p:spPr>
          <a:xfrm>
            <a:off x="1080000" y="900000"/>
            <a:ext cx="3239280" cy="1295280"/>
          </a:xfrm>
          <a:prstGeom prst="rect">
            <a:avLst/>
          </a:prstGeom>
          <a:noFill/>
          <a:ln w="0">
            <a:noFill/>
          </a:ln>
        </p:spPr>
      </p:pic>
      <p:pic>
        <p:nvPicPr>
          <p:cNvPr id="284" name=""/>
          <p:cNvPicPr/>
          <p:nvPr/>
        </p:nvPicPr>
        <p:blipFill>
          <a:blip r:embed="rId2"/>
          <a:stretch/>
        </p:blipFill>
        <p:spPr>
          <a:xfrm>
            <a:off x="455040" y="2160000"/>
            <a:ext cx="4584240" cy="3239280"/>
          </a:xfrm>
          <a:prstGeom prst="rect">
            <a:avLst/>
          </a:prstGeom>
          <a:noFill/>
          <a:ln w="0">
            <a:noFill/>
          </a:ln>
        </p:spPr>
      </p:pic>
      <p:sp>
        <p:nvSpPr>
          <p:cNvPr id="285" name=""/>
          <p:cNvSpPr/>
          <p:nvPr/>
        </p:nvSpPr>
        <p:spPr>
          <a:xfrm>
            <a:off x="5580000" y="1642680"/>
            <a:ext cx="3239280" cy="50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1191"/>
              </a:spcBef>
              <a:spcAft>
                <a:spcPts val="992"/>
              </a:spcAft>
            </a:pPr>
            <a:r>
              <a:rPr lang="it-IT" sz="1800" b="0" u="none" strike="noStrike">
                <a:solidFill>
                  <a:srgbClr val="000000"/>
                </a:solidFill>
                <a:effectLst/>
                <a:uFillTx/>
                <a:latin typeface="Arial"/>
                <a:ea typeface="Microsoft YaHei"/>
              </a:rPr>
              <a:t>To obtain a good β, it’s important to choose the parameters appropriately.</a:t>
            </a:r>
            <a:endParaRPr lang="it-IT" sz="1800" b="0" u="none" strike="noStrike">
              <a:solidFill>
                <a:srgbClr val="000000"/>
              </a:solidFill>
              <a:effectLst/>
              <a:uFillTx/>
              <a:latin typeface="Arial"/>
            </a:endParaRPr>
          </a:p>
          <a:p>
            <a:pPr defTabSz="457200">
              <a:lnSpc>
                <a:spcPct val="100000"/>
              </a:lnSpc>
              <a:spcBef>
                <a:spcPts val="1191"/>
              </a:spcBef>
              <a:spcAft>
                <a:spcPts val="992"/>
              </a:spcAft>
            </a:pPr>
            <a:r>
              <a:rPr lang="it-IT" sz="1800" b="0" u="none" strike="noStrike">
                <a:solidFill>
                  <a:srgbClr val="000000"/>
                </a:solidFill>
                <a:effectLst/>
                <a:uFillTx/>
                <a:latin typeface="Arial"/>
                <a:ea typeface="Microsoft YaHei"/>
              </a:rPr>
              <a:t>By sorting rows by decreasing length, rows with similar length end up together in the same chunk and padding overhead decreases while chunk occupancy increases instead. BUT too much sorting may hurt RHS locality. That’s why we don’t use </a:t>
            </a:r>
            <a:r>
              <a:rPr lang="it-IT" sz="1800" b="0" i="1" u="sng" strike="noStrike">
                <a:solidFill>
                  <a:srgbClr val="000000"/>
                </a:solidFill>
                <a:effectLst/>
                <a:uFillTx/>
                <a:latin typeface="Arial"/>
                <a:ea typeface="Microsoft YaHei"/>
              </a:rPr>
              <a:t>global</a:t>
            </a:r>
            <a:r>
              <a:rPr lang="it-IT" sz="1800" b="0" u="none" strike="noStrike">
                <a:solidFill>
                  <a:srgbClr val="000000"/>
                </a:solidFill>
                <a:effectLst/>
                <a:uFillTx/>
                <a:latin typeface="Arial"/>
                <a:ea typeface="Microsoft YaHei"/>
              </a:rPr>
              <a:t>, but </a:t>
            </a:r>
            <a:r>
              <a:rPr lang="it-IT" sz="1800" b="0" i="1" u="sng" strike="noStrike">
                <a:solidFill>
                  <a:srgbClr val="000000"/>
                </a:solidFill>
                <a:effectLst/>
                <a:uFillTx/>
                <a:latin typeface="Arial"/>
                <a:ea typeface="Microsoft YaHei"/>
              </a:rPr>
              <a:t>local</a:t>
            </a:r>
            <a:r>
              <a:rPr lang="it-IT" sz="1800" b="0" u="none" strike="noStrike">
                <a:solidFill>
                  <a:srgbClr val="000000"/>
                </a:solidFill>
                <a:effectLst/>
                <a:uFillTx/>
                <a:latin typeface="Arial"/>
                <a:ea typeface="Microsoft YaHei"/>
              </a:rPr>
              <a:t> sorting inside a smaller group of rows.</a:t>
            </a:r>
            <a:endParaRPr lang="it-IT" sz="1800" b="0" u="none" strike="noStrike">
              <a:solidFill>
                <a:srgbClr val="000000"/>
              </a:solidFill>
              <a:effectLst/>
              <a:uFillTx/>
              <a:latin typeface="Arial"/>
            </a:endParaRPr>
          </a:p>
          <a:p>
            <a:pPr defTabSz="457200">
              <a:lnSpc>
                <a:spcPct val="100000"/>
              </a:lnSpc>
              <a:spcBef>
                <a:spcPts val="1191"/>
              </a:spcBef>
              <a:spcAft>
                <a:spcPts val="992"/>
              </a:spcAft>
            </a:pPr>
            <a:endParaRPr lang="it-IT" sz="1800" b="0" u="none" strike="noStrike">
              <a:solidFill>
                <a:srgbClr val="000000"/>
              </a:solidFill>
              <a:effectLst/>
              <a:uFillTx/>
              <a:latin typeface="Arial"/>
            </a:endParaRPr>
          </a:p>
          <a:p>
            <a:pPr defTabSz="457200">
              <a:lnSpc>
                <a:spcPct val="100000"/>
              </a:lnSpc>
              <a:spcBef>
                <a:spcPts val="1191"/>
              </a:spcBef>
              <a:spcAft>
                <a:spcPts val="992"/>
              </a:spcAft>
            </a:pP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ftr" idx="60"/>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287" name="PlaceHolder 2"/>
          <p:cNvSpPr>
            <a:spLocks noGrp="1"/>
          </p:cNvSpPr>
          <p:nvPr>
            <p:ph type="dt" idx="61"/>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288" name="Rettangolo 42"/>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289" name="Segnaposto numero diapositiva 8"/>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9</a:t>
            </a:r>
            <a:endParaRPr lang="it-IT" sz="1100" b="0" u="none" strike="noStrike">
              <a:solidFill>
                <a:srgbClr val="000000"/>
              </a:solidFill>
              <a:effectLst/>
              <a:uFillTx/>
              <a:latin typeface="Arial"/>
            </a:endParaRPr>
          </a:p>
        </p:txBody>
      </p:sp>
      <p:sp>
        <p:nvSpPr>
          <p:cNvPr id="290" name="Rectangle 19"/>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it-IT" sz="2400" b="1" u="none" strike="noStrike">
                <a:solidFill>
                  <a:srgbClr val="822433"/>
                </a:solidFill>
                <a:effectLst/>
                <a:uFillTx/>
                <a:latin typeface="Arial"/>
                <a:ea typeface="ＭＳ Ｐゴシック"/>
              </a:rPr>
              <a:t>Chunk Occupancy β </a:t>
            </a:r>
            <a:endParaRPr lang="it-IT" sz="2400" b="0" u="none" strike="noStrike">
              <a:solidFill>
                <a:srgbClr val="000000"/>
              </a:solidFill>
              <a:effectLst/>
              <a:uFillTx/>
              <a:latin typeface="Arial"/>
            </a:endParaRPr>
          </a:p>
        </p:txBody>
      </p:sp>
      <p:sp>
        <p:nvSpPr>
          <p:cNvPr id="291" name="CasellaDiTesto 11"/>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292" name=""/>
          <p:cNvSpPr/>
          <p:nvPr/>
        </p:nvSpPr>
        <p:spPr>
          <a:xfrm>
            <a:off x="3240000" y="3082680"/>
            <a:ext cx="28789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293" name=""/>
          <p:cNvSpPr/>
          <p:nvPr/>
        </p:nvSpPr>
        <p:spPr>
          <a:xfrm>
            <a:off x="900000" y="3420000"/>
            <a:ext cx="7558920" cy="1193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it-IT" sz="1000" b="0" u="none" strike="noStrike">
              <a:solidFill>
                <a:srgbClr val="000000"/>
              </a:solidFill>
              <a:effectLst/>
              <a:uFillTx/>
              <a:latin typeface="Arial"/>
              <a:ea typeface="Microsoft YaHei"/>
            </a:endParaRPr>
          </a:p>
        </p:txBody>
      </p:sp>
      <p:sp>
        <p:nvSpPr>
          <p:cNvPr id="294" name=""/>
          <p:cNvSpPr/>
          <p:nvPr/>
        </p:nvSpPr>
        <p:spPr>
          <a:xfrm>
            <a:off x="4488840" y="3260520"/>
            <a:ext cx="180000" cy="231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it-IT" sz="1000" b="0" u="none" strike="noStrike">
              <a:solidFill>
                <a:srgbClr val="000000"/>
              </a:solidFill>
              <a:effectLst/>
              <a:uFillTx/>
              <a:latin typeface="Arial"/>
              <a:ea typeface="ＭＳ Ｐゴシック"/>
            </a:endParaRPr>
          </a:p>
        </p:txBody>
      </p:sp>
      <p:pic>
        <p:nvPicPr>
          <p:cNvPr id="295" name=""/>
          <p:cNvPicPr/>
          <p:nvPr/>
        </p:nvPicPr>
        <p:blipFill>
          <a:blip r:embed="rId1"/>
          <a:stretch/>
        </p:blipFill>
        <p:spPr>
          <a:xfrm>
            <a:off x="1080000" y="900000"/>
            <a:ext cx="3239280" cy="1295280"/>
          </a:xfrm>
          <a:prstGeom prst="rect">
            <a:avLst/>
          </a:prstGeom>
          <a:noFill/>
          <a:ln w="0">
            <a:noFill/>
          </a:ln>
        </p:spPr>
      </p:pic>
      <p:pic>
        <p:nvPicPr>
          <p:cNvPr id="296" name=""/>
          <p:cNvPicPr/>
          <p:nvPr/>
        </p:nvPicPr>
        <p:blipFill>
          <a:blip r:embed="rId2"/>
          <a:stretch/>
        </p:blipFill>
        <p:spPr>
          <a:xfrm>
            <a:off x="455040" y="2160000"/>
            <a:ext cx="4584240" cy="3239280"/>
          </a:xfrm>
          <a:prstGeom prst="rect">
            <a:avLst/>
          </a:prstGeom>
          <a:noFill/>
          <a:ln w="0">
            <a:noFill/>
          </a:ln>
        </p:spPr>
      </p:pic>
      <p:sp>
        <p:nvSpPr>
          <p:cNvPr id="297" name=""/>
          <p:cNvSpPr/>
          <p:nvPr/>
        </p:nvSpPr>
        <p:spPr>
          <a:xfrm>
            <a:off x="5580000" y="797400"/>
            <a:ext cx="3239280" cy="4781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1191"/>
              </a:spcBef>
              <a:spcAft>
                <a:spcPts val="992"/>
              </a:spcAft>
            </a:pPr>
            <a:endParaRPr lang="it-IT" sz="1800" b="0" u="none" strike="noStrike">
              <a:solidFill>
                <a:srgbClr val="000000"/>
              </a:solidFill>
              <a:effectLst/>
              <a:uFillTx/>
              <a:latin typeface="Arial"/>
            </a:endParaRPr>
          </a:p>
          <a:p>
            <a:pPr defTabSz="457200">
              <a:lnSpc>
                <a:spcPct val="100000"/>
              </a:lnSpc>
              <a:spcBef>
                <a:spcPts val="1191"/>
              </a:spcBef>
              <a:spcAft>
                <a:spcPts val="992"/>
              </a:spcAft>
            </a:pPr>
            <a:endParaRPr lang="it-IT" sz="1800" b="0" u="none" strike="noStrike">
              <a:solidFill>
                <a:srgbClr val="000000"/>
              </a:solidFill>
              <a:effectLst/>
              <a:uFillTx/>
              <a:latin typeface="Arial"/>
            </a:endParaRPr>
          </a:p>
          <a:p>
            <a:pPr defTabSz="457200">
              <a:lnSpc>
                <a:spcPct val="100000"/>
              </a:lnSpc>
              <a:spcBef>
                <a:spcPts val="1191"/>
              </a:spcBef>
              <a:spcAft>
                <a:spcPts val="992"/>
              </a:spcAft>
            </a:pPr>
            <a:r>
              <a:rPr lang="it-IT" sz="1800" b="0" u="none" strike="noStrike">
                <a:solidFill>
                  <a:srgbClr val="000000"/>
                </a:solidFill>
                <a:effectLst/>
                <a:uFillTx/>
                <a:latin typeface="Arial"/>
                <a:ea typeface="ＭＳ Ｐゴシック"/>
              </a:rPr>
              <a:t>On GPUs, SELL-C-σ has an extra advantage: each thread can stop when the actual row ends, without processing the padded zeros. </a:t>
            </a:r>
            <a:endParaRPr lang="it-IT" sz="1800" b="0" u="none" strike="noStrike">
              <a:solidFill>
                <a:srgbClr val="000000"/>
              </a:solidFill>
              <a:effectLst/>
              <a:uFillTx/>
              <a:latin typeface="Arial"/>
            </a:endParaRPr>
          </a:p>
          <a:p>
            <a:pPr defTabSz="457200">
              <a:lnSpc>
                <a:spcPct val="100000"/>
              </a:lnSpc>
              <a:spcBef>
                <a:spcPts val="1191"/>
              </a:spcBef>
              <a:spcAft>
                <a:spcPts val="992"/>
              </a:spcAft>
            </a:pPr>
            <a:r>
              <a:rPr lang="it-IT" sz="1800" b="0" u="none" strike="noStrike">
                <a:solidFill>
                  <a:srgbClr val="000000"/>
                </a:solidFill>
                <a:effectLst/>
                <a:uFillTx/>
                <a:latin typeface="Arial"/>
                <a:ea typeface="ＭＳ Ｐゴシック"/>
              </a:rPr>
              <a:t>However, threads in the same warp still need to wait for the slowest thread, So low β still hurts performance, even if explicit zero loads are avoided.</a:t>
            </a:r>
            <a:endParaRPr lang="it-IT" sz="1800" b="0" u="none" strike="noStrike">
              <a:solidFill>
                <a:srgbClr val="000000"/>
              </a:solidFill>
              <a:effectLst/>
              <a:uFillTx/>
              <a:latin typeface="Arial"/>
            </a:endParaRPr>
          </a:p>
          <a:p>
            <a:pPr defTabSz="457200">
              <a:lnSpc>
                <a:spcPct val="100000"/>
              </a:lnSpc>
              <a:spcBef>
                <a:spcPts val="1191"/>
              </a:spcBef>
              <a:spcAft>
                <a:spcPts val="992"/>
              </a:spcAft>
            </a:pP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ftr" idx="62"/>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299" name="PlaceHolder 2"/>
          <p:cNvSpPr>
            <a:spLocks noGrp="1"/>
          </p:cNvSpPr>
          <p:nvPr>
            <p:ph type="dt" idx="63"/>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300" name="Rettangolo 28"/>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301" name="Segnaposto numero diapositiva 16"/>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10</a:t>
            </a:r>
            <a:endParaRPr lang="it-IT" sz="1100" b="0" u="none" strike="noStrike">
              <a:solidFill>
                <a:srgbClr val="000000"/>
              </a:solidFill>
              <a:effectLst/>
              <a:uFillTx/>
              <a:latin typeface="Arial"/>
            </a:endParaRPr>
          </a:p>
        </p:txBody>
      </p:sp>
      <p:sp>
        <p:nvSpPr>
          <p:cNvPr id="302" name="Rectangle 66"/>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en-US" sz="2400" b="1" u="none" strike="noStrike">
                <a:solidFill>
                  <a:srgbClr val="822433"/>
                </a:solidFill>
                <a:effectLst/>
                <a:uFillTx/>
                <a:latin typeface="Arial"/>
                <a:ea typeface="ＭＳ Ｐゴシック"/>
              </a:rPr>
              <a:t>Performance Model</a:t>
            </a:r>
            <a:endParaRPr lang="it-IT" sz="2400" b="0" u="none" strike="noStrike">
              <a:solidFill>
                <a:srgbClr val="000000"/>
              </a:solidFill>
              <a:effectLst/>
              <a:uFillTx/>
              <a:latin typeface="Arial"/>
            </a:endParaRPr>
          </a:p>
        </p:txBody>
      </p:sp>
      <p:sp>
        <p:nvSpPr>
          <p:cNvPr id="303" name="CasellaDiTesto 39"/>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304" name=""/>
          <p:cNvSpPr/>
          <p:nvPr/>
        </p:nvSpPr>
        <p:spPr>
          <a:xfrm>
            <a:off x="3240000" y="3082680"/>
            <a:ext cx="2878920" cy="35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305" name=""/>
          <p:cNvSpPr/>
          <p:nvPr/>
        </p:nvSpPr>
        <p:spPr>
          <a:xfrm>
            <a:off x="1800000" y="1620000"/>
            <a:ext cx="6658920" cy="1703880"/>
          </a:xfrm>
          <a:prstGeom prst="rect">
            <a:avLst/>
          </a:prstGeom>
          <a:noFill/>
          <a:ln w="0">
            <a:noFill/>
          </a:ln>
        </p:spPr>
        <p:style>
          <a:lnRef idx="0"/>
          <a:fillRef idx="0"/>
          <a:effectRef idx="0"/>
          <a:fontRef idx="minor"/>
        </p:style>
        <p:txBody>
          <a:bodyPr lIns="0" rIns="0" tIns="0" bIns="0" anchor="t">
            <a:spAutoFit/>
          </a:bodyPr>
          <a:p>
            <a:pPr marL="216000" indent="-216000" algn="just">
              <a:lnSpc>
                <a:spcPct val="100000"/>
              </a:lnSpc>
              <a:spcBef>
                <a:spcPts val="340"/>
              </a:spcBef>
              <a:spcAft>
                <a:spcPts val="142"/>
              </a:spcAft>
              <a:buClr>
                <a:srgbClr val="000000"/>
              </a:buClr>
              <a:buSzPct val="45000"/>
              <a:buFont typeface="Wingdings" charset="2"/>
              <a:buChar char=""/>
            </a:pPr>
            <a:r>
              <a:rPr lang="en-US" sz="1800" b="0" u="none" strike="noStrike">
                <a:solidFill>
                  <a:srgbClr val="000000"/>
                </a:solidFill>
                <a:effectLst/>
                <a:uFillTx/>
                <a:latin typeface="Arial"/>
                <a:ea typeface="ＭＳ Ｐゴシック"/>
              </a:rPr>
              <a:t>SpMVM is memory-bound, thus performance depends on:</a:t>
            </a:r>
            <a:endParaRPr lang="it-IT" sz="1800" b="0" u="none" strike="noStrike">
              <a:solidFill>
                <a:srgbClr val="000000"/>
              </a:solidFill>
              <a:effectLst/>
              <a:uFillTx/>
              <a:latin typeface="Arial"/>
            </a:endParaRPr>
          </a:p>
          <a:p>
            <a:pPr marL="216000" indent="-216000" algn="just">
              <a:lnSpc>
                <a:spcPct val="100000"/>
              </a:lnSpc>
              <a:spcBef>
                <a:spcPts val="340"/>
              </a:spcBef>
              <a:spcAft>
                <a:spcPts val="142"/>
              </a:spcAft>
              <a:buClr>
                <a:srgbClr val="000000"/>
              </a:buClr>
              <a:buSzPct val="45000"/>
              <a:buFont typeface="Wingdings" charset="2"/>
              <a:buChar char=""/>
            </a:pPr>
            <a:r>
              <a:rPr lang="en-US" sz="1800" b="0" u="none" strike="noStrike">
                <a:solidFill>
                  <a:srgbClr val="000000"/>
                </a:solidFill>
                <a:effectLst/>
                <a:uFillTx/>
                <a:latin typeface="Arial"/>
                <a:ea typeface="ＭＳ Ｐゴシック"/>
              </a:rPr>
              <a:t>Memory bandwidth</a:t>
            </a:r>
            <a:endParaRPr lang="it-IT" sz="1800" b="0" u="none" strike="noStrike">
              <a:solidFill>
                <a:srgbClr val="000000"/>
              </a:solidFill>
              <a:effectLst/>
              <a:uFillTx/>
              <a:latin typeface="Arial"/>
            </a:endParaRPr>
          </a:p>
          <a:p>
            <a:pPr marL="216000" indent="-216000" algn="just">
              <a:lnSpc>
                <a:spcPct val="100000"/>
              </a:lnSpc>
              <a:spcBef>
                <a:spcPts val="624"/>
              </a:spcBef>
              <a:spcAft>
                <a:spcPts val="425"/>
              </a:spcAft>
              <a:buClr>
                <a:srgbClr val="000000"/>
              </a:buClr>
              <a:buSzPct val="45000"/>
              <a:buFont typeface="Wingdings" charset="2"/>
              <a:buChar char=""/>
            </a:pPr>
            <a:r>
              <a:rPr lang="en-US" sz="1800" b="0" u="none" strike="noStrike">
                <a:solidFill>
                  <a:srgbClr val="000000"/>
                </a:solidFill>
                <a:effectLst/>
                <a:uFillTx/>
                <a:latin typeface="Arial"/>
                <a:ea typeface="ＭＳ Ｐゴシック"/>
              </a:rPr>
              <a:t>RHS locality α</a:t>
            </a:r>
            <a:endParaRPr lang="it-IT" sz="1800" b="0" u="none" strike="noStrike">
              <a:solidFill>
                <a:srgbClr val="000000"/>
              </a:solidFill>
              <a:effectLst/>
              <a:uFillTx/>
              <a:latin typeface="Arial"/>
            </a:endParaRPr>
          </a:p>
          <a:p>
            <a:pPr marL="216000" indent="-216000" algn="just">
              <a:lnSpc>
                <a:spcPct val="100000"/>
              </a:lnSpc>
              <a:spcBef>
                <a:spcPts val="624"/>
              </a:spcBef>
              <a:spcAft>
                <a:spcPts val="425"/>
              </a:spcAft>
              <a:buClr>
                <a:srgbClr val="000000"/>
              </a:buClr>
              <a:buSzPct val="45000"/>
              <a:buFont typeface="Wingdings" charset="2"/>
              <a:buChar char=""/>
            </a:pPr>
            <a:r>
              <a:rPr lang="en-US" sz="1800" b="0" u="none" strike="noStrike">
                <a:solidFill>
                  <a:srgbClr val="000000"/>
                </a:solidFill>
                <a:effectLst/>
                <a:uFillTx/>
                <a:latin typeface="Arial"/>
                <a:ea typeface="Microsoft YaHei"/>
              </a:rPr>
              <a:t>Chunk occupancy β </a:t>
            </a:r>
            <a:endParaRPr lang="it-IT" sz="1800" b="0" u="none" strike="noStrike">
              <a:solidFill>
                <a:srgbClr val="000000"/>
              </a:solidFill>
              <a:effectLst/>
              <a:uFillTx/>
              <a:latin typeface="Arial"/>
            </a:endParaRPr>
          </a:p>
          <a:p>
            <a:pPr marL="216000" indent="-216000" algn="just">
              <a:lnSpc>
                <a:spcPct val="100000"/>
              </a:lnSpc>
              <a:spcBef>
                <a:spcPts val="624"/>
              </a:spcBef>
              <a:spcAft>
                <a:spcPts val="425"/>
              </a:spcAft>
              <a:buClr>
                <a:srgbClr val="000000"/>
              </a:buClr>
              <a:buSzPct val="45000"/>
              <a:buFont typeface="Wingdings" charset="2"/>
              <a:buChar char=""/>
            </a:pPr>
            <a:r>
              <a:rPr lang="en-US" sz="1800" b="0" u="none" strike="noStrike">
                <a:solidFill>
                  <a:srgbClr val="000000"/>
                </a:solidFill>
                <a:effectLst/>
                <a:uFillTx/>
                <a:latin typeface="Arial"/>
                <a:ea typeface="Microsoft YaHei"/>
              </a:rPr>
              <a:t>Average number of non-zero elements per row</a:t>
            </a: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ftr" idx="64"/>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307" name="PlaceHolder 2"/>
          <p:cNvSpPr>
            <a:spLocks noGrp="1"/>
          </p:cNvSpPr>
          <p:nvPr>
            <p:ph type="dt" idx="65"/>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308" name="Rettangolo 29"/>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309" name="Segnaposto numero diapositiva 17"/>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10</a:t>
            </a:r>
            <a:endParaRPr lang="it-IT" sz="1100" b="0" u="none" strike="noStrike">
              <a:solidFill>
                <a:srgbClr val="000000"/>
              </a:solidFill>
              <a:effectLst/>
              <a:uFillTx/>
              <a:latin typeface="Arial"/>
            </a:endParaRPr>
          </a:p>
        </p:txBody>
      </p:sp>
      <p:sp>
        <p:nvSpPr>
          <p:cNvPr id="310" name="Rectangle 70"/>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en-US" sz="2400" b="1" u="none" strike="noStrike">
                <a:solidFill>
                  <a:srgbClr val="822433"/>
                </a:solidFill>
                <a:effectLst/>
                <a:uFillTx/>
                <a:latin typeface="Arial"/>
                <a:ea typeface="ＭＳ Ｐゴシック"/>
              </a:rPr>
              <a:t>Performance Model</a:t>
            </a:r>
            <a:endParaRPr lang="it-IT" sz="2400" b="0" u="none" strike="noStrike">
              <a:solidFill>
                <a:srgbClr val="000000"/>
              </a:solidFill>
              <a:effectLst/>
              <a:uFillTx/>
              <a:latin typeface="Arial"/>
            </a:endParaRPr>
          </a:p>
        </p:txBody>
      </p:sp>
      <p:sp>
        <p:nvSpPr>
          <p:cNvPr id="311" name="CasellaDiTesto 40"/>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312" name=""/>
          <p:cNvSpPr/>
          <p:nvPr/>
        </p:nvSpPr>
        <p:spPr>
          <a:xfrm>
            <a:off x="3240000" y="3082680"/>
            <a:ext cx="2878920" cy="35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313" name=""/>
          <p:cNvSpPr/>
          <p:nvPr/>
        </p:nvSpPr>
        <p:spPr>
          <a:xfrm>
            <a:off x="1800000" y="1620000"/>
            <a:ext cx="6658920" cy="1703880"/>
          </a:xfrm>
          <a:prstGeom prst="rect">
            <a:avLst/>
          </a:prstGeom>
          <a:noFill/>
          <a:ln w="0">
            <a:noFill/>
          </a:ln>
        </p:spPr>
        <p:style>
          <a:lnRef idx="0"/>
          <a:fillRef idx="0"/>
          <a:effectRef idx="0"/>
          <a:fontRef idx="minor"/>
        </p:style>
        <p:txBody>
          <a:bodyPr lIns="0" rIns="0" tIns="0" bIns="0" anchor="t">
            <a:spAutoFit/>
          </a:bodyPr>
          <a:p>
            <a:pPr marL="216000" indent="-216000" algn="just">
              <a:lnSpc>
                <a:spcPct val="100000"/>
              </a:lnSpc>
              <a:spcBef>
                <a:spcPts val="340"/>
              </a:spcBef>
              <a:spcAft>
                <a:spcPts val="142"/>
              </a:spcAft>
              <a:buClr>
                <a:srgbClr val="000000"/>
              </a:buClr>
              <a:buSzPct val="45000"/>
              <a:buFont typeface="Wingdings" charset="2"/>
              <a:buChar char=""/>
            </a:pPr>
            <a:r>
              <a:rPr lang="en-US" sz="1800" b="0" u="none" strike="noStrike">
                <a:solidFill>
                  <a:srgbClr val="000000"/>
                </a:solidFill>
                <a:effectLst/>
                <a:uFillTx/>
                <a:latin typeface="Arial"/>
                <a:ea typeface="ＭＳ Ｐゴシック"/>
              </a:rPr>
              <a:t>SpMVM is memory-bound, thus performance depends on:</a:t>
            </a:r>
            <a:endParaRPr lang="it-IT" sz="1800" b="0" u="none" strike="noStrike">
              <a:solidFill>
                <a:srgbClr val="000000"/>
              </a:solidFill>
              <a:effectLst/>
              <a:uFillTx/>
              <a:latin typeface="Arial"/>
            </a:endParaRPr>
          </a:p>
          <a:p>
            <a:pPr marL="216000" indent="-216000" algn="just">
              <a:lnSpc>
                <a:spcPct val="100000"/>
              </a:lnSpc>
              <a:spcBef>
                <a:spcPts val="340"/>
              </a:spcBef>
              <a:spcAft>
                <a:spcPts val="142"/>
              </a:spcAft>
              <a:buClr>
                <a:srgbClr val="000000"/>
              </a:buClr>
              <a:buSzPct val="45000"/>
              <a:buFont typeface="Wingdings" charset="2"/>
              <a:buChar char=""/>
            </a:pPr>
            <a:r>
              <a:rPr lang="en-US" sz="1800" b="0" u="none" strike="noStrike">
                <a:solidFill>
                  <a:srgbClr val="000000"/>
                </a:solidFill>
                <a:effectLst/>
                <a:uFillTx/>
                <a:latin typeface="Arial"/>
                <a:ea typeface="ＭＳ Ｐゴシック"/>
              </a:rPr>
              <a:t>Memory bandwidth</a:t>
            </a:r>
            <a:endParaRPr lang="it-IT" sz="1800" b="0" u="none" strike="noStrike">
              <a:solidFill>
                <a:srgbClr val="000000"/>
              </a:solidFill>
              <a:effectLst/>
              <a:uFillTx/>
              <a:latin typeface="Arial"/>
            </a:endParaRPr>
          </a:p>
          <a:p>
            <a:pPr marL="216000" indent="-216000" algn="just">
              <a:lnSpc>
                <a:spcPct val="100000"/>
              </a:lnSpc>
              <a:spcBef>
                <a:spcPts val="624"/>
              </a:spcBef>
              <a:spcAft>
                <a:spcPts val="425"/>
              </a:spcAft>
              <a:buClr>
                <a:srgbClr val="000000"/>
              </a:buClr>
              <a:buSzPct val="45000"/>
              <a:buFont typeface="Wingdings" charset="2"/>
              <a:buChar char=""/>
            </a:pPr>
            <a:r>
              <a:rPr lang="en-US" sz="1800" b="0" u="none" strike="noStrike">
                <a:solidFill>
                  <a:srgbClr val="000000"/>
                </a:solidFill>
                <a:effectLst/>
                <a:uFillTx/>
                <a:latin typeface="Arial"/>
                <a:ea typeface="ＭＳ Ｐゴシック"/>
              </a:rPr>
              <a:t>RHS locality α</a:t>
            </a:r>
            <a:endParaRPr lang="it-IT" sz="1800" b="0" u="none" strike="noStrike">
              <a:solidFill>
                <a:srgbClr val="000000"/>
              </a:solidFill>
              <a:effectLst/>
              <a:uFillTx/>
              <a:latin typeface="Arial"/>
            </a:endParaRPr>
          </a:p>
          <a:p>
            <a:pPr marL="216000" indent="-216000" algn="just">
              <a:lnSpc>
                <a:spcPct val="100000"/>
              </a:lnSpc>
              <a:spcBef>
                <a:spcPts val="624"/>
              </a:spcBef>
              <a:spcAft>
                <a:spcPts val="425"/>
              </a:spcAft>
              <a:buClr>
                <a:srgbClr val="000000"/>
              </a:buClr>
              <a:buSzPct val="45000"/>
              <a:buFont typeface="Wingdings" charset="2"/>
              <a:buChar char=""/>
            </a:pPr>
            <a:r>
              <a:rPr lang="en-US" sz="1800" b="0" u="none" strike="noStrike">
                <a:solidFill>
                  <a:srgbClr val="000000"/>
                </a:solidFill>
                <a:effectLst/>
                <a:uFillTx/>
                <a:latin typeface="Arial"/>
                <a:ea typeface="Microsoft YaHei"/>
              </a:rPr>
              <a:t>Chunk occupancy β </a:t>
            </a:r>
            <a:endParaRPr lang="it-IT" sz="1800" b="0" u="none" strike="noStrike">
              <a:solidFill>
                <a:srgbClr val="000000"/>
              </a:solidFill>
              <a:effectLst/>
              <a:uFillTx/>
              <a:latin typeface="Arial"/>
            </a:endParaRPr>
          </a:p>
          <a:p>
            <a:pPr marL="216000" indent="-216000" algn="just">
              <a:lnSpc>
                <a:spcPct val="100000"/>
              </a:lnSpc>
              <a:spcBef>
                <a:spcPts val="624"/>
              </a:spcBef>
              <a:spcAft>
                <a:spcPts val="425"/>
              </a:spcAft>
              <a:buClr>
                <a:srgbClr val="000000"/>
              </a:buClr>
              <a:buSzPct val="45000"/>
              <a:buFont typeface="Wingdings" charset="2"/>
              <a:buChar char=""/>
            </a:pPr>
            <a:r>
              <a:rPr lang="en-US" sz="1800" b="0" u="none" strike="noStrike">
                <a:solidFill>
                  <a:srgbClr val="000000"/>
                </a:solidFill>
                <a:effectLst/>
                <a:uFillTx/>
                <a:latin typeface="Arial"/>
                <a:ea typeface="Microsoft YaHei"/>
              </a:rPr>
              <a:t>Average number of non-zero elements per row</a:t>
            </a:r>
            <a:endParaRPr lang="it-IT" sz="1800" b="0" u="none" strike="noStrike">
              <a:solidFill>
                <a:srgbClr val="000000"/>
              </a:solidFill>
              <a:effectLst/>
              <a:uFillTx/>
              <a:latin typeface="Arial"/>
            </a:endParaRPr>
          </a:p>
        </p:txBody>
      </p:sp>
      <p:sp>
        <p:nvSpPr>
          <p:cNvPr id="314" name="Rettangolo con angoli arrotondati 7"/>
          <p:cNvSpPr/>
          <p:nvPr/>
        </p:nvSpPr>
        <p:spPr>
          <a:xfrm>
            <a:off x="1080000" y="3600000"/>
            <a:ext cx="3238920" cy="1078920"/>
          </a:xfrm>
          <a:prstGeom prst="roundRect">
            <a:avLst>
              <a:gd name="adj" fmla="val 16667"/>
            </a:avLst>
          </a:prstGeom>
          <a:solidFill>
            <a:schemeClr val="tx2">
              <a:lumMod val="20000"/>
              <a:lumOff val="80000"/>
            </a:schemeClr>
          </a:solidFill>
          <a:ln>
            <a:solidFill>
              <a:srgbClr val="822433"/>
            </a:solidFill>
          </a:ln>
        </p:spPr>
        <p:style>
          <a:lnRef idx="2">
            <a:schemeClr val="dk1"/>
          </a:lnRef>
          <a:fillRef idx="1">
            <a:schemeClr val="lt1"/>
          </a:fillRef>
          <a:effectRef idx="0">
            <a:schemeClr val="dk1"/>
          </a:effectRef>
          <a:fontRef idx="minor"/>
        </p:style>
        <p:txBody>
          <a:bodyPr numCol="1" spcCol="0" lIns="90000" rIns="90000" tIns="45000" bIns="45000" anchor="t">
            <a:noAutofit/>
          </a:bodyPr>
          <a:p>
            <a:pPr marL="216000" indent="-216000" algn="just" defTabSz="914400">
              <a:lnSpc>
                <a:spcPct val="100000"/>
              </a:lnSpc>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Better locality = smaller α</a:t>
            </a:r>
            <a:endParaRPr lang="it-IT" sz="1800" b="0" u="none" strike="noStrike">
              <a:solidFill>
                <a:srgbClr val="000000"/>
              </a:solidFill>
              <a:effectLst/>
              <a:uFillTx/>
              <a:latin typeface="Arial"/>
            </a:endParaRPr>
          </a:p>
          <a:p>
            <a:pPr marL="216000" indent="-216000" algn="just" defTabSz="914400">
              <a:lnSpc>
                <a:spcPct val="100000"/>
              </a:lnSpc>
              <a:spcBef>
                <a:spcPts val="1191"/>
              </a:spcBef>
              <a:spcAft>
                <a:spcPts val="992"/>
              </a:spcAft>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The smaller the α the better</a:t>
            </a:r>
            <a:endParaRPr lang="it-IT" sz="1800" b="0" u="none" strike="noStrike">
              <a:solidFill>
                <a:srgbClr val="000000"/>
              </a:solidFill>
              <a:effectLst/>
              <a:uFillTx/>
              <a:latin typeface="Arial"/>
            </a:endParaRPr>
          </a:p>
          <a:p>
            <a:pPr algn="just" defTabSz="914400">
              <a:lnSpc>
                <a:spcPct val="100000"/>
              </a:lnSpc>
              <a:tabLst>
                <a:tab algn="l" pos="0"/>
              </a:tabLst>
            </a:pPr>
            <a:endParaRPr lang="it-IT" sz="1800" b="0" u="none" strike="noStrike">
              <a:solidFill>
                <a:srgbClr val="000000"/>
              </a:solidFill>
              <a:effectLst/>
              <a:uFillTx/>
              <a:latin typeface="Arial"/>
            </a:endParaRPr>
          </a:p>
        </p:txBody>
      </p:sp>
      <p:sp>
        <p:nvSpPr>
          <p:cNvPr id="315" name="Rettangolo con angoli arrotondati 8"/>
          <p:cNvSpPr/>
          <p:nvPr/>
        </p:nvSpPr>
        <p:spPr>
          <a:xfrm>
            <a:off x="5040000" y="3600000"/>
            <a:ext cx="3238920" cy="1078920"/>
          </a:xfrm>
          <a:prstGeom prst="roundRect">
            <a:avLst>
              <a:gd name="adj" fmla="val 16667"/>
            </a:avLst>
          </a:prstGeom>
          <a:solidFill>
            <a:schemeClr val="tx2">
              <a:lumMod val="20000"/>
              <a:lumOff val="80000"/>
            </a:schemeClr>
          </a:solidFill>
          <a:ln>
            <a:solidFill>
              <a:srgbClr val="822433"/>
            </a:solidFill>
          </a:ln>
        </p:spPr>
        <p:style>
          <a:lnRef idx="2">
            <a:schemeClr val="dk1"/>
          </a:lnRef>
          <a:fillRef idx="1">
            <a:schemeClr val="lt1"/>
          </a:fillRef>
          <a:effectRef idx="0">
            <a:schemeClr val="dk1"/>
          </a:effectRef>
          <a:fontRef idx="minor"/>
        </p:style>
        <p:txBody>
          <a:bodyPr numCol="1" spcCol="0" lIns="90000" rIns="90000" tIns="45000" bIns="45000" anchor="t">
            <a:noAutofit/>
          </a:bodyPr>
          <a:p>
            <a:pPr marL="216000" indent="-216000" algn="just" defTabSz="914400">
              <a:lnSpc>
                <a:spcPct val="100000"/>
              </a:lnSpc>
              <a:spcBef>
                <a:spcPts val="624"/>
              </a:spcBef>
              <a:spcAft>
                <a:spcPts val="425"/>
              </a:spcAft>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Less padding = larger β</a:t>
            </a:r>
            <a:endParaRPr lang="it-IT" sz="1800" b="0" u="none" strike="noStrike">
              <a:solidFill>
                <a:srgbClr val="000000"/>
              </a:solidFill>
              <a:effectLst/>
              <a:uFillTx/>
              <a:latin typeface="Arial"/>
            </a:endParaRPr>
          </a:p>
          <a:p>
            <a:pPr marL="216000" indent="-216000" algn="just" defTabSz="914400">
              <a:lnSpc>
                <a:spcPct val="100000"/>
              </a:lnSpc>
              <a:spcBef>
                <a:spcPts val="1191"/>
              </a:spcBef>
              <a:spcAft>
                <a:spcPts val="992"/>
              </a:spcAft>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The bigger the β the better</a:t>
            </a:r>
            <a:endParaRPr lang="it-IT" sz="1800" b="0" u="none" strike="noStrike">
              <a:solidFill>
                <a:srgbClr val="000000"/>
              </a:solidFill>
              <a:effectLst/>
              <a:uFillTx/>
              <a:latin typeface="Arial"/>
            </a:endParaRPr>
          </a:p>
          <a:p>
            <a:pPr algn="just" defTabSz="914400">
              <a:lnSpc>
                <a:spcPct val="100000"/>
              </a:lnSpc>
              <a:tabLst>
                <a:tab algn="l" pos="0"/>
              </a:tabLst>
            </a:pP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ftr" idx="66"/>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317" name="PlaceHolder 2"/>
          <p:cNvSpPr>
            <a:spLocks noGrp="1"/>
          </p:cNvSpPr>
          <p:nvPr>
            <p:ph type="dt" idx="67"/>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318" name="Rettangolo 31"/>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319" name="Segnaposto numero diapositiva 19"/>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10</a:t>
            </a:r>
            <a:endParaRPr lang="it-IT" sz="1100" b="0" u="none" strike="noStrike">
              <a:solidFill>
                <a:srgbClr val="000000"/>
              </a:solidFill>
              <a:effectLst/>
              <a:uFillTx/>
              <a:latin typeface="Arial"/>
            </a:endParaRPr>
          </a:p>
        </p:txBody>
      </p:sp>
      <p:sp>
        <p:nvSpPr>
          <p:cNvPr id="320" name="Rectangle 78"/>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en-US" sz="2400" b="1" u="none" strike="noStrike">
                <a:solidFill>
                  <a:srgbClr val="822433"/>
                </a:solidFill>
                <a:effectLst/>
                <a:uFillTx/>
                <a:latin typeface="Arial"/>
                <a:ea typeface="ＭＳ Ｐゴシック"/>
              </a:rPr>
              <a:t>Performance Model</a:t>
            </a:r>
            <a:endParaRPr lang="it-IT" sz="2400" b="0" u="none" strike="noStrike">
              <a:solidFill>
                <a:srgbClr val="000000"/>
              </a:solidFill>
              <a:effectLst/>
              <a:uFillTx/>
              <a:latin typeface="Arial"/>
            </a:endParaRPr>
          </a:p>
        </p:txBody>
      </p:sp>
      <p:sp>
        <p:nvSpPr>
          <p:cNvPr id="321" name="CasellaDiTesto 42"/>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322" name=""/>
          <p:cNvSpPr/>
          <p:nvPr/>
        </p:nvSpPr>
        <p:spPr>
          <a:xfrm>
            <a:off x="3240000" y="3082680"/>
            <a:ext cx="2878920" cy="35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323" name=""/>
          <p:cNvSpPr/>
          <p:nvPr/>
        </p:nvSpPr>
        <p:spPr>
          <a:xfrm>
            <a:off x="1800000" y="1620000"/>
            <a:ext cx="6658920" cy="1703880"/>
          </a:xfrm>
          <a:prstGeom prst="rect">
            <a:avLst/>
          </a:prstGeom>
          <a:noFill/>
          <a:ln w="0">
            <a:noFill/>
          </a:ln>
        </p:spPr>
        <p:style>
          <a:lnRef idx="0"/>
          <a:fillRef idx="0"/>
          <a:effectRef idx="0"/>
          <a:fontRef idx="minor"/>
        </p:style>
        <p:txBody>
          <a:bodyPr lIns="0" rIns="0" tIns="0" bIns="0" anchor="t">
            <a:spAutoFit/>
          </a:bodyPr>
          <a:p>
            <a:pPr marL="216000" indent="-216000" algn="just">
              <a:lnSpc>
                <a:spcPct val="100000"/>
              </a:lnSpc>
              <a:spcBef>
                <a:spcPts val="340"/>
              </a:spcBef>
              <a:spcAft>
                <a:spcPts val="142"/>
              </a:spcAft>
              <a:buClr>
                <a:srgbClr val="000000"/>
              </a:buClr>
              <a:buSzPct val="45000"/>
              <a:buFont typeface="Wingdings" charset="2"/>
              <a:buChar char=""/>
            </a:pPr>
            <a:r>
              <a:rPr lang="en-US" sz="1800" b="0" u="none" strike="noStrike">
                <a:solidFill>
                  <a:srgbClr val="000000"/>
                </a:solidFill>
                <a:effectLst/>
                <a:uFillTx/>
                <a:latin typeface="Arial"/>
                <a:ea typeface="ＭＳ Ｐゴシック"/>
              </a:rPr>
              <a:t>SpMVM is memory-bound, thus performance depends on:</a:t>
            </a:r>
            <a:endParaRPr lang="it-IT" sz="1800" b="0" u="none" strike="noStrike">
              <a:solidFill>
                <a:srgbClr val="000000"/>
              </a:solidFill>
              <a:effectLst/>
              <a:uFillTx/>
              <a:latin typeface="Arial"/>
            </a:endParaRPr>
          </a:p>
          <a:p>
            <a:pPr marL="216000" indent="-216000" algn="just">
              <a:lnSpc>
                <a:spcPct val="100000"/>
              </a:lnSpc>
              <a:spcBef>
                <a:spcPts val="340"/>
              </a:spcBef>
              <a:spcAft>
                <a:spcPts val="142"/>
              </a:spcAft>
              <a:buClr>
                <a:srgbClr val="000000"/>
              </a:buClr>
              <a:buSzPct val="45000"/>
              <a:buFont typeface="Wingdings" charset="2"/>
              <a:buChar char=""/>
            </a:pPr>
            <a:r>
              <a:rPr lang="en-US" sz="1800" b="0" u="none" strike="noStrike">
                <a:solidFill>
                  <a:srgbClr val="000000"/>
                </a:solidFill>
                <a:effectLst/>
                <a:uFillTx/>
                <a:latin typeface="Arial"/>
                <a:ea typeface="ＭＳ Ｐゴシック"/>
              </a:rPr>
              <a:t>Memory bandwidth</a:t>
            </a:r>
            <a:endParaRPr lang="it-IT" sz="1800" b="0" u="none" strike="noStrike">
              <a:solidFill>
                <a:srgbClr val="000000"/>
              </a:solidFill>
              <a:effectLst/>
              <a:uFillTx/>
              <a:latin typeface="Arial"/>
            </a:endParaRPr>
          </a:p>
          <a:p>
            <a:pPr marL="216000" indent="-216000" algn="just">
              <a:lnSpc>
                <a:spcPct val="100000"/>
              </a:lnSpc>
              <a:spcBef>
                <a:spcPts val="624"/>
              </a:spcBef>
              <a:spcAft>
                <a:spcPts val="425"/>
              </a:spcAft>
              <a:buClr>
                <a:srgbClr val="000000"/>
              </a:buClr>
              <a:buSzPct val="45000"/>
              <a:buFont typeface="Wingdings" charset="2"/>
              <a:buChar char=""/>
            </a:pPr>
            <a:r>
              <a:rPr lang="en-US" sz="1800" b="0" u="none" strike="noStrike">
                <a:solidFill>
                  <a:srgbClr val="000000"/>
                </a:solidFill>
                <a:effectLst/>
                <a:uFillTx/>
                <a:latin typeface="Arial"/>
                <a:ea typeface="ＭＳ Ｐゴシック"/>
              </a:rPr>
              <a:t>RHS locality α</a:t>
            </a:r>
            <a:endParaRPr lang="it-IT" sz="1800" b="0" u="none" strike="noStrike">
              <a:solidFill>
                <a:srgbClr val="000000"/>
              </a:solidFill>
              <a:effectLst/>
              <a:uFillTx/>
              <a:latin typeface="Arial"/>
            </a:endParaRPr>
          </a:p>
          <a:p>
            <a:pPr marL="216000" indent="-216000" algn="just">
              <a:lnSpc>
                <a:spcPct val="100000"/>
              </a:lnSpc>
              <a:spcBef>
                <a:spcPts val="624"/>
              </a:spcBef>
              <a:spcAft>
                <a:spcPts val="425"/>
              </a:spcAft>
              <a:buClr>
                <a:srgbClr val="000000"/>
              </a:buClr>
              <a:buSzPct val="45000"/>
              <a:buFont typeface="Wingdings" charset="2"/>
              <a:buChar char=""/>
            </a:pPr>
            <a:r>
              <a:rPr lang="en-US" sz="1800" b="0" u="none" strike="noStrike">
                <a:solidFill>
                  <a:srgbClr val="000000"/>
                </a:solidFill>
                <a:effectLst/>
                <a:uFillTx/>
                <a:latin typeface="Arial"/>
                <a:ea typeface="Microsoft YaHei"/>
              </a:rPr>
              <a:t>Chunk occupancy β </a:t>
            </a:r>
            <a:endParaRPr lang="it-IT" sz="1800" b="0" u="none" strike="noStrike">
              <a:solidFill>
                <a:srgbClr val="000000"/>
              </a:solidFill>
              <a:effectLst/>
              <a:uFillTx/>
              <a:latin typeface="Arial"/>
            </a:endParaRPr>
          </a:p>
          <a:p>
            <a:pPr marL="216000" indent="-216000" algn="just">
              <a:lnSpc>
                <a:spcPct val="100000"/>
              </a:lnSpc>
              <a:spcBef>
                <a:spcPts val="624"/>
              </a:spcBef>
              <a:spcAft>
                <a:spcPts val="425"/>
              </a:spcAft>
              <a:buClr>
                <a:srgbClr val="000000"/>
              </a:buClr>
              <a:buSzPct val="45000"/>
              <a:buFont typeface="Wingdings" charset="2"/>
              <a:buChar char=""/>
            </a:pPr>
            <a:r>
              <a:rPr lang="en-US" sz="1800" b="0" u="none" strike="noStrike">
                <a:solidFill>
                  <a:srgbClr val="000000"/>
                </a:solidFill>
                <a:effectLst/>
                <a:uFillTx/>
                <a:latin typeface="Arial"/>
                <a:ea typeface="Microsoft YaHei"/>
              </a:rPr>
              <a:t>Average number of non-zero elements per row</a:t>
            </a:r>
            <a:endParaRPr lang="it-IT" sz="1800" b="0" u="none" strike="noStrike">
              <a:solidFill>
                <a:srgbClr val="000000"/>
              </a:solidFill>
              <a:effectLst/>
              <a:uFillTx/>
              <a:latin typeface="Arial"/>
            </a:endParaRPr>
          </a:p>
        </p:txBody>
      </p:sp>
      <p:sp>
        <p:nvSpPr>
          <p:cNvPr id="324" name="Rettangolo con angoli arrotondati 9"/>
          <p:cNvSpPr/>
          <p:nvPr/>
        </p:nvSpPr>
        <p:spPr>
          <a:xfrm>
            <a:off x="1080000" y="3600000"/>
            <a:ext cx="3238920" cy="1078920"/>
          </a:xfrm>
          <a:prstGeom prst="roundRect">
            <a:avLst>
              <a:gd name="adj" fmla="val 16667"/>
            </a:avLst>
          </a:prstGeom>
          <a:solidFill>
            <a:schemeClr val="tx2">
              <a:lumMod val="20000"/>
              <a:lumOff val="80000"/>
            </a:schemeClr>
          </a:solidFill>
          <a:ln>
            <a:solidFill>
              <a:srgbClr val="822433"/>
            </a:solidFill>
          </a:ln>
        </p:spPr>
        <p:style>
          <a:lnRef idx="2">
            <a:schemeClr val="dk1"/>
          </a:lnRef>
          <a:fillRef idx="1">
            <a:schemeClr val="lt1"/>
          </a:fillRef>
          <a:effectRef idx="0">
            <a:schemeClr val="dk1"/>
          </a:effectRef>
          <a:fontRef idx="minor"/>
        </p:style>
        <p:txBody>
          <a:bodyPr numCol="1" spcCol="0" lIns="90000" rIns="90000" tIns="45000" bIns="45000" anchor="t">
            <a:noAutofit/>
          </a:bodyPr>
          <a:p>
            <a:pPr marL="216000" indent="-216000" algn="just" defTabSz="914400">
              <a:lnSpc>
                <a:spcPct val="100000"/>
              </a:lnSpc>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Better locality = smaller α</a:t>
            </a:r>
            <a:endParaRPr lang="it-IT" sz="1800" b="0" u="none" strike="noStrike">
              <a:solidFill>
                <a:srgbClr val="000000"/>
              </a:solidFill>
              <a:effectLst/>
              <a:uFillTx/>
              <a:latin typeface="Arial"/>
            </a:endParaRPr>
          </a:p>
          <a:p>
            <a:pPr marL="216000" indent="-216000" algn="just" defTabSz="914400">
              <a:lnSpc>
                <a:spcPct val="100000"/>
              </a:lnSpc>
              <a:spcBef>
                <a:spcPts val="1191"/>
              </a:spcBef>
              <a:spcAft>
                <a:spcPts val="992"/>
              </a:spcAft>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The smaller the α the better</a:t>
            </a:r>
            <a:endParaRPr lang="it-IT" sz="1800" b="0" u="none" strike="noStrike">
              <a:solidFill>
                <a:srgbClr val="000000"/>
              </a:solidFill>
              <a:effectLst/>
              <a:uFillTx/>
              <a:latin typeface="Arial"/>
            </a:endParaRPr>
          </a:p>
          <a:p>
            <a:pPr algn="just" defTabSz="914400">
              <a:lnSpc>
                <a:spcPct val="100000"/>
              </a:lnSpc>
              <a:tabLst>
                <a:tab algn="l" pos="0"/>
              </a:tabLst>
            </a:pPr>
            <a:endParaRPr lang="it-IT" sz="1800" b="0" u="none" strike="noStrike">
              <a:solidFill>
                <a:srgbClr val="000000"/>
              </a:solidFill>
              <a:effectLst/>
              <a:uFillTx/>
              <a:latin typeface="Arial"/>
            </a:endParaRPr>
          </a:p>
        </p:txBody>
      </p:sp>
      <p:sp>
        <p:nvSpPr>
          <p:cNvPr id="325" name="Rettangolo con angoli arrotondati 10"/>
          <p:cNvSpPr/>
          <p:nvPr/>
        </p:nvSpPr>
        <p:spPr>
          <a:xfrm>
            <a:off x="5040000" y="3600000"/>
            <a:ext cx="3238920" cy="1078920"/>
          </a:xfrm>
          <a:prstGeom prst="roundRect">
            <a:avLst>
              <a:gd name="adj" fmla="val 16667"/>
            </a:avLst>
          </a:prstGeom>
          <a:solidFill>
            <a:schemeClr val="tx2">
              <a:lumMod val="20000"/>
              <a:lumOff val="80000"/>
            </a:schemeClr>
          </a:solidFill>
          <a:ln>
            <a:solidFill>
              <a:srgbClr val="822433"/>
            </a:solidFill>
          </a:ln>
        </p:spPr>
        <p:style>
          <a:lnRef idx="2">
            <a:schemeClr val="dk1"/>
          </a:lnRef>
          <a:fillRef idx="1">
            <a:schemeClr val="lt1"/>
          </a:fillRef>
          <a:effectRef idx="0">
            <a:schemeClr val="dk1"/>
          </a:effectRef>
          <a:fontRef idx="minor"/>
        </p:style>
        <p:txBody>
          <a:bodyPr numCol="1" spcCol="0" lIns="90000" rIns="90000" tIns="45000" bIns="45000" anchor="t">
            <a:noAutofit/>
          </a:bodyPr>
          <a:p>
            <a:pPr marL="216000" indent="-216000" algn="just" defTabSz="914400">
              <a:lnSpc>
                <a:spcPct val="100000"/>
              </a:lnSpc>
              <a:spcBef>
                <a:spcPts val="624"/>
              </a:spcBef>
              <a:spcAft>
                <a:spcPts val="425"/>
              </a:spcAft>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Less padding = larger β</a:t>
            </a:r>
            <a:endParaRPr lang="it-IT" sz="1800" b="0" u="none" strike="noStrike">
              <a:solidFill>
                <a:srgbClr val="000000"/>
              </a:solidFill>
              <a:effectLst/>
              <a:uFillTx/>
              <a:latin typeface="Arial"/>
            </a:endParaRPr>
          </a:p>
          <a:p>
            <a:pPr marL="216000" indent="-216000" algn="just" defTabSz="914400">
              <a:lnSpc>
                <a:spcPct val="100000"/>
              </a:lnSpc>
              <a:spcBef>
                <a:spcPts val="1191"/>
              </a:spcBef>
              <a:spcAft>
                <a:spcPts val="992"/>
              </a:spcAft>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The bigger the β the better</a:t>
            </a:r>
            <a:endParaRPr lang="it-IT" sz="1800" b="0" u="none" strike="noStrike">
              <a:solidFill>
                <a:srgbClr val="000000"/>
              </a:solidFill>
              <a:effectLst/>
              <a:uFillTx/>
              <a:latin typeface="Arial"/>
            </a:endParaRPr>
          </a:p>
          <a:p>
            <a:pPr algn="just" defTabSz="914400">
              <a:lnSpc>
                <a:spcPct val="100000"/>
              </a:lnSpc>
              <a:tabLst>
                <a:tab algn="l" pos="0"/>
              </a:tabLst>
            </a:pPr>
            <a:endParaRPr lang="it-IT" sz="1800" b="0" u="none" strike="noStrike">
              <a:solidFill>
                <a:srgbClr val="000000"/>
              </a:solidFill>
              <a:effectLst/>
              <a:uFillTx/>
              <a:latin typeface="Arial"/>
            </a:endParaRPr>
          </a:p>
        </p:txBody>
      </p:sp>
      <p:sp>
        <p:nvSpPr>
          <p:cNvPr id="326" name=""/>
          <p:cNvSpPr/>
          <p:nvPr/>
        </p:nvSpPr>
        <p:spPr>
          <a:xfrm>
            <a:off x="1800000" y="4785120"/>
            <a:ext cx="6118920" cy="1111320"/>
          </a:xfrm>
          <a:prstGeom prst="rect">
            <a:avLst/>
          </a:prstGeom>
          <a:noFill/>
          <a:ln w="0">
            <a:noFill/>
          </a:ln>
        </p:spPr>
        <p:style>
          <a:lnRef idx="0"/>
          <a:fillRef idx="0"/>
          <a:effectRef idx="0"/>
          <a:fontRef idx="minor"/>
        </p:style>
        <p:txBody>
          <a:bodyPr lIns="0" rIns="0" tIns="0" bIns="0" anchor="t">
            <a:spAutoFit/>
          </a:bodyPr>
          <a:p>
            <a:pPr algn="just">
              <a:lnSpc>
                <a:spcPct val="100000"/>
              </a:lnSpc>
              <a:spcBef>
                <a:spcPts val="57"/>
              </a:spcBef>
            </a:pPr>
            <a:r>
              <a:rPr lang="en-US" sz="1800" b="0" u="none" strike="noStrike">
                <a:solidFill>
                  <a:srgbClr val="000000"/>
                </a:solidFill>
                <a:effectLst/>
                <a:uFillTx/>
                <a:latin typeface="Arial"/>
                <a:ea typeface="ＭＳ Ｐゴシック"/>
              </a:rPr>
              <a:t>CRS suffers mainly from poor SIMD efficiency, SELL-C-σ may suffer from padding overhead.</a:t>
            </a:r>
            <a:endParaRPr lang="it-IT" sz="1800" b="0" u="none" strike="noStrike">
              <a:solidFill>
                <a:srgbClr val="000000"/>
              </a:solidFill>
              <a:effectLst/>
              <a:uFillTx/>
              <a:latin typeface="Arial"/>
            </a:endParaRPr>
          </a:p>
          <a:p>
            <a:pPr algn="just">
              <a:lnSpc>
                <a:spcPct val="100000"/>
              </a:lnSpc>
              <a:spcBef>
                <a:spcPts val="57"/>
              </a:spcBef>
            </a:pPr>
            <a:r>
              <a:rPr lang="en-US" sz="1800" b="0" u="none" strike="noStrike">
                <a:solidFill>
                  <a:srgbClr val="000000"/>
                </a:solidFill>
                <a:effectLst/>
                <a:uFillTx/>
                <a:latin typeface="Arial"/>
                <a:ea typeface="ＭＳ Ｐゴシック"/>
              </a:rPr>
              <a:t>SELL-C-σ mainly improves performance by increasing β</a:t>
            </a:r>
            <a:endParaRPr lang="it-IT" sz="1800" b="0" u="none" strike="noStrike">
              <a:solidFill>
                <a:srgbClr val="000000"/>
              </a:solidFill>
              <a:effectLst/>
              <a:uFillTx/>
              <a:latin typeface="Arial"/>
            </a:endParaRPr>
          </a:p>
          <a:p>
            <a:pPr algn="just">
              <a:lnSpc>
                <a:spcPct val="100000"/>
              </a:lnSpc>
              <a:spcBef>
                <a:spcPts val="57"/>
              </a:spcBef>
            </a:pP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ftr" idx="68"/>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328" name="PlaceHolder 2"/>
          <p:cNvSpPr>
            <a:spLocks noGrp="1"/>
          </p:cNvSpPr>
          <p:nvPr>
            <p:ph type="dt" idx="69"/>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329" name="Rettangolo 32"/>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330" name="Segnaposto numero diapositiva 22"/>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11</a:t>
            </a:r>
            <a:endParaRPr lang="it-IT" sz="1100" b="0" u="none" strike="noStrike">
              <a:solidFill>
                <a:srgbClr val="000000"/>
              </a:solidFill>
              <a:effectLst/>
              <a:uFillTx/>
              <a:latin typeface="Arial"/>
            </a:endParaRPr>
          </a:p>
          <a:p>
            <a:pPr algn="r" defTabSz="457200">
              <a:lnSpc>
                <a:spcPct val="100000"/>
              </a:lnSpc>
            </a:pPr>
            <a:endParaRPr lang="it-IT" sz="1100" b="0" u="none" strike="noStrike">
              <a:solidFill>
                <a:srgbClr val="000000"/>
              </a:solidFill>
              <a:effectLst/>
              <a:uFillTx/>
              <a:latin typeface="Arial"/>
            </a:endParaRPr>
          </a:p>
        </p:txBody>
      </p:sp>
      <p:sp>
        <p:nvSpPr>
          <p:cNvPr id="331" name="Rectangle 4"/>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en-US" sz="2400" b="1" u="none" strike="noStrike">
                <a:solidFill>
                  <a:srgbClr val="822433"/>
                </a:solidFill>
                <a:effectLst/>
                <a:uFillTx/>
                <a:latin typeface="Arial"/>
                <a:ea typeface="ＭＳ Ｐゴシック"/>
              </a:rPr>
              <a:t>Experimental Setup</a:t>
            </a:r>
            <a:endParaRPr lang="it-IT" sz="2400" b="0" u="none" strike="noStrike">
              <a:solidFill>
                <a:srgbClr val="000000"/>
              </a:solidFill>
              <a:effectLst/>
              <a:uFillTx/>
              <a:latin typeface="Arial"/>
            </a:endParaRPr>
          </a:p>
        </p:txBody>
      </p:sp>
      <p:sp>
        <p:nvSpPr>
          <p:cNvPr id="332" name="CasellaDiTesto 6"/>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333" name=""/>
          <p:cNvSpPr/>
          <p:nvPr/>
        </p:nvSpPr>
        <p:spPr>
          <a:xfrm>
            <a:off x="3240000" y="3082680"/>
            <a:ext cx="28789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334" name=""/>
          <p:cNvSpPr/>
          <p:nvPr/>
        </p:nvSpPr>
        <p:spPr>
          <a:xfrm>
            <a:off x="1800000" y="1620000"/>
            <a:ext cx="6658920" cy="1795320"/>
          </a:xfrm>
          <a:prstGeom prst="rect">
            <a:avLst/>
          </a:prstGeom>
          <a:noFill/>
          <a:ln w="0">
            <a:noFill/>
          </a:ln>
        </p:spPr>
        <p:style>
          <a:lnRef idx="0"/>
          <a:fillRef idx="0"/>
          <a:effectRef idx="0"/>
          <a:fontRef idx="minor"/>
        </p:style>
        <p:txBody>
          <a:bodyPr lIns="0" rIns="0" tIns="0" bIns="0" anchor="t">
            <a:spAutoFit/>
          </a:bodyPr>
          <a:p>
            <a:pPr algn="just">
              <a:lnSpc>
                <a:spcPct val="100000"/>
              </a:lnSpc>
              <a:spcBef>
                <a:spcPts val="340"/>
              </a:spcBef>
              <a:spcAft>
                <a:spcPts val="142"/>
              </a:spcAft>
            </a:pPr>
            <a:endParaRPr lang="it-IT" sz="1800" b="0" u="none" strike="noStrike">
              <a:solidFill>
                <a:srgbClr val="000000"/>
              </a:solidFill>
              <a:effectLst/>
              <a:uFillTx/>
              <a:latin typeface="Arial"/>
              <a:ea typeface="ＭＳ Ｐゴシック"/>
            </a:endParaRPr>
          </a:p>
        </p:txBody>
      </p:sp>
      <p:sp>
        <p:nvSpPr>
          <p:cNvPr id="335" name=""/>
          <p:cNvSpPr/>
          <p:nvPr/>
        </p:nvSpPr>
        <p:spPr>
          <a:xfrm>
            <a:off x="1800000" y="4785120"/>
            <a:ext cx="6118920" cy="555480"/>
          </a:xfrm>
          <a:prstGeom prst="rect">
            <a:avLst/>
          </a:prstGeom>
          <a:noFill/>
          <a:ln w="0">
            <a:noFill/>
          </a:ln>
        </p:spPr>
        <p:style>
          <a:lnRef idx="0"/>
          <a:fillRef idx="0"/>
          <a:effectRef idx="0"/>
          <a:fontRef idx="minor"/>
        </p:style>
        <p:txBody>
          <a:bodyPr lIns="0" rIns="0" tIns="0" bIns="0" anchor="t">
            <a:spAutoFit/>
          </a:bodyPr>
          <a:p>
            <a:pPr algn="just">
              <a:lnSpc>
                <a:spcPct val="100000"/>
              </a:lnSpc>
              <a:spcBef>
                <a:spcPts val="57"/>
              </a:spcBef>
            </a:pPr>
            <a:endParaRPr lang="it-IT" sz="1800" b="0" u="none" strike="noStrike">
              <a:solidFill>
                <a:srgbClr val="000000"/>
              </a:solidFill>
              <a:effectLst/>
              <a:uFillTx/>
              <a:latin typeface="Arial"/>
            </a:endParaRPr>
          </a:p>
          <a:p>
            <a:pPr algn="just">
              <a:lnSpc>
                <a:spcPct val="100000"/>
              </a:lnSpc>
              <a:spcBef>
                <a:spcPts val="57"/>
              </a:spcBef>
            </a:pPr>
            <a:endParaRPr lang="it-IT" sz="1800" b="0" u="none" strike="noStrike">
              <a:solidFill>
                <a:srgbClr val="000000"/>
              </a:solidFill>
              <a:effectLst/>
              <a:uFillTx/>
              <a:latin typeface="Arial"/>
            </a:endParaRPr>
          </a:p>
        </p:txBody>
      </p:sp>
      <p:graphicFrame>
        <p:nvGraphicFramePr>
          <p:cNvPr id="336" name=""/>
          <p:cNvGraphicFramePr/>
          <p:nvPr/>
        </p:nvGraphicFramePr>
        <p:xfrm>
          <a:off x="1786680" y="1485000"/>
          <a:ext cx="5545440" cy="3290400"/>
        </p:xfrm>
        <a:graphic>
          <a:graphicData uri="http://schemas.openxmlformats.org/drawingml/2006/table">
            <a:tbl>
              <a:tblPr/>
              <a:tblGrid>
                <a:gridCol w="1757880"/>
                <a:gridCol w="1572120"/>
                <a:gridCol w="2215800"/>
              </a:tblGrid>
              <a:tr h="843840">
                <a:tc>
                  <a:txBody>
                    <a:bodyPr lIns="36000" rIns="36000" tIns="36000" bIns="36000" anchor="t">
                      <a:noAutofit/>
                    </a:bodyPr>
                    <a:p>
                      <a:pPr algn="ctr">
                        <a:lnSpc>
                          <a:spcPct val="100000"/>
                        </a:lnSpc>
                      </a:pPr>
                      <a:endParaRPr lang="it-IT" sz="1400" b="0" u="none" strike="noStrike">
                        <a:solidFill>
                          <a:srgbClr val="ffffff"/>
                        </a:solidFill>
                        <a:effectLst/>
                        <a:uFillTx/>
                        <a:latin typeface="Arial"/>
                      </a:endParaRPr>
                    </a:p>
                    <a:p>
                      <a:pPr algn="ctr">
                        <a:lnSpc>
                          <a:spcPct val="100000"/>
                        </a:lnSpc>
                      </a:pPr>
                      <a:r>
                        <a:rPr lang="en-US" sz="1400" b="1" u="none" strike="noStrike">
                          <a:solidFill>
                            <a:srgbClr val="ffffff"/>
                          </a:solidFill>
                          <a:effectLst/>
                          <a:uFillTx/>
                          <a:latin typeface="Arial"/>
                        </a:rPr>
                        <a:t>Architecture</a:t>
                      </a:r>
                      <a:endParaRPr lang="it-IT" sz="1400" b="0" u="none" strike="noStrike">
                        <a:solidFill>
                          <a:srgbClr val="ffffff"/>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22433"/>
                    </a:solidFill>
                  </a:tcPr>
                </a:tc>
                <a:tc>
                  <a:txBody>
                    <a:bodyPr lIns="36000" rIns="36000" tIns="36000" bIns="36000" anchor="t">
                      <a:noAutofit/>
                    </a:bodyPr>
                    <a:p>
                      <a:pPr algn="ctr">
                        <a:lnSpc>
                          <a:spcPct val="100000"/>
                        </a:lnSpc>
                      </a:pPr>
                      <a:endParaRPr lang="it-IT" sz="1400" b="0" u="none" strike="noStrike">
                        <a:solidFill>
                          <a:srgbClr val="ffffff"/>
                        </a:solidFill>
                        <a:effectLst/>
                        <a:uFillTx/>
                        <a:latin typeface="Arial"/>
                      </a:endParaRPr>
                    </a:p>
                    <a:p>
                      <a:pPr algn="ctr">
                        <a:lnSpc>
                          <a:spcPct val="100000"/>
                        </a:lnSpc>
                      </a:pPr>
                      <a:r>
                        <a:rPr lang="en-US" sz="1400" b="1" u="none" strike="noStrike">
                          <a:solidFill>
                            <a:srgbClr val="ffffff"/>
                          </a:solidFill>
                          <a:effectLst/>
                          <a:uFillTx/>
                          <a:latin typeface="Arial"/>
                        </a:rPr>
                        <a:t>C parameter</a:t>
                      </a:r>
                      <a:endParaRPr lang="it-IT" sz="1400" b="0" u="none" strike="noStrike">
                        <a:solidFill>
                          <a:srgbClr val="ffffff"/>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22433"/>
                    </a:solidFill>
                  </a:tcPr>
                </a:tc>
                <a:tc>
                  <a:txBody>
                    <a:bodyPr lIns="36000" rIns="36000" tIns="36000" bIns="36000" anchor="t">
                      <a:noAutofit/>
                    </a:bodyPr>
                    <a:p>
                      <a:pPr algn="ctr">
                        <a:lnSpc>
                          <a:spcPct val="100000"/>
                        </a:lnSpc>
                      </a:pPr>
                      <a:endParaRPr lang="it-IT" sz="1400" b="0" u="none" strike="noStrike">
                        <a:solidFill>
                          <a:srgbClr val="ffffff"/>
                        </a:solidFill>
                        <a:effectLst/>
                        <a:uFillTx/>
                        <a:latin typeface="Arial"/>
                      </a:endParaRPr>
                    </a:p>
                    <a:p>
                      <a:pPr algn="ctr">
                        <a:lnSpc>
                          <a:spcPct val="100000"/>
                        </a:lnSpc>
                      </a:pPr>
                      <a:r>
                        <a:rPr lang="en-US" sz="1400" b="1" u="none" strike="noStrike">
                          <a:solidFill>
                            <a:srgbClr val="ffffff"/>
                          </a:solidFill>
                          <a:effectLst/>
                          <a:uFillTx/>
                          <a:latin typeface="Arial"/>
                        </a:rPr>
                        <a:t>Comparison format</a:t>
                      </a:r>
                      <a:endParaRPr lang="it-IT" sz="1400" b="0" u="none" strike="noStrike">
                        <a:solidFill>
                          <a:srgbClr val="ffffff"/>
                        </a:solidFill>
                        <a:effectLst/>
                        <a:uFillTx/>
                        <a:latin typeface="Arial"/>
                      </a:endParaRPr>
                    </a:p>
                    <a:p>
                      <a:pPr algn="ctr">
                        <a:lnSpc>
                          <a:spcPct val="100000"/>
                        </a:lnSpc>
                      </a:pPr>
                      <a:endParaRPr lang="it-IT" sz="1400" b="0" u="none" strike="noStrike">
                        <a:solidFill>
                          <a:srgbClr val="ffffff"/>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22433"/>
                    </a:solidFill>
                  </a:tcPr>
                </a:tc>
              </a:tr>
              <a:tr h="843840">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Intel SNB</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12240">
                      <a:no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C = 4</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12240">
                      <a:no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CRS</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12240">
                      <a:noFill/>
                      <a:prstDash val="solid"/>
                    </a:lnT>
                    <a:lnB w="7200">
                      <a:solidFill>
                        <a:srgbClr val="000000"/>
                      </a:solidFill>
                      <a:prstDash val="solid"/>
                    </a:lnB>
                    <a:noFill/>
                  </a:tcPr>
                </a:tc>
              </a:tr>
              <a:tr h="757440">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Intel Xeon Phi</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C = 16</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CRS</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845280">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Nvidia Tesla K20</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C = 32</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HYB (ELL + COO)</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p14:dur="100">
        <p:fade/>
      </p:transition>
    </mc:Choice>
    <mc:Fallback>
      <p:transition>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ftr" idx="70"/>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338" name="PlaceHolder 2"/>
          <p:cNvSpPr>
            <a:spLocks noGrp="1"/>
          </p:cNvSpPr>
          <p:nvPr>
            <p:ph type="dt" idx="71"/>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339" name="Rettangolo 34"/>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340" name="Segnaposto numero diapositiva 24"/>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11</a:t>
            </a:r>
            <a:endParaRPr lang="it-IT" sz="1100" b="0" u="none" strike="noStrike">
              <a:solidFill>
                <a:srgbClr val="000000"/>
              </a:solidFill>
              <a:effectLst/>
              <a:uFillTx/>
              <a:latin typeface="Arial"/>
            </a:endParaRPr>
          </a:p>
          <a:p>
            <a:pPr algn="r" defTabSz="457200">
              <a:lnSpc>
                <a:spcPct val="100000"/>
              </a:lnSpc>
            </a:pPr>
            <a:endParaRPr lang="it-IT" sz="1100" b="0" u="none" strike="noStrike">
              <a:solidFill>
                <a:srgbClr val="000000"/>
              </a:solidFill>
              <a:effectLst/>
              <a:uFillTx/>
              <a:latin typeface="Arial"/>
            </a:endParaRPr>
          </a:p>
        </p:txBody>
      </p:sp>
      <p:sp>
        <p:nvSpPr>
          <p:cNvPr id="341" name="Rectangle 6"/>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en-US" sz="2400" b="1" u="none" strike="noStrike">
                <a:solidFill>
                  <a:srgbClr val="822433"/>
                </a:solidFill>
                <a:effectLst/>
                <a:uFillTx/>
                <a:latin typeface="Arial"/>
                <a:ea typeface="ＭＳ Ｐゴシック"/>
              </a:rPr>
              <a:t>Main Performance Results</a:t>
            </a:r>
            <a:endParaRPr lang="it-IT" sz="2400" b="0" u="none" strike="noStrike">
              <a:solidFill>
                <a:srgbClr val="000000"/>
              </a:solidFill>
              <a:effectLst/>
              <a:uFillTx/>
              <a:latin typeface="Arial"/>
            </a:endParaRPr>
          </a:p>
        </p:txBody>
      </p:sp>
      <p:sp>
        <p:nvSpPr>
          <p:cNvPr id="342" name="CasellaDiTesto 47"/>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343" name=""/>
          <p:cNvSpPr/>
          <p:nvPr/>
        </p:nvSpPr>
        <p:spPr>
          <a:xfrm>
            <a:off x="3240000" y="3082680"/>
            <a:ext cx="28789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344" name=""/>
          <p:cNvSpPr/>
          <p:nvPr/>
        </p:nvSpPr>
        <p:spPr>
          <a:xfrm>
            <a:off x="1800000" y="1620000"/>
            <a:ext cx="6658920" cy="1795320"/>
          </a:xfrm>
          <a:prstGeom prst="rect">
            <a:avLst/>
          </a:prstGeom>
          <a:noFill/>
          <a:ln w="0">
            <a:noFill/>
          </a:ln>
        </p:spPr>
        <p:style>
          <a:lnRef idx="0"/>
          <a:fillRef idx="0"/>
          <a:effectRef idx="0"/>
          <a:fontRef idx="minor"/>
        </p:style>
        <p:txBody>
          <a:bodyPr lIns="0" rIns="0" tIns="0" bIns="0" anchor="t">
            <a:spAutoFit/>
          </a:bodyPr>
          <a:p>
            <a:pPr>
              <a:lnSpc>
                <a:spcPct val="100000"/>
              </a:lnSpc>
            </a:pPr>
            <a:endParaRPr lang="it-IT" sz="1800" b="0" u="none" strike="noStrike">
              <a:solidFill>
                <a:srgbClr val="000000"/>
              </a:solidFill>
              <a:effectLst/>
              <a:uFillTx/>
              <a:latin typeface="Arial"/>
              <a:ea typeface="ＭＳ Ｐゴシック"/>
            </a:endParaRPr>
          </a:p>
        </p:txBody>
      </p:sp>
      <p:sp>
        <p:nvSpPr>
          <p:cNvPr id="345" name=""/>
          <p:cNvSpPr/>
          <p:nvPr/>
        </p:nvSpPr>
        <p:spPr>
          <a:xfrm>
            <a:off x="1800000" y="4785120"/>
            <a:ext cx="6118920" cy="555480"/>
          </a:xfrm>
          <a:prstGeom prst="rect">
            <a:avLst/>
          </a:prstGeom>
          <a:noFill/>
          <a:ln w="0">
            <a:noFill/>
          </a:ln>
        </p:spPr>
        <p:style>
          <a:lnRef idx="0"/>
          <a:fillRef idx="0"/>
          <a:effectRef idx="0"/>
          <a:fontRef idx="minor"/>
        </p:style>
        <p:txBody>
          <a:bodyPr lIns="0" rIns="0" tIns="0" bIns="0" anchor="t">
            <a:spAutoFit/>
          </a:bodyPr>
          <a:p>
            <a:pPr algn="just">
              <a:lnSpc>
                <a:spcPct val="100000"/>
              </a:lnSpc>
              <a:spcBef>
                <a:spcPts val="57"/>
              </a:spcBef>
            </a:pPr>
            <a:endParaRPr lang="it-IT" sz="1800" b="0" u="none" strike="noStrike">
              <a:solidFill>
                <a:srgbClr val="000000"/>
              </a:solidFill>
              <a:effectLst/>
              <a:uFillTx/>
              <a:latin typeface="Arial"/>
            </a:endParaRPr>
          </a:p>
          <a:p>
            <a:pPr algn="just">
              <a:lnSpc>
                <a:spcPct val="100000"/>
              </a:lnSpc>
              <a:spcBef>
                <a:spcPts val="57"/>
              </a:spcBef>
            </a:pPr>
            <a:endParaRPr lang="it-IT" sz="1800" b="0" u="none" strike="noStrike">
              <a:solidFill>
                <a:srgbClr val="000000"/>
              </a:solidFill>
              <a:effectLst/>
              <a:uFillTx/>
              <a:latin typeface="Arial"/>
            </a:endParaRPr>
          </a:p>
        </p:txBody>
      </p:sp>
      <p:graphicFrame>
        <p:nvGraphicFramePr>
          <p:cNvPr id="346" name=""/>
          <p:cNvGraphicFramePr/>
          <p:nvPr/>
        </p:nvGraphicFramePr>
        <p:xfrm>
          <a:off x="388440" y="1332000"/>
          <a:ext cx="4155840" cy="2381760"/>
        </p:xfrm>
        <a:graphic>
          <a:graphicData uri="http://schemas.openxmlformats.org/drawingml/2006/table">
            <a:tbl>
              <a:tblPr/>
              <a:tblGrid>
                <a:gridCol w="1317600"/>
                <a:gridCol w="1178280"/>
                <a:gridCol w="1660320"/>
              </a:tblGrid>
              <a:tr h="610920">
                <a:tc>
                  <a:txBody>
                    <a:bodyPr lIns="36000" rIns="36000" tIns="36000" bIns="36000" anchor="t">
                      <a:noAutofit/>
                    </a:bodyPr>
                    <a:p>
                      <a:pPr algn="ctr">
                        <a:lnSpc>
                          <a:spcPct val="100000"/>
                        </a:lnSpc>
                      </a:pPr>
                      <a:endParaRPr lang="it-IT" sz="1400" b="0" u="none" strike="noStrike">
                        <a:solidFill>
                          <a:srgbClr val="ffffff"/>
                        </a:solidFill>
                        <a:effectLst/>
                        <a:uFillTx/>
                        <a:latin typeface="Arial"/>
                      </a:endParaRPr>
                    </a:p>
                    <a:p>
                      <a:pPr algn="ctr">
                        <a:lnSpc>
                          <a:spcPct val="100000"/>
                        </a:lnSpc>
                      </a:pPr>
                      <a:r>
                        <a:rPr lang="en-US" sz="1400" b="1" u="none" strike="noStrike">
                          <a:solidFill>
                            <a:srgbClr val="ffffff"/>
                          </a:solidFill>
                          <a:effectLst/>
                          <a:uFillTx/>
                          <a:latin typeface="Arial"/>
                        </a:rPr>
                        <a:t>Architecture</a:t>
                      </a:r>
                      <a:endParaRPr lang="it-IT" sz="1400" b="0" u="none" strike="noStrike">
                        <a:solidFill>
                          <a:srgbClr val="ffffff"/>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22433"/>
                    </a:solidFill>
                  </a:tcPr>
                </a:tc>
                <a:tc>
                  <a:txBody>
                    <a:bodyPr lIns="36000" rIns="36000" tIns="36000" bIns="36000" anchor="t">
                      <a:noAutofit/>
                    </a:bodyPr>
                    <a:p>
                      <a:pPr algn="ctr">
                        <a:lnSpc>
                          <a:spcPct val="100000"/>
                        </a:lnSpc>
                      </a:pPr>
                      <a:endParaRPr lang="it-IT" sz="1400" b="0" u="none" strike="noStrike">
                        <a:solidFill>
                          <a:srgbClr val="ffffff"/>
                        </a:solidFill>
                        <a:effectLst/>
                        <a:uFillTx/>
                        <a:latin typeface="Arial"/>
                      </a:endParaRPr>
                    </a:p>
                    <a:p>
                      <a:pPr algn="ctr">
                        <a:lnSpc>
                          <a:spcPct val="100000"/>
                        </a:lnSpc>
                      </a:pPr>
                      <a:r>
                        <a:rPr lang="en-US" sz="1400" b="1" u="none" strike="noStrike">
                          <a:solidFill>
                            <a:srgbClr val="ffffff"/>
                          </a:solidFill>
                          <a:effectLst/>
                          <a:uFillTx/>
                          <a:latin typeface="Arial"/>
                        </a:rPr>
                        <a:t>C parameter</a:t>
                      </a:r>
                      <a:endParaRPr lang="it-IT" sz="1400" b="0" u="none" strike="noStrike">
                        <a:solidFill>
                          <a:srgbClr val="ffffff"/>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22433"/>
                    </a:solidFill>
                  </a:tcPr>
                </a:tc>
                <a:tc>
                  <a:txBody>
                    <a:bodyPr lIns="36000" rIns="36000" tIns="36000" bIns="36000" anchor="t">
                      <a:noAutofit/>
                    </a:bodyPr>
                    <a:p>
                      <a:pPr algn="ctr">
                        <a:lnSpc>
                          <a:spcPct val="100000"/>
                        </a:lnSpc>
                      </a:pPr>
                      <a:r>
                        <a:rPr lang="en-US" sz="1400" b="1" u="none" strike="noStrike">
                          <a:solidFill>
                            <a:srgbClr val="ffffff"/>
                          </a:solidFill>
                          <a:effectLst/>
                          <a:uFillTx/>
                          <a:latin typeface="Arial"/>
                        </a:rPr>
                        <a:t>Comparison format</a:t>
                      </a:r>
                      <a:endParaRPr lang="it-IT" sz="1400" b="0" u="none" strike="noStrike">
                        <a:solidFill>
                          <a:srgbClr val="ffffff"/>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822433"/>
                    </a:solidFill>
                  </a:tcPr>
                </a:tc>
              </a:tr>
              <a:tr h="610920">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Intel SNB</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12240">
                      <a:no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C = 4</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12240">
                      <a:no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CRS</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12240">
                      <a:noFill/>
                      <a:prstDash val="solid"/>
                    </a:lnT>
                    <a:lnB w="7200">
                      <a:solidFill>
                        <a:srgbClr val="000000"/>
                      </a:solidFill>
                      <a:prstDash val="solid"/>
                    </a:lnB>
                    <a:noFill/>
                  </a:tcPr>
                </a:tc>
              </a:tr>
              <a:tr h="548280">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Intel Xeon Phi</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C = 16</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CRS</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611640">
                <a:tc>
                  <a:txBody>
                    <a:bodyPr lIns="36000" rIns="36000" tIns="36000" bIns="36000" anchor="t">
                      <a:noAutofit/>
                    </a:bodyPr>
                    <a:p>
                      <a:pPr algn="ctr">
                        <a:lnSpc>
                          <a:spcPct val="100000"/>
                        </a:lnSpc>
                      </a:pPr>
                      <a:r>
                        <a:rPr lang="en-US" sz="1500" b="0" u="none" strike="noStrike">
                          <a:solidFill>
                            <a:srgbClr val="000000"/>
                          </a:solidFill>
                          <a:effectLst/>
                          <a:uFillTx/>
                          <a:latin typeface="Arial"/>
                        </a:rPr>
                        <a:t>Nvidia Tesla K20</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C = 32</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endParaRPr lang="it-IT" sz="1500" b="0" u="none" strike="noStrike">
                        <a:solidFill>
                          <a:srgbClr val="000000"/>
                        </a:solidFill>
                        <a:effectLst/>
                        <a:uFillTx/>
                        <a:latin typeface="Arial"/>
                      </a:endParaRPr>
                    </a:p>
                    <a:p>
                      <a:pPr algn="ctr">
                        <a:lnSpc>
                          <a:spcPct val="100000"/>
                        </a:lnSpc>
                      </a:pPr>
                      <a:r>
                        <a:rPr lang="en-US" sz="1500" b="0" u="none" strike="noStrike">
                          <a:solidFill>
                            <a:srgbClr val="000000"/>
                          </a:solidFill>
                          <a:effectLst/>
                          <a:uFillTx/>
                          <a:latin typeface="Arial"/>
                        </a:rPr>
                        <a:t>HYB (ELL + COO)</a:t>
                      </a:r>
                      <a:endParaRPr lang="it-IT"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347" name=""/>
          <p:cNvSpPr/>
          <p:nvPr/>
        </p:nvSpPr>
        <p:spPr>
          <a:xfrm>
            <a:off x="4860000" y="1260000"/>
            <a:ext cx="3599280" cy="418500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lang="it-IT" sz="1800" b="0" u="none" strike="noStrike">
                <a:solidFill>
                  <a:srgbClr val="000000"/>
                </a:solidFill>
                <a:effectLst/>
                <a:uFillTx/>
                <a:latin typeface="Arial"/>
                <a:ea typeface="ＭＳ Ｐゴシック"/>
              </a:rPr>
              <a:t>The format performs well on all the three considered architectures:</a:t>
            </a:r>
            <a:endParaRPr lang="it-IT" sz="18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it-IT" sz="1800" b="0" u="none" strike="noStrike">
                <a:solidFill>
                  <a:srgbClr val="000000"/>
                </a:solidFill>
                <a:effectLst/>
                <a:uFillTx/>
                <a:latin typeface="Arial"/>
                <a:ea typeface="ＭＳ Ｐゴシック"/>
              </a:rPr>
              <a:t>Similar to CRS on Intel SNB</a:t>
            </a:r>
            <a:endParaRPr lang="it-IT" sz="18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it-IT" sz="1800" b="0" u="none" strike="noStrike">
                <a:solidFill>
                  <a:srgbClr val="000000"/>
                </a:solidFill>
                <a:effectLst/>
                <a:uFillTx/>
                <a:latin typeface="Arial"/>
                <a:ea typeface="ＭＳ Ｐゴシック"/>
              </a:rPr>
              <a:t>Outperforms CRS on Intel Phi</a:t>
            </a:r>
            <a:endParaRPr lang="it-IT" sz="18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it-IT" sz="1800" b="0" u="none" strike="noStrike">
                <a:solidFill>
                  <a:srgbClr val="000000"/>
                </a:solidFill>
                <a:effectLst/>
                <a:uFillTx/>
                <a:latin typeface="Arial"/>
                <a:ea typeface="ＭＳ Ｐゴシック"/>
              </a:rPr>
              <a:t>Competitive or better than HYB on GPGPU</a:t>
            </a:r>
            <a:endParaRPr lang="it-IT"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it-IT" sz="1800" b="0" u="none" strike="noStrike">
                <a:solidFill>
                  <a:srgbClr val="000000"/>
                </a:solidFill>
                <a:effectLst/>
                <a:uFillTx/>
                <a:latin typeface="Arial"/>
                <a:ea typeface="ＭＳ Ｐゴシック"/>
              </a:rPr>
              <a:t>The biggest gains appear for matrices with low average number of non-zeros per row, irregular row lengths or poor chunk occupancy. Intel Xeon Phi benefits the most from the format</a:t>
            </a: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ftr" idx="72"/>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349" name="PlaceHolder 2"/>
          <p:cNvSpPr>
            <a:spLocks noGrp="1"/>
          </p:cNvSpPr>
          <p:nvPr>
            <p:ph type="dt" idx="73"/>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350" name="Rettangolo 33"/>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351" name="Segnaposto numero diapositiva 23"/>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12</a:t>
            </a:r>
            <a:endParaRPr lang="it-IT" sz="1100" b="0" u="none" strike="noStrike">
              <a:solidFill>
                <a:srgbClr val="000000"/>
              </a:solidFill>
              <a:effectLst/>
              <a:uFillTx/>
              <a:latin typeface="Arial"/>
            </a:endParaRPr>
          </a:p>
          <a:p>
            <a:pPr algn="r" defTabSz="457200">
              <a:lnSpc>
                <a:spcPct val="100000"/>
              </a:lnSpc>
            </a:pPr>
            <a:endParaRPr lang="it-IT" sz="1100" b="0" u="none" strike="noStrike">
              <a:solidFill>
                <a:srgbClr val="000000"/>
              </a:solidFill>
              <a:effectLst/>
              <a:uFillTx/>
              <a:latin typeface="Arial"/>
            </a:endParaRPr>
          </a:p>
        </p:txBody>
      </p:sp>
      <p:sp>
        <p:nvSpPr>
          <p:cNvPr id="352" name="Rectangle 5"/>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en-US" sz="2400" b="1" u="none" strike="noStrike">
                <a:solidFill>
                  <a:srgbClr val="822433"/>
                </a:solidFill>
                <a:effectLst/>
                <a:uFillTx/>
                <a:latin typeface="Arial"/>
                <a:ea typeface="ＭＳ Ｐゴシック"/>
              </a:rPr>
              <a:t>Pathological Test Matrices</a:t>
            </a:r>
            <a:endParaRPr lang="it-IT" sz="2400" b="0" u="none" strike="noStrike">
              <a:solidFill>
                <a:srgbClr val="000000"/>
              </a:solidFill>
              <a:effectLst/>
              <a:uFillTx/>
              <a:latin typeface="Arial"/>
            </a:endParaRPr>
          </a:p>
        </p:txBody>
      </p:sp>
      <p:sp>
        <p:nvSpPr>
          <p:cNvPr id="353" name="CasellaDiTesto 10"/>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354" name=""/>
          <p:cNvSpPr/>
          <p:nvPr/>
        </p:nvSpPr>
        <p:spPr>
          <a:xfrm>
            <a:off x="3240000" y="3082680"/>
            <a:ext cx="28789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355" name=""/>
          <p:cNvSpPr/>
          <p:nvPr/>
        </p:nvSpPr>
        <p:spPr>
          <a:xfrm>
            <a:off x="1800000" y="1620000"/>
            <a:ext cx="6658920" cy="1795320"/>
          </a:xfrm>
          <a:prstGeom prst="rect">
            <a:avLst/>
          </a:prstGeom>
          <a:noFill/>
          <a:ln w="0">
            <a:noFill/>
          </a:ln>
        </p:spPr>
        <p:style>
          <a:lnRef idx="0"/>
          <a:fillRef idx="0"/>
          <a:effectRef idx="0"/>
          <a:fontRef idx="minor"/>
        </p:style>
        <p:txBody>
          <a:bodyPr lIns="0" rIns="0" tIns="0" bIns="0" anchor="t">
            <a:spAutoFit/>
          </a:bodyPr>
          <a:p>
            <a:pPr>
              <a:lnSpc>
                <a:spcPct val="100000"/>
              </a:lnSpc>
            </a:pPr>
            <a:endParaRPr lang="it-IT" sz="1800" b="0" u="none" strike="noStrike">
              <a:solidFill>
                <a:srgbClr val="000000"/>
              </a:solidFill>
              <a:effectLst/>
              <a:uFillTx/>
              <a:latin typeface="Arial"/>
              <a:ea typeface="ＭＳ Ｐゴシック"/>
            </a:endParaRPr>
          </a:p>
        </p:txBody>
      </p:sp>
      <p:sp>
        <p:nvSpPr>
          <p:cNvPr id="356" name=""/>
          <p:cNvSpPr/>
          <p:nvPr/>
        </p:nvSpPr>
        <p:spPr>
          <a:xfrm>
            <a:off x="1800000" y="4785120"/>
            <a:ext cx="6118920" cy="555480"/>
          </a:xfrm>
          <a:prstGeom prst="rect">
            <a:avLst/>
          </a:prstGeom>
          <a:noFill/>
          <a:ln w="0">
            <a:noFill/>
          </a:ln>
        </p:spPr>
        <p:style>
          <a:lnRef idx="0"/>
          <a:fillRef idx="0"/>
          <a:effectRef idx="0"/>
          <a:fontRef idx="minor"/>
        </p:style>
        <p:txBody>
          <a:bodyPr lIns="0" rIns="0" tIns="0" bIns="0" anchor="t">
            <a:spAutoFit/>
          </a:bodyPr>
          <a:p>
            <a:pPr algn="just">
              <a:lnSpc>
                <a:spcPct val="100000"/>
              </a:lnSpc>
              <a:spcBef>
                <a:spcPts val="57"/>
              </a:spcBef>
            </a:pPr>
            <a:endParaRPr lang="it-IT" sz="1800" b="0" u="none" strike="noStrike">
              <a:solidFill>
                <a:srgbClr val="000000"/>
              </a:solidFill>
              <a:effectLst/>
              <a:uFillTx/>
              <a:latin typeface="Arial"/>
            </a:endParaRPr>
          </a:p>
          <a:p>
            <a:pPr algn="just">
              <a:lnSpc>
                <a:spcPct val="100000"/>
              </a:lnSpc>
              <a:spcBef>
                <a:spcPts val="57"/>
              </a:spcBef>
            </a:pPr>
            <a:endParaRPr lang="it-IT" sz="1800" b="0" u="none" strike="noStrike">
              <a:solidFill>
                <a:srgbClr val="000000"/>
              </a:solidFill>
              <a:effectLst/>
              <a:uFillTx/>
              <a:latin typeface="Arial"/>
            </a:endParaRPr>
          </a:p>
        </p:txBody>
      </p:sp>
      <p:sp>
        <p:nvSpPr>
          <p:cNvPr id="357" name=""/>
          <p:cNvSpPr/>
          <p:nvPr/>
        </p:nvSpPr>
        <p:spPr>
          <a:xfrm>
            <a:off x="1079640" y="1620000"/>
            <a:ext cx="7379280" cy="2815200"/>
          </a:xfrm>
          <a:prstGeom prst="rect">
            <a:avLst/>
          </a:prstGeom>
          <a:noFill/>
          <a:ln w="0">
            <a:noFill/>
          </a:ln>
        </p:spPr>
        <p:style>
          <a:lnRef idx="0"/>
          <a:fillRef idx="0"/>
          <a:effectRef idx="0"/>
          <a:fontRef idx="minor"/>
        </p:style>
        <p:txBody>
          <a:bodyPr lIns="0" rIns="0" tIns="0" bIns="0" anchor="t">
            <a:spAutoFit/>
          </a:bodyPr>
          <a:p>
            <a:pPr marL="216000" indent="-216000">
              <a:lnSpc>
                <a:spcPct val="100000"/>
              </a:lnSpc>
              <a:buClr>
                <a:srgbClr val="000000"/>
              </a:buClr>
              <a:buSzPct val="45000"/>
              <a:buFont typeface="Wingdings" charset="2"/>
              <a:buChar char=""/>
            </a:pPr>
            <a:r>
              <a:rPr lang="it-IT" sz="1800" b="0" u="none" strike="noStrike">
                <a:solidFill>
                  <a:srgbClr val="000000"/>
                </a:solidFill>
                <a:effectLst/>
                <a:uFillTx/>
                <a:latin typeface="Arial"/>
                <a:ea typeface="ＭＳ Ｐゴシック"/>
              </a:rPr>
              <a:t>Matrices where the presented format still performs poorly. Two main reasons:</a:t>
            </a: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p:txBody>
      </p:sp>
      <p:sp>
        <p:nvSpPr>
          <p:cNvPr id="358" name="Rettangolo con angoli arrotondati 20"/>
          <p:cNvSpPr/>
          <p:nvPr/>
        </p:nvSpPr>
        <p:spPr>
          <a:xfrm>
            <a:off x="1260000" y="2880000"/>
            <a:ext cx="3238920" cy="719280"/>
          </a:xfrm>
          <a:prstGeom prst="roundRect">
            <a:avLst>
              <a:gd name="adj" fmla="val 16667"/>
            </a:avLst>
          </a:prstGeom>
          <a:solidFill>
            <a:schemeClr val="tx2">
              <a:lumMod val="20000"/>
              <a:lumOff val="80000"/>
            </a:schemeClr>
          </a:solidFill>
          <a:ln>
            <a:solidFill>
              <a:srgbClr val="822433"/>
            </a:solidFill>
          </a:ln>
        </p:spPr>
        <p:style>
          <a:lnRef idx="2">
            <a:schemeClr val="dk1"/>
          </a:lnRef>
          <a:fillRef idx="1">
            <a:schemeClr val="lt1"/>
          </a:fillRef>
          <a:effectRef idx="0">
            <a:schemeClr val="dk1"/>
          </a:effectRef>
          <a:fontRef idx="minor"/>
        </p:style>
        <p:txBody>
          <a:bodyPr numCol="1" spcCol="0" lIns="90000" rIns="90000" tIns="45000" bIns="45000" anchor="t">
            <a:noAutofit/>
          </a:bodyPr>
          <a:p>
            <a:pPr marL="216000" indent="-216000" algn="just" defTabSz="914400">
              <a:lnSpc>
                <a:spcPct val="100000"/>
              </a:lnSpc>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    Matrices too small</a:t>
            </a:r>
            <a:endParaRPr lang="it-IT" sz="1800" b="0" u="none" strike="noStrike">
              <a:solidFill>
                <a:srgbClr val="000000"/>
              </a:solidFill>
              <a:effectLst/>
              <a:uFillTx/>
              <a:latin typeface="Arial"/>
            </a:endParaRPr>
          </a:p>
          <a:p>
            <a:pPr marL="216000" indent="-216000" algn="just" defTabSz="914400">
              <a:lnSpc>
                <a:spcPct val="100000"/>
              </a:lnSpc>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(dense2 and rail4284)</a:t>
            </a:r>
            <a:endParaRPr lang="it-IT" sz="1800" b="0" u="none" strike="noStrike">
              <a:solidFill>
                <a:srgbClr val="000000"/>
              </a:solidFill>
              <a:effectLst/>
              <a:uFillTx/>
              <a:latin typeface="Arial"/>
            </a:endParaRPr>
          </a:p>
        </p:txBody>
      </p:sp>
      <p:sp>
        <p:nvSpPr>
          <p:cNvPr id="359" name="Rettangolo con angoli arrotondati 21"/>
          <p:cNvSpPr/>
          <p:nvPr/>
        </p:nvSpPr>
        <p:spPr>
          <a:xfrm>
            <a:off x="5040000" y="2700000"/>
            <a:ext cx="3238920" cy="1079280"/>
          </a:xfrm>
          <a:prstGeom prst="roundRect">
            <a:avLst>
              <a:gd name="adj" fmla="val 16667"/>
            </a:avLst>
          </a:prstGeom>
          <a:solidFill>
            <a:schemeClr val="tx2">
              <a:lumMod val="20000"/>
              <a:lumOff val="80000"/>
            </a:schemeClr>
          </a:solidFill>
          <a:ln>
            <a:solidFill>
              <a:srgbClr val="822433"/>
            </a:solidFill>
          </a:ln>
        </p:spPr>
        <p:style>
          <a:lnRef idx="2">
            <a:schemeClr val="dk1"/>
          </a:lnRef>
          <a:fillRef idx="1">
            <a:schemeClr val="lt1"/>
          </a:fillRef>
          <a:effectRef idx="0">
            <a:schemeClr val="dk1"/>
          </a:effectRef>
          <a:fontRef idx="minor"/>
        </p:style>
        <p:txBody>
          <a:bodyPr numCol="1" spcCol="0" lIns="90000" rIns="90000" tIns="45000" bIns="45000" anchor="t">
            <a:noAutofit/>
          </a:bodyPr>
          <a:p>
            <a:pPr marL="216000" indent="-216000" algn="just" defTabSz="914400">
              <a:lnSpc>
                <a:spcPct val="100000"/>
              </a:lnSpc>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Highly irregular access pattern and low β </a:t>
            </a:r>
            <a:endParaRPr lang="it-IT" sz="1800" b="0" u="none" strike="noStrike">
              <a:solidFill>
                <a:srgbClr val="000000"/>
              </a:solidFill>
              <a:effectLst/>
              <a:uFillTx/>
              <a:latin typeface="Arial"/>
            </a:endParaRPr>
          </a:p>
          <a:p>
            <a:pPr marL="216000" indent="-216000" algn="just" defTabSz="914400">
              <a:lnSpc>
                <a:spcPct val="100000"/>
              </a:lnSpc>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       (webbase-1M)</a:t>
            </a:r>
            <a:endParaRPr lang="it-IT" sz="1800" b="0" u="none" strike="noStrike">
              <a:solidFill>
                <a:srgbClr val="000000"/>
              </a:solidFill>
              <a:effectLst/>
              <a:uFillTx/>
              <a:latin typeface="Arial"/>
            </a:endParaRPr>
          </a:p>
          <a:p>
            <a:pPr algn="just" defTabSz="914400">
              <a:lnSpc>
                <a:spcPct val="100000"/>
              </a:lnSpc>
              <a:tabLst>
                <a:tab algn="l" pos="0"/>
              </a:tabLst>
            </a:pP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ftr" idx="74"/>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361" name="PlaceHolder 2"/>
          <p:cNvSpPr>
            <a:spLocks noGrp="1"/>
          </p:cNvSpPr>
          <p:nvPr>
            <p:ph type="dt" idx="75"/>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362" name="Rettangolo 43"/>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363" name="Segnaposto numero diapositiva 20"/>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12</a:t>
            </a:r>
            <a:endParaRPr lang="it-IT" sz="1100" b="0" u="none" strike="noStrike">
              <a:solidFill>
                <a:srgbClr val="000000"/>
              </a:solidFill>
              <a:effectLst/>
              <a:uFillTx/>
              <a:latin typeface="Arial"/>
            </a:endParaRPr>
          </a:p>
          <a:p>
            <a:pPr algn="r" defTabSz="457200">
              <a:lnSpc>
                <a:spcPct val="100000"/>
              </a:lnSpc>
            </a:pPr>
            <a:endParaRPr lang="it-IT" sz="1100" b="0" u="none" strike="noStrike">
              <a:solidFill>
                <a:srgbClr val="000000"/>
              </a:solidFill>
              <a:effectLst/>
              <a:uFillTx/>
              <a:latin typeface="Arial"/>
            </a:endParaRPr>
          </a:p>
        </p:txBody>
      </p:sp>
      <p:sp>
        <p:nvSpPr>
          <p:cNvPr id="364" name="Rectangle 20"/>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spcBef>
                <a:spcPts val="1191"/>
              </a:spcBef>
              <a:spcAft>
                <a:spcPts val="992"/>
              </a:spcAft>
            </a:pPr>
            <a:r>
              <a:rPr lang="en-US" sz="2400" b="1" u="none" strike="noStrike">
                <a:solidFill>
                  <a:srgbClr val="822433"/>
                </a:solidFill>
                <a:effectLst/>
                <a:uFillTx/>
                <a:latin typeface="Arial"/>
                <a:ea typeface="ＭＳ Ｐゴシック"/>
              </a:rPr>
              <a:t>Pathological Test Matrices</a:t>
            </a:r>
            <a:endParaRPr lang="it-IT" sz="2400" b="0" u="none" strike="noStrike">
              <a:solidFill>
                <a:srgbClr val="000000"/>
              </a:solidFill>
              <a:effectLst/>
              <a:uFillTx/>
              <a:latin typeface="Arial"/>
            </a:endParaRPr>
          </a:p>
        </p:txBody>
      </p:sp>
      <p:sp>
        <p:nvSpPr>
          <p:cNvPr id="365" name="CasellaDiTesto 13"/>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366" name=""/>
          <p:cNvSpPr/>
          <p:nvPr/>
        </p:nvSpPr>
        <p:spPr>
          <a:xfrm>
            <a:off x="3240000" y="3082680"/>
            <a:ext cx="28789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367" name=""/>
          <p:cNvSpPr/>
          <p:nvPr/>
        </p:nvSpPr>
        <p:spPr>
          <a:xfrm>
            <a:off x="1800000" y="1620000"/>
            <a:ext cx="6658920" cy="1795320"/>
          </a:xfrm>
          <a:prstGeom prst="rect">
            <a:avLst/>
          </a:prstGeom>
          <a:noFill/>
          <a:ln w="0">
            <a:noFill/>
          </a:ln>
        </p:spPr>
        <p:style>
          <a:lnRef idx="0"/>
          <a:fillRef idx="0"/>
          <a:effectRef idx="0"/>
          <a:fontRef idx="minor"/>
        </p:style>
        <p:txBody>
          <a:bodyPr lIns="0" rIns="0" tIns="0" bIns="0" anchor="t">
            <a:spAutoFit/>
          </a:bodyPr>
          <a:p>
            <a:pPr>
              <a:lnSpc>
                <a:spcPct val="100000"/>
              </a:lnSpc>
            </a:pPr>
            <a:endParaRPr lang="it-IT" sz="1800" b="0" u="none" strike="noStrike">
              <a:solidFill>
                <a:srgbClr val="000000"/>
              </a:solidFill>
              <a:effectLst/>
              <a:uFillTx/>
              <a:latin typeface="Arial"/>
              <a:ea typeface="ＭＳ Ｐゴシック"/>
            </a:endParaRPr>
          </a:p>
        </p:txBody>
      </p:sp>
      <p:sp>
        <p:nvSpPr>
          <p:cNvPr id="368" name=""/>
          <p:cNvSpPr/>
          <p:nvPr/>
        </p:nvSpPr>
        <p:spPr>
          <a:xfrm>
            <a:off x="1800000" y="4785120"/>
            <a:ext cx="6118920" cy="555480"/>
          </a:xfrm>
          <a:prstGeom prst="rect">
            <a:avLst/>
          </a:prstGeom>
          <a:noFill/>
          <a:ln w="0">
            <a:noFill/>
          </a:ln>
        </p:spPr>
        <p:style>
          <a:lnRef idx="0"/>
          <a:fillRef idx="0"/>
          <a:effectRef idx="0"/>
          <a:fontRef idx="minor"/>
        </p:style>
        <p:txBody>
          <a:bodyPr lIns="0" rIns="0" tIns="0" bIns="0" anchor="t">
            <a:spAutoFit/>
          </a:bodyPr>
          <a:p>
            <a:pPr algn="just">
              <a:lnSpc>
                <a:spcPct val="100000"/>
              </a:lnSpc>
              <a:spcBef>
                <a:spcPts val="57"/>
              </a:spcBef>
            </a:pPr>
            <a:endParaRPr lang="it-IT" sz="1800" b="0" u="none" strike="noStrike">
              <a:solidFill>
                <a:srgbClr val="000000"/>
              </a:solidFill>
              <a:effectLst/>
              <a:uFillTx/>
              <a:latin typeface="Arial"/>
            </a:endParaRPr>
          </a:p>
          <a:p>
            <a:pPr algn="just">
              <a:lnSpc>
                <a:spcPct val="100000"/>
              </a:lnSpc>
              <a:spcBef>
                <a:spcPts val="57"/>
              </a:spcBef>
            </a:pPr>
            <a:endParaRPr lang="it-IT" sz="1800" b="0" u="none" strike="noStrike">
              <a:solidFill>
                <a:srgbClr val="000000"/>
              </a:solidFill>
              <a:effectLst/>
              <a:uFillTx/>
              <a:latin typeface="Arial"/>
            </a:endParaRPr>
          </a:p>
        </p:txBody>
      </p:sp>
      <p:sp>
        <p:nvSpPr>
          <p:cNvPr id="369" name=""/>
          <p:cNvSpPr/>
          <p:nvPr/>
        </p:nvSpPr>
        <p:spPr>
          <a:xfrm>
            <a:off x="1079640" y="1620000"/>
            <a:ext cx="7379280" cy="4665960"/>
          </a:xfrm>
          <a:prstGeom prst="rect">
            <a:avLst/>
          </a:prstGeom>
          <a:noFill/>
          <a:ln w="0">
            <a:noFill/>
          </a:ln>
        </p:spPr>
        <p:style>
          <a:lnRef idx="0"/>
          <a:fillRef idx="0"/>
          <a:effectRef idx="0"/>
          <a:fontRef idx="minor"/>
        </p:style>
        <p:txBody>
          <a:bodyPr lIns="0" rIns="0" tIns="0" bIns="0" anchor="t">
            <a:spAutoFit/>
          </a:bodyPr>
          <a:p>
            <a:pPr marL="216000" indent="-216000">
              <a:lnSpc>
                <a:spcPct val="100000"/>
              </a:lnSpc>
              <a:buClr>
                <a:srgbClr val="000000"/>
              </a:buClr>
              <a:buSzPct val="45000"/>
              <a:buFont typeface="Wingdings" charset="2"/>
              <a:buChar char=""/>
            </a:pPr>
            <a:r>
              <a:rPr lang="it-IT" sz="1800" b="0" u="none" strike="noStrike">
                <a:solidFill>
                  <a:srgbClr val="000000"/>
                </a:solidFill>
                <a:effectLst/>
                <a:uFillTx/>
                <a:latin typeface="Arial"/>
                <a:ea typeface="ＭＳ Ｐゴシック"/>
              </a:rPr>
              <a:t>Matrices where the presented format still performs poorly. Two main reasons:</a:t>
            </a: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it-IT" sz="1800" b="0" u="none" strike="noStrike">
                <a:solidFill>
                  <a:srgbClr val="000000"/>
                </a:solidFill>
                <a:effectLst/>
                <a:uFillTx/>
                <a:latin typeface="Arial"/>
                <a:ea typeface="Microsoft YaHei"/>
              </a:rPr>
              <a:t>NOTE: even if the matrix storage format is very efficient, we still have a problem: the vector x is not accessed sequentially. RHS vector x is accessed indirectly through column indices, so cache locality may be poor and GPU load coalescing may be lost. Matrix Bandwidth Reduction is a possible solution, reordering the matrix so that non-zeros stay closer to the main diagonal</a:t>
            </a:r>
            <a:endParaRPr lang="it-IT" sz="1800" b="0" u="none" strike="noStrike">
              <a:solidFill>
                <a:srgbClr val="000000"/>
              </a:solidFill>
              <a:effectLst/>
              <a:uFillTx/>
              <a:latin typeface="Arial"/>
            </a:endParaRPr>
          </a:p>
          <a:p>
            <a:pPr>
              <a:lnSpc>
                <a:spcPct val="100000"/>
              </a:lnSpc>
            </a:pPr>
            <a:endParaRPr lang="it-IT" sz="1800" b="0" u="none" strike="noStrike">
              <a:solidFill>
                <a:srgbClr val="000000"/>
              </a:solidFill>
              <a:effectLst/>
              <a:uFillTx/>
              <a:latin typeface="Arial"/>
            </a:endParaRPr>
          </a:p>
        </p:txBody>
      </p:sp>
      <p:sp>
        <p:nvSpPr>
          <p:cNvPr id="370" name="Rettangolo con angoli arrotondati 1"/>
          <p:cNvSpPr/>
          <p:nvPr/>
        </p:nvSpPr>
        <p:spPr>
          <a:xfrm>
            <a:off x="1260000" y="2880000"/>
            <a:ext cx="3238920" cy="719280"/>
          </a:xfrm>
          <a:prstGeom prst="roundRect">
            <a:avLst>
              <a:gd name="adj" fmla="val 16667"/>
            </a:avLst>
          </a:prstGeom>
          <a:solidFill>
            <a:schemeClr val="tx2">
              <a:lumMod val="20000"/>
              <a:lumOff val="80000"/>
            </a:schemeClr>
          </a:solidFill>
          <a:ln>
            <a:solidFill>
              <a:srgbClr val="822433"/>
            </a:solidFill>
          </a:ln>
        </p:spPr>
        <p:style>
          <a:lnRef idx="2">
            <a:schemeClr val="dk1"/>
          </a:lnRef>
          <a:fillRef idx="1">
            <a:schemeClr val="lt1"/>
          </a:fillRef>
          <a:effectRef idx="0">
            <a:schemeClr val="dk1"/>
          </a:effectRef>
          <a:fontRef idx="minor"/>
        </p:style>
        <p:txBody>
          <a:bodyPr numCol="1" spcCol="0" lIns="90000" rIns="90000" tIns="45000" bIns="45000" anchor="t">
            <a:noAutofit/>
          </a:bodyPr>
          <a:p>
            <a:pPr marL="216000" indent="-216000" algn="just" defTabSz="914400">
              <a:lnSpc>
                <a:spcPct val="100000"/>
              </a:lnSpc>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    Matrices too small</a:t>
            </a:r>
            <a:endParaRPr lang="it-IT" sz="1800" b="0" u="none" strike="noStrike">
              <a:solidFill>
                <a:srgbClr val="000000"/>
              </a:solidFill>
              <a:effectLst/>
              <a:uFillTx/>
              <a:latin typeface="Arial"/>
            </a:endParaRPr>
          </a:p>
          <a:p>
            <a:pPr marL="216000" indent="-216000" algn="just" defTabSz="914400">
              <a:lnSpc>
                <a:spcPct val="100000"/>
              </a:lnSpc>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(dense2 and rail4284)</a:t>
            </a:r>
            <a:endParaRPr lang="it-IT" sz="1800" b="0" u="none" strike="noStrike">
              <a:solidFill>
                <a:srgbClr val="000000"/>
              </a:solidFill>
              <a:effectLst/>
              <a:uFillTx/>
              <a:latin typeface="Arial"/>
            </a:endParaRPr>
          </a:p>
        </p:txBody>
      </p:sp>
      <p:sp>
        <p:nvSpPr>
          <p:cNvPr id="371" name="Rettangolo con angoli arrotondati 2"/>
          <p:cNvSpPr/>
          <p:nvPr/>
        </p:nvSpPr>
        <p:spPr>
          <a:xfrm>
            <a:off x="5040000" y="2700000"/>
            <a:ext cx="3238920" cy="1079280"/>
          </a:xfrm>
          <a:prstGeom prst="roundRect">
            <a:avLst>
              <a:gd name="adj" fmla="val 16667"/>
            </a:avLst>
          </a:prstGeom>
          <a:solidFill>
            <a:schemeClr val="tx2">
              <a:lumMod val="20000"/>
              <a:lumOff val="80000"/>
            </a:schemeClr>
          </a:solidFill>
          <a:ln>
            <a:solidFill>
              <a:srgbClr val="822433"/>
            </a:solidFill>
          </a:ln>
        </p:spPr>
        <p:style>
          <a:lnRef idx="2">
            <a:schemeClr val="dk1"/>
          </a:lnRef>
          <a:fillRef idx="1">
            <a:schemeClr val="lt1"/>
          </a:fillRef>
          <a:effectRef idx="0">
            <a:schemeClr val="dk1"/>
          </a:effectRef>
          <a:fontRef idx="minor"/>
        </p:style>
        <p:txBody>
          <a:bodyPr numCol="1" spcCol="0" lIns="90000" rIns="90000" tIns="45000" bIns="45000" anchor="t">
            <a:noAutofit/>
          </a:bodyPr>
          <a:p>
            <a:pPr marL="216000" indent="-216000" algn="just" defTabSz="914400">
              <a:lnSpc>
                <a:spcPct val="100000"/>
              </a:lnSpc>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Highly irregular access pattern and low β </a:t>
            </a:r>
            <a:endParaRPr lang="it-IT" sz="1800" b="0" u="none" strike="noStrike">
              <a:solidFill>
                <a:srgbClr val="000000"/>
              </a:solidFill>
              <a:effectLst/>
              <a:uFillTx/>
              <a:latin typeface="Arial"/>
            </a:endParaRPr>
          </a:p>
          <a:p>
            <a:pPr marL="216000" indent="-216000" algn="just" defTabSz="914400">
              <a:lnSpc>
                <a:spcPct val="100000"/>
              </a:lnSpc>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       (webbase-1M)</a:t>
            </a:r>
            <a:endParaRPr lang="it-IT" sz="1800" b="0" u="none" strike="noStrike">
              <a:solidFill>
                <a:srgbClr val="000000"/>
              </a:solidFill>
              <a:effectLst/>
              <a:uFillTx/>
              <a:latin typeface="Arial"/>
            </a:endParaRPr>
          </a:p>
          <a:p>
            <a:pPr algn="just" defTabSz="914400">
              <a:lnSpc>
                <a:spcPct val="100000"/>
              </a:lnSpc>
              <a:tabLst>
                <a:tab algn="l" pos="0"/>
              </a:tabLst>
            </a:pP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ftr" idx="76"/>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373" name="PlaceHolder 2"/>
          <p:cNvSpPr>
            <a:spLocks noGrp="1"/>
          </p:cNvSpPr>
          <p:nvPr>
            <p:ph type="dt" idx="77"/>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374" name="Rettangolo 35"/>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375" name="Segnaposto numero diapositiva 25"/>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13</a:t>
            </a:r>
            <a:endParaRPr lang="it-IT" sz="1100" b="0" u="none" strike="noStrike">
              <a:solidFill>
                <a:srgbClr val="000000"/>
              </a:solidFill>
              <a:effectLst/>
              <a:uFillTx/>
              <a:latin typeface="Arial"/>
            </a:endParaRPr>
          </a:p>
          <a:p>
            <a:pPr algn="r" defTabSz="457200">
              <a:lnSpc>
                <a:spcPct val="100000"/>
              </a:lnSpc>
            </a:pPr>
            <a:endParaRPr lang="it-IT" sz="1100" b="0" u="none" strike="noStrike">
              <a:solidFill>
                <a:srgbClr val="000000"/>
              </a:solidFill>
              <a:effectLst/>
              <a:uFillTx/>
              <a:latin typeface="Arial"/>
            </a:endParaRPr>
          </a:p>
        </p:txBody>
      </p:sp>
      <p:sp>
        <p:nvSpPr>
          <p:cNvPr id="376" name="Rectangle 7"/>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defTabSz="457200">
              <a:lnSpc>
                <a:spcPct val="100000"/>
              </a:lnSpc>
              <a:spcBef>
                <a:spcPts val="1191"/>
              </a:spcBef>
              <a:spcAft>
                <a:spcPts val="992"/>
              </a:spcAft>
            </a:pPr>
            <a:r>
              <a:rPr lang="en-US" sz="2400" b="1" u="none" strike="noStrike">
                <a:solidFill>
                  <a:srgbClr val="822433"/>
                </a:solidFill>
                <a:effectLst/>
                <a:uFillTx/>
                <a:latin typeface="Arial"/>
                <a:ea typeface="ＭＳ Ｐゴシック"/>
              </a:rPr>
              <a:t>Impact of Sorting Scope</a:t>
            </a:r>
            <a:endParaRPr lang="it-IT" sz="2400" b="0" u="none" strike="noStrike">
              <a:solidFill>
                <a:srgbClr val="000000"/>
              </a:solidFill>
              <a:effectLst/>
              <a:uFillTx/>
              <a:latin typeface="Arial"/>
            </a:endParaRPr>
          </a:p>
        </p:txBody>
      </p:sp>
      <p:sp>
        <p:nvSpPr>
          <p:cNvPr id="377" name="CasellaDiTesto 48"/>
          <p:cNvSpPr/>
          <p:nvPr/>
        </p:nvSpPr>
        <p:spPr>
          <a:xfrm>
            <a:off x="1980360" y="1377720"/>
            <a:ext cx="1220760" cy="395640"/>
          </a:xfrm>
          <a:prstGeom prst="rect">
            <a:avLst/>
          </a:prstGeom>
          <a:noFill/>
          <a:ln w="0">
            <a:noFill/>
          </a:ln>
        </p:spPr>
        <p:style>
          <a:lnRef idx="0"/>
          <a:fillRef idx="0"/>
          <a:effectRef idx="0"/>
          <a:fontRef idx="minor"/>
        </p:style>
        <p:txBody>
          <a:bodyPr numCol="1" spcCol="0" lIns="90000" rIns="90000" tIns="45000" bIns="45000" anchor="t">
            <a:spAutoFit/>
          </a:bodyPr>
          <a:p>
            <a:pPr>
              <a:lnSpc>
                <a:spcPct val="100000"/>
              </a:lnSpc>
            </a:pPr>
            <a:endParaRPr lang="en-US" sz="1800" b="0" u="none" strike="noStrike">
              <a:solidFill>
                <a:srgbClr val="000000"/>
              </a:solidFill>
              <a:effectLst/>
              <a:uFillTx/>
              <a:latin typeface="Arial"/>
              <a:ea typeface="ＭＳ Ｐゴシック"/>
            </a:endParaRPr>
          </a:p>
        </p:txBody>
      </p:sp>
      <p:sp>
        <p:nvSpPr>
          <p:cNvPr id="378" name=""/>
          <p:cNvSpPr/>
          <p:nvPr/>
        </p:nvSpPr>
        <p:spPr>
          <a:xfrm>
            <a:off x="3240000" y="3082680"/>
            <a:ext cx="28789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822433"/>
                </a:solidFill>
                <a:effectLst/>
                <a:uFillTx/>
                <a:latin typeface="Arial"/>
                <a:ea typeface="ＭＳ Ｐゴシック"/>
              </a:rPr>
              <a:t> </a:t>
            </a:r>
            <a:endParaRPr lang="it-IT" sz="1800" b="0" u="none" strike="noStrike">
              <a:solidFill>
                <a:srgbClr val="000000"/>
              </a:solidFill>
              <a:effectLst/>
              <a:uFillTx/>
              <a:latin typeface="Arial"/>
            </a:endParaRPr>
          </a:p>
        </p:txBody>
      </p:sp>
      <p:sp>
        <p:nvSpPr>
          <p:cNvPr id="379" name=""/>
          <p:cNvSpPr/>
          <p:nvPr/>
        </p:nvSpPr>
        <p:spPr>
          <a:xfrm>
            <a:off x="1800000" y="1620000"/>
            <a:ext cx="6658920" cy="1795320"/>
          </a:xfrm>
          <a:prstGeom prst="rect">
            <a:avLst/>
          </a:prstGeom>
          <a:noFill/>
          <a:ln w="0">
            <a:noFill/>
          </a:ln>
        </p:spPr>
        <p:style>
          <a:lnRef idx="0"/>
          <a:fillRef idx="0"/>
          <a:effectRef idx="0"/>
          <a:fontRef idx="minor"/>
        </p:style>
        <p:txBody>
          <a:bodyPr lIns="0" rIns="0" tIns="0" bIns="0" anchor="t">
            <a:spAutoFit/>
          </a:bodyPr>
          <a:p>
            <a:pPr>
              <a:lnSpc>
                <a:spcPct val="100000"/>
              </a:lnSpc>
            </a:pPr>
            <a:endParaRPr lang="it-IT" sz="1800" b="0" u="none" strike="noStrike">
              <a:solidFill>
                <a:srgbClr val="000000"/>
              </a:solidFill>
              <a:effectLst/>
              <a:uFillTx/>
              <a:latin typeface="Arial"/>
              <a:ea typeface="ＭＳ Ｐゴシック"/>
            </a:endParaRPr>
          </a:p>
        </p:txBody>
      </p:sp>
      <p:sp>
        <p:nvSpPr>
          <p:cNvPr id="380" name=""/>
          <p:cNvSpPr/>
          <p:nvPr/>
        </p:nvSpPr>
        <p:spPr>
          <a:xfrm>
            <a:off x="1800000" y="4785120"/>
            <a:ext cx="6118920" cy="555480"/>
          </a:xfrm>
          <a:prstGeom prst="rect">
            <a:avLst/>
          </a:prstGeom>
          <a:noFill/>
          <a:ln w="0">
            <a:noFill/>
          </a:ln>
        </p:spPr>
        <p:style>
          <a:lnRef idx="0"/>
          <a:fillRef idx="0"/>
          <a:effectRef idx="0"/>
          <a:fontRef idx="minor"/>
        </p:style>
        <p:txBody>
          <a:bodyPr lIns="0" rIns="0" tIns="0" bIns="0" anchor="t">
            <a:spAutoFit/>
          </a:bodyPr>
          <a:p>
            <a:pPr algn="just">
              <a:lnSpc>
                <a:spcPct val="100000"/>
              </a:lnSpc>
              <a:spcBef>
                <a:spcPts val="57"/>
              </a:spcBef>
            </a:pPr>
            <a:endParaRPr lang="it-IT" sz="1800" b="0" u="none" strike="noStrike">
              <a:solidFill>
                <a:srgbClr val="000000"/>
              </a:solidFill>
              <a:effectLst/>
              <a:uFillTx/>
              <a:latin typeface="Arial"/>
            </a:endParaRPr>
          </a:p>
          <a:p>
            <a:pPr algn="just">
              <a:lnSpc>
                <a:spcPct val="100000"/>
              </a:lnSpc>
              <a:spcBef>
                <a:spcPts val="57"/>
              </a:spcBef>
            </a:pPr>
            <a:endParaRPr lang="it-IT" sz="1800" b="0" u="none" strike="noStrike">
              <a:solidFill>
                <a:srgbClr val="000000"/>
              </a:solidFill>
              <a:effectLst/>
              <a:uFillTx/>
              <a:latin typeface="Arial"/>
            </a:endParaRPr>
          </a:p>
        </p:txBody>
      </p:sp>
      <p:sp>
        <p:nvSpPr>
          <p:cNvPr id="381" name="Rettangolo con angoli arrotondati 22"/>
          <p:cNvSpPr/>
          <p:nvPr/>
        </p:nvSpPr>
        <p:spPr>
          <a:xfrm>
            <a:off x="1260360" y="1260000"/>
            <a:ext cx="3238920" cy="1259280"/>
          </a:xfrm>
          <a:prstGeom prst="roundRect">
            <a:avLst>
              <a:gd name="adj" fmla="val 16667"/>
            </a:avLst>
          </a:prstGeom>
          <a:solidFill>
            <a:schemeClr val="tx2">
              <a:lumMod val="20000"/>
              <a:lumOff val="80000"/>
            </a:schemeClr>
          </a:solidFill>
          <a:ln>
            <a:solidFill>
              <a:srgbClr val="822433"/>
            </a:solidFill>
          </a:ln>
        </p:spPr>
        <p:style>
          <a:lnRef idx="2">
            <a:schemeClr val="dk1"/>
          </a:lnRef>
          <a:fillRef idx="1">
            <a:schemeClr val="lt1"/>
          </a:fillRef>
          <a:effectRef idx="0">
            <a:schemeClr val="dk1"/>
          </a:effectRef>
          <a:fontRef idx="minor"/>
        </p:style>
        <p:txBody>
          <a:bodyPr numCol="1" spcCol="0" lIns="90000" rIns="90000" tIns="45000" bIns="45000" anchor="t">
            <a:noAutofit/>
          </a:bodyPr>
          <a:p>
            <a:pPr marL="216000" indent="-216000" algn="just" defTabSz="914400">
              <a:lnSpc>
                <a:spcPct val="100000"/>
              </a:lnSpc>
              <a:spcBef>
                <a:spcPts val="283"/>
              </a:spcBef>
              <a:spcAft>
                <a:spcPts val="283"/>
              </a:spcAft>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    Small σ:</a:t>
            </a:r>
            <a:endParaRPr lang="it-IT" sz="1800" b="0" u="none" strike="noStrike">
              <a:solidFill>
                <a:srgbClr val="000000"/>
              </a:solidFill>
              <a:effectLst/>
              <a:uFillTx/>
              <a:latin typeface="Arial"/>
            </a:endParaRPr>
          </a:p>
          <a:p>
            <a:pPr marL="216000" indent="-216000" algn="just" defTabSz="914400">
              <a:lnSpc>
                <a:spcPct val="100000"/>
              </a:lnSpc>
              <a:spcBef>
                <a:spcPts val="283"/>
              </a:spcBef>
              <a:spcAft>
                <a:spcPts val="283"/>
              </a:spcAft>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Better RHS locality</a:t>
            </a:r>
            <a:endParaRPr lang="it-IT" sz="1800" b="0" u="none" strike="noStrike">
              <a:solidFill>
                <a:srgbClr val="000000"/>
              </a:solidFill>
              <a:effectLst/>
              <a:uFillTx/>
              <a:latin typeface="Arial"/>
            </a:endParaRPr>
          </a:p>
          <a:p>
            <a:pPr marL="216000" indent="-216000" algn="just" defTabSz="914400">
              <a:lnSpc>
                <a:spcPct val="100000"/>
              </a:lnSpc>
              <a:spcBef>
                <a:spcPts val="283"/>
              </a:spcBef>
              <a:spcAft>
                <a:spcPts val="283"/>
              </a:spcAft>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More padding </a:t>
            </a:r>
            <a:endParaRPr lang="it-IT" sz="1800" b="0" u="none" strike="noStrike">
              <a:solidFill>
                <a:srgbClr val="000000"/>
              </a:solidFill>
              <a:effectLst/>
              <a:uFillTx/>
              <a:latin typeface="Arial"/>
            </a:endParaRPr>
          </a:p>
        </p:txBody>
      </p:sp>
      <p:sp>
        <p:nvSpPr>
          <p:cNvPr id="382" name="Rettangolo con angoli arrotondati 23"/>
          <p:cNvSpPr/>
          <p:nvPr/>
        </p:nvSpPr>
        <p:spPr>
          <a:xfrm>
            <a:off x="5040000" y="1260000"/>
            <a:ext cx="3238920" cy="1259280"/>
          </a:xfrm>
          <a:prstGeom prst="roundRect">
            <a:avLst>
              <a:gd name="adj" fmla="val 16667"/>
            </a:avLst>
          </a:prstGeom>
          <a:solidFill>
            <a:schemeClr val="tx2">
              <a:lumMod val="20000"/>
              <a:lumOff val="80000"/>
            </a:schemeClr>
          </a:solidFill>
          <a:ln>
            <a:solidFill>
              <a:srgbClr val="822433"/>
            </a:solidFill>
          </a:ln>
        </p:spPr>
        <p:style>
          <a:lnRef idx="2">
            <a:schemeClr val="dk1"/>
          </a:lnRef>
          <a:fillRef idx="1">
            <a:schemeClr val="lt1"/>
          </a:fillRef>
          <a:effectRef idx="0">
            <a:schemeClr val="dk1"/>
          </a:effectRef>
          <a:fontRef idx="minor"/>
        </p:style>
        <p:txBody>
          <a:bodyPr numCol="1" spcCol="0" lIns="90000" rIns="90000" tIns="45000" bIns="45000" anchor="t">
            <a:noAutofit/>
          </a:bodyPr>
          <a:p>
            <a:pPr marL="216000" indent="-216000" algn="just" defTabSz="914400">
              <a:lnSpc>
                <a:spcPct val="100000"/>
              </a:lnSpc>
              <a:spcBef>
                <a:spcPts val="283"/>
              </a:spcBef>
              <a:spcAft>
                <a:spcPts val="283"/>
              </a:spcAft>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Large σ :</a:t>
            </a:r>
            <a:endParaRPr lang="it-IT" sz="1800" b="0" u="none" strike="noStrike">
              <a:solidFill>
                <a:srgbClr val="000000"/>
              </a:solidFill>
              <a:effectLst/>
              <a:uFillTx/>
              <a:latin typeface="Arial"/>
            </a:endParaRPr>
          </a:p>
          <a:p>
            <a:pPr marL="216000" indent="-216000" algn="just" defTabSz="914400">
              <a:lnSpc>
                <a:spcPct val="100000"/>
              </a:lnSpc>
              <a:spcBef>
                <a:spcPts val="283"/>
              </a:spcBef>
              <a:spcAft>
                <a:spcPts val="283"/>
              </a:spcAft>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Less padding </a:t>
            </a:r>
            <a:endParaRPr lang="it-IT" sz="1800" b="0" u="none" strike="noStrike">
              <a:solidFill>
                <a:srgbClr val="000000"/>
              </a:solidFill>
              <a:effectLst/>
              <a:uFillTx/>
              <a:latin typeface="Arial"/>
            </a:endParaRPr>
          </a:p>
          <a:p>
            <a:pPr marL="216000" indent="-216000" algn="just" defTabSz="914400">
              <a:lnSpc>
                <a:spcPct val="100000"/>
              </a:lnSpc>
              <a:spcBef>
                <a:spcPts val="283"/>
              </a:spcBef>
              <a:spcAft>
                <a:spcPts val="283"/>
              </a:spcAft>
              <a:buClr>
                <a:srgbClr val="000000"/>
              </a:buClr>
              <a:buSzPct val="45000"/>
              <a:buFont typeface="Wingdings" charset="2"/>
              <a:buChar char=""/>
              <a:tabLst>
                <a:tab algn="l" pos="0"/>
              </a:tabLst>
            </a:pPr>
            <a:r>
              <a:rPr lang="en-US" sz="1800" b="0" u="none" strike="noStrike">
                <a:solidFill>
                  <a:srgbClr val="000000"/>
                </a:solidFill>
                <a:effectLst/>
                <a:uFillTx/>
                <a:latin typeface="Arial"/>
                <a:ea typeface="Microsoft YaHei"/>
              </a:rPr>
              <a:t>Worse RHS locality</a:t>
            </a:r>
            <a:endParaRPr lang="it-IT" sz="1800" b="0" u="none" strike="noStrike">
              <a:solidFill>
                <a:srgbClr val="000000"/>
              </a:solidFill>
              <a:effectLst/>
              <a:uFillTx/>
              <a:latin typeface="Arial"/>
            </a:endParaRPr>
          </a:p>
          <a:p>
            <a:pPr algn="just" defTabSz="914400">
              <a:lnSpc>
                <a:spcPct val="100000"/>
              </a:lnSpc>
              <a:spcBef>
                <a:spcPts val="283"/>
              </a:spcBef>
              <a:spcAft>
                <a:spcPts val="283"/>
              </a:spcAft>
              <a:tabLst>
                <a:tab algn="l" pos="0"/>
              </a:tabLst>
            </a:pPr>
            <a:endParaRPr lang="it-IT" sz="1800" b="0" u="none" strike="noStrike">
              <a:solidFill>
                <a:srgbClr val="000000"/>
              </a:solidFill>
              <a:effectLst/>
              <a:uFillTx/>
              <a:latin typeface="Arial"/>
            </a:endParaRPr>
          </a:p>
        </p:txBody>
      </p:sp>
      <p:sp>
        <p:nvSpPr>
          <p:cNvPr id="383" name=""/>
          <p:cNvSpPr/>
          <p:nvPr/>
        </p:nvSpPr>
        <p:spPr>
          <a:xfrm>
            <a:off x="4500000" y="1737720"/>
            <a:ext cx="539280" cy="601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it-IT" sz="1800" b="0" u="none" strike="noStrike">
                <a:solidFill>
                  <a:srgbClr val="000000"/>
                </a:solidFill>
                <a:effectLst/>
                <a:uFillTx/>
                <a:latin typeface="Arial"/>
                <a:ea typeface="ＭＳ Ｐゴシック"/>
              </a:rPr>
              <a:t>Vs</a:t>
            </a:r>
            <a:endParaRPr lang="it-IT" sz="1800" b="0" u="none" strike="noStrike">
              <a:solidFill>
                <a:srgbClr val="000000"/>
              </a:solidFill>
              <a:effectLst/>
              <a:uFillTx/>
              <a:latin typeface="Arial"/>
            </a:endParaRPr>
          </a:p>
        </p:txBody>
      </p:sp>
      <p:sp>
        <p:nvSpPr>
          <p:cNvPr id="384" name=""/>
          <p:cNvSpPr/>
          <p:nvPr/>
        </p:nvSpPr>
        <p:spPr>
          <a:xfrm>
            <a:off x="1440000" y="2700000"/>
            <a:ext cx="7559280" cy="359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it-IT" sz="1800" b="0" u="none" strike="noStrike">
                <a:solidFill>
                  <a:srgbClr val="000000"/>
                </a:solidFill>
                <a:effectLst/>
                <a:uFillTx/>
                <a:latin typeface="Arial"/>
                <a:ea typeface="ＭＳ Ｐゴシック"/>
              </a:rPr>
              <a:t>Tradeoff between reducing padding and preserving RHS locality</a:t>
            </a:r>
            <a:endParaRPr lang="it-IT" sz="1800" b="0" u="none" strike="noStrike">
              <a:solidFill>
                <a:srgbClr val="000000"/>
              </a:solidFill>
              <a:effectLst/>
              <a:uFillTx/>
              <a:latin typeface="Arial"/>
            </a:endParaRPr>
          </a:p>
        </p:txBody>
      </p:sp>
      <p:sp>
        <p:nvSpPr>
          <p:cNvPr id="385" name="Rectangle 8"/>
          <p:cNvSpPr/>
          <p:nvPr/>
        </p:nvSpPr>
        <p:spPr>
          <a:xfrm>
            <a:off x="720" y="324000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defTabSz="457200">
              <a:lnSpc>
                <a:spcPct val="100000"/>
              </a:lnSpc>
              <a:spcBef>
                <a:spcPts val="1191"/>
              </a:spcBef>
              <a:spcAft>
                <a:spcPts val="992"/>
              </a:spcAft>
            </a:pPr>
            <a:r>
              <a:rPr lang="en-US" sz="2400" b="1" u="none" strike="noStrike">
                <a:solidFill>
                  <a:srgbClr val="822433"/>
                </a:solidFill>
                <a:effectLst/>
                <a:uFillTx/>
                <a:latin typeface="Arial"/>
                <a:ea typeface="ＭＳ Ｐゴシック"/>
              </a:rPr>
              <a:t>Validation of the Model</a:t>
            </a:r>
            <a:endParaRPr lang="it-IT" sz="2400" b="0" u="none" strike="noStrike">
              <a:solidFill>
                <a:srgbClr val="000000"/>
              </a:solidFill>
              <a:effectLst/>
              <a:uFillTx/>
              <a:latin typeface="Arial"/>
            </a:endParaRPr>
          </a:p>
        </p:txBody>
      </p:sp>
      <p:sp>
        <p:nvSpPr>
          <p:cNvPr id="386" name=""/>
          <p:cNvSpPr/>
          <p:nvPr/>
        </p:nvSpPr>
        <p:spPr>
          <a:xfrm>
            <a:off x="1620000" y="3960000"/>
            <a:ext cx="6299280" cy="1023480"/>
          </a:xfrm>
          <a:prstGeom prst="rect">
            <a:avLst/>
          </a:prstGeom>
          <a:noFill/>
          <a:ln w="0">
            <a:noFill/>
          </a:ln>
        </p:spPr>
        <p:style>
          <a:lnRef idx="0"/>
          <a:fillRef idx="0"/>
          <a:effectRef idx="0"/>
          <a:fontRef idx="minor"/>
        </p:style>
        <p:txBody>
          <a:bodyPr lIns="0" rIns="0" tIns="0" bIns="0" anchor="t">
            <a:spAutoFit/>
          </a:bodyPr>
          <a:p>
            <a:pPr>
              <a:lnSpc>
                <a:spcPct val="100000"/>
              </a:lnSpc>
            </a:pPr>
            <a:r>
              <a:rPr lang="it-IT" sz="1800" b="0" u="none" strike="noStrike">
                <a:solidFill>
                  <a:srgbClr val="000000"/>
                </a:solidFill>
                <a:effectLst/>
                <a:uFillTx/>
                <a:latin typeface="Arial"/>
                <a:ea typeface="ＭＳ Ｐゴシック"/>
              </a:rPr>
              <a:t>The simplified performance model is not exact, but it predicts the behavior of SELL-C-σ reasonably well. Large matrices follow the bandwidth-bound prediction, while small or irregular matrices deviate more</a:t>
            </a: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ftr" idx="78"/>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388" name="PlaceHolder 2"/>
          <p:cNvSpPr>
            <a:spLocks noGrp="1"/>
          </p:cNvSpPr>
          <p:nvPr>
            <p:ph type="dt" idx="79"/>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389" name="Rettangolo 20"/>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lang="it-IT" sz="900" b="0" u="none" strike="noStrike">
              <a:solidFill>
                <a:schemeClr val="lt1"/>
              </a:solidFill>
              <a:effectLst/>
              <a:uFillTx/>
              <a:latin typeface="Arial"/>
              <a:ea typeface="ＭＳ Ｐゴシック"/>
            </a:endParaRPr>
          </a:p>
        </p:txBody>
      </p:sp>
      <p:sp>
        <p:nvSpPr>
          <p:cNvPr id="390" name="Segnaposto numero diapositiva 5"/>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14 </a:t>
            </a:r>
            <a:endParaRPr lang="it-IT" sz="1100" b="0" u="none" strike="noStrike">
              <a:solidFill>
                <a:srgbClr val="000000"/>
              </a:solidFill>
              <a:effectLst/>
              <a:uFillTx/>
              <a:latin typeface="Arial"/>
            </a:endParaRPr>
          </a:p>
        </p:txBody>
      </p:sp>
      <p:sp>
        <p:nvSpPr>
          <p:cNvPr id="391" name="Rectangle 2"/>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pPr>
            <a:r>
              <a:rPr lang="it-IT" sz="2400" b="1" u="none" strike="noStrike">
                <a:solidFill>
                  <a:srgbClr val="822433"/>
                </a:solidFill>
                <a:effectLst/>
                <a:uFillTx/>
                <a:latin typeface="Arial"/>
                <a:ea typeface="ＭＳ Ｐゴシック"/>
              </a:rPr>
              <a:t>Conclusions</a:t>
            </a:r>
            <a:endParaRPr lang="it-IT" sz="2400" b="0" u="none" strike="noStrike">
              <a:solidFill>
                <a:srgbClr val="000000"/>
              </a:solidFill>
              <a:effectLst/>
              <a:uFillTx/>
              <a:latin typeface="Arial"/>
            </a:endParaRPr>
          </a:p>
          <a:p>
            <a:pPr algn="ctr" defTabSz="457200">
              <a:lnSpc>
                <a:spcPct val="100000"/>
              </a:lnSpc>
            </a:pPr>
            <a:endParaRPr lang="it-IT" sz="2400" b="0" u="none" strike="noStrike">
              <a:solidFill>
                <a:srgbClr val="000000"/>
              </a:solidFill>
              <a:effectLst/>
              <a:uFillTx/>
              <a:latin typeface="Arial"/>
            </a:endParaRPr>
          </a:p>
        </p:txBody>
      </p:sp>
      <p:sp>
        <p:nvSpPr>
          <p:cNvPr id="392" name="CasellaDiTesto 12"/>
          <p:cNvSpPr/>
          <p:nvPr/>
        </p:nvSpPr>
        <p:spPr>
          <a:xfrm>
            <a:off x="614160" y="1904040"/>
            <a:ext cx="3885120" cy="1155240"/>
          </a:xfrm>
          <a:prstGeom prst="rect">
            <a:avLst/>
          </a:prstGeom>
          <a:noFill/>
          <a:ln w="0">
            <a:noFill/>
          </a:ln>
        </p:spPr>
        <p:style>
          <a:lnRef idx="0"/>
          <a:fillRef idx="0"/>
          <a:effectRef idx="0"/>
          <a:fontRef idx="minor"/>
        </p:style>
        <p:txBody>
          <a:bodyPr numCol="1" spcCol="0" wrap="none" lIns="90000" rIns="90000" tIns="45000" bIns="45000" anchor="t">
            <a:spAutoFit/>
          </a:bodyPr>
          <a:p>
            <a:pPr algn="ctr" defTabSz="457200">
              <a:lnSpc>
                <a:spcPct val="100000"/>
              </a:lnSpc>
              <a:tabLst>
                <a:tab algn="l" pos="0"/>
              </a:tabLst>
            </a:pPr>
            <a:r>
              <a:rPr lang="en-US" sz="3000" b="1" u="none" strike="noStrike">
                <a:solidFill>
                  <a:schemeClr val="dk1"/>
                </a:solidFill>
                <a:effectLst/>
                <a:uFillTx/>
                <a:latin typeface="Arial"/>
                <a:ea typeface="ＭＳ Ｐゴシック"/>
              </a:rPr>
              <a:t>Final considerations</a:t>
            </a:r>
            <a:endParaRPr lang="it-IT" sz="3000" b="0" u="none" strike="noStrike">
              <a:solidFill>
                <a:srgbClr val="000000"/>
              </a:solidFill>
              <a:effectLst/>
              <a:uFillTx/>
              <a:latin typeface="Arial"/>
            </a:endParaRPr>
          </a:p>
          <a:p>
            <a:pPr algn="ctr" defTabSz="457200">
              <a:lnSpc>
                <a:spcPct val="100000"/>
              </a:lnSpc>
              <a:spcBef>
                <a:spcPts val="1191"/>
              </a:spcBef>
              <a:spcAft>
                <a:spcPts val="992"/>
              </a:spcAft>
              <a:tabLst>
                <a:tab algn="l" pos="0"/>
              </a:tabLst>
            </a:pPr>
            <a:r>
              <a:rPr lang="en-US" sz="3000" b="1" u="none" strike="noStrike">
                <a:solidFill>
                  <a:schemeClr val="dk1"/>
                </a:solidFill>
                <a:effectLst/>
                <a:uFillTx/>
                <a:latin typeface="Arial"/>
                <a:ea typeface="ＭＳ Ｐゴシック"/>
              </a:rPr>
              <a:t>over </a:t>
            </a:r>
            <a:r>
              <a:rPr lang="it-IT" sz="3000" b="1" u="none" strike="noStrike">
                <a:solidFill>
                  <a:schemeClr val="dk1"/>
                </a:solidFill>
                <a:effectLst/>
                <a:uFillTx/>
                <a:latin typeface="Arial"/>
                <a:ea typeface="ＭＳ Ｐゴシック"/>
              </a:rPr>
              <a:t>SELL-C-σ </a:t>
            </a:r>
            <a:endParaRPr lang="it-IT" sz="3000" b="0" u="none" strike="noStrike">
              <a:solidFill>
                <a:srgbClr val="000000"/>
              </a:solidFill>
              <a:effectLst/>
              <a:uFillTx/>
              <a:latin typeface="Arial"/>
            </a:endParaRPr>
          </a:p>
        </p:txBody>
      </p:sp>
      <p:sp>
        <p:nvSpPr>
          <p:cNvPr id="393" name="CasellaDiTesto 27"/>
          <p:cNvSpPr/>
          <p:nvPr/>
        </p:nvSpPr>
        <p:spPr>
          <a:xfrm>
            <a:off x="804240" y="3744720"/>
            <a:ext cx="2075040" cy="699480"/>
          </a:xfrm>
          <a:prstGeom prst="rect">
            <a:avLst/>
          </a:prstGeom>
          <a:noFill/>
          <a:ln w="0">
            <a:noFill/>
          </a:ln>
        </p:spPr>
        <p:style>
          <a:lnRef idx="0"/>
          <a:fillRef idx="0"/>
          <a:effectRef idx="0"/>
          <a:fontRef idx="minor"/>
        </p:style>
        <p:txBody>
          <a:bodyPr numCol="1" spcCol="0" wrap="none" lIns="90000" rIns="90000" tIns="45000" bIns="45000" anchor="t">
            <a:spAutoFit/>
          </a:bodyPr>
          <a:p>
            <a:pPr algn="ctr" defTabSz="457200">
              <a:lnSpc>
                <a:spcPct val="100000"/>
              </a:lnSpc>
              <a:tabLst>
                <a:tab algn="l" pos="0"/>
              </a:tabLst>
            </a:pPr>
            <a:r>
              <a:rPr lang="en-US" sz="2000" b="1" u="none" strike="noStrike">
                <a:solidFill>
                  <a:schemeClr val="dk1"/>
                </a:solidFill>
                <a:effectLst/>
                <a:uFillTx/>
                <a:latin typeface="Arial"/>
                <a:ea typeface="ＭＳ Ｐゴシック"/>
              </a:rPr>
              <a:t>What happened</a:t>
            </a:r>
            <a:endParaRPr lang="it-IT" sz="2000" b="0" u="none" strike="noStrike">
              <a:solidFill>
                <a:srgbClr val="000000"/>
              </a:solidFill>
              <a:effectLst/>
              <a:uFillTx/>
              <a:latin typeface="Arial"/>
            </a:endParaRPr>
          </a:p>
          <a:p>
            <a:pPr algn="ctr" defTabSz="457200">
              <a:lnSpc>
                <a:spcPct val="100000"/>
              </a:lnSpc>
              <a:tabLst>
                <a:tab algn="l" pos="0"/>
              </a:tabLst>
            </a:pPr>
            <a:r>
              <a:rPr lang="en-US" sz="2000" b="1" u="none" strike="noStrike">
                <a:solidFill>
                  <a:schemeClr val="dk1"/>
                </a:solidFill>
                <a:effectLst/>
                <a:uFillTx/>
                <a:latin typeface="Arial"/>
                <a:ea typeface="ＭＳ Ｐゴシック"/>
              </a:rPr>
              <a:t>to this format</a:t>
            </a:r>
            <a:endParaRPr lang="it-IT" sz="2000" b="0" u="none" strike="noStrike">
              <a:solidFill>
                <a:srgbClr val="000000"/>
              </a:solidFill>
              <a:effectLst/>
              <a:uFillTx/>
              <a:latin typeface="Arial"/>
            </a:endParaRPr>
          </a:p>
        </p:txBody>
      </p:sp>
      <p:sp>
        <p:nvSpPr>
          <p:cNvPr id="394" name=""/>
          <p:cNvSpPr/>
          <p:nvPr/>
        </p:nvSpPr>
        <p:spPr>
          <a:xfrm>
            <a:off x="4680000" y="1080000"/>
            <a:ext cx="4319280" cy="4859280"/>
          </a:xfrm>
          <a:prstGeom prst="rect">
            <a:avLst/>
          </a:prstGeom>
          <a:noFill/>
          <a:ln w="0">
            <a:noFill/>
          </a:ln>
        </p:spPr>
        <p:style>
          <a:lnRef idx="0"/>
          <a:fillRef idx="0"/>
          <a:effectRef idx="0"/>
          <a:fontRef idx="minor"/>
        </p:style>
        <p:txBody>
          <a:bodyPr lIns="90000" rIns="90000" tIns="45000" bIns="45000" anchor="t">
            <a:spAutoFit/>
          </a:bodyPr>
          <a:p>
            <a:pPr marL="216000" indent="-216000" algn="just" defTabSz="457200">
              <a:lnSpc>
                <a:spcPct val="100000"/>
              </a:lnSpc>
              <a:spcBef>
                <a:spcPts val="1191"/>
              </a:spcBef>
              <a:spcAft>
                <a:spcPts val="992"/>
              </a:spcAft>
              <a:buClr>
                <a:srgbClr val="000000"/>
              </a:buClr>
              <a:buSzPct val="45000"/>
              <a:buFont typeface="Wingdings" charset="2"/>
              <a:buChar char=""/>
            </a:pPr>
            <a:r>
              <a:rPr lang="it-IT" sz="1800" b="1" u="none" strike="noStrike">
                <a:solidFill>
                  <a:srgbClr val="000000"/>
                </a:solidFill>
                <a:effectLst/>
                <a:uFillTx/>
                <a:latin typeface="Arial"/>
                <a:ea typeface="ＭＳ Ｐゴシック"/>
              </a:rPr>
              <a:t>SELL-C-σ combines Sliced ELLPACK, SIMD vectorization and limited row sorting </a:t>
            </a:r>
            <a:endParaRPr lang="it-IT" sz="1800" b="0" u="none" strike="noStrike">
              <a:solidFill>
                <a:srgbClr val="000000"/>
              </a:solidFill>
              <a:effectLst/>
              <a:uFillTx/>
              <a:latin typeface="Arial"/>
            </a:endParaRPr>
          </a:p>
          <a:p>
            <a:pPr marL="216000" indent="-216000" algn="just" defTabSz="457200">
              <a:lnSpc>
                <a:spcPct val="100000"/>
              </a:lnSpc>
              <a:spcBef>
                <a:spcPts val="1191"/>
              </a:spcBef>
              <a:spcAft>
                <a:spcPts val="992"/>
              </a:spcAft>
              <a:buClr>
                <a:srgbClr val="000000"/>
              </a:buClr>
              <a:buSzPct val="45000"/>
              <a:buFont typeface="Wingdings" charset="2"/>
              <a:buChar char=""/>
            </a:pPr>
            <a:r>
              <a:rPr lang="it-IT" sz="1800" b="1" u="none" strike="noStrike">
                <a:solidFill>
                  <a:srgbClr val="000000"/>
                </a:solidFill>
                <a:effectLst/>
                <a:uFillTx/>
                <a:latin typeface="Arial"/>
                <a:ea typeface="ＭＳ Ｐゴシック"/>
              </a:rPr>
              <a:t>In most cases, the performance is close to or better than architecture-specific formats, especially on Intel Xeon Phi</a:t>
            </a:r>
            <a:endParaRPr lang="it-IT" sz="1800" b="0" u="none" strike="noStrike">
              <a:solidFill>
                <a:srgbClr val="000000"/>
              </a:solidFill>
              <a:effectLst/>
              <a:uFillTx/>
              <a:latin typeface="Arial"/>
            </a:endParaRPr>
          </a:p>
          <a:p>
            <a:pPr marL="216000" indent="-216000" algn="just" defTabSz="457200">
              <a:lnSpc>
                <a:spcPct val="100000"/>
              </a:lnSpc>
              <a:spcBef>
                <a:spcPts val="1191"/>
              </a:spcBef>
              <a:spcAft>
                <a:spcPts val="992"/>
              </a:spcAft>
              <a:buClr>
                <a:srgbClr val="000000"/>
              </a:buClr>
              <a:buSzPct val="45000"/>
              <a:buFont typeface="Wingdings" charset="2"/>
              <a:buChar char=""/>
            </a:pPr>
            <a:r>
              <a:rPr lang="it-IT" sz="1800" b="1" u="none" strike="noStrike">
                <a:solidFill>
                  <a:srgbClr val="000000"/>
                </a:solidFill>
                <a:effectLst/>
                <a:uFillTx/>
                <a:latin typeface="Arial"/>
                <a:ea typeface="ＭＳ Ｐゴシック"/>
              </a:rPr>
              <a:t>It represents a strong candidate for heterogeneous systems, where complementary strategies such as multi-threading across rows and automatic tuning of parameters can be studied to further improve performance</a:t>
            </a: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ftr" idx="80"/>
          </p:nvPr>
        </p:nvSpPr>
        <p:spPr>
          <a:xfrm>
            <a:off x="1295280" y="6219720"/>
            <a:ext cx="2894040" cy="455760"/>
          </a:xfrm>
          <a:prstGeom prst="rect">
            <a:avLst/>
          </a:prstGeom>
          <a:noFill/>
          <a:ln w="0">
            <a:noFill/>
          </a:ln>
        </p:spPr>
        <p:txBody>
          <a:bodyPr numCol="1" spcCol="0" lIns="91440" rIns="91440" tIns="45720" bIns="45720" anchor="t">
            <a:noAutofit/>
          </a:bodyPr>
          <a:lstStyle>
            <a:lvl1pPr indent="0" defTabSz="457200">
              <a:lnSpc>
                <a:spcPct val="100000"/>
              </a:lnSpc>
              <a:spcBef>
                <a:spcPts val="1191"/>
              </a:spcBef>
              <a:spcAft>
                <a:spcPts val="992"/>
              </a:spcAft>
              <a:buNone/>
              <a:tabLst>
                <a:tab algn="l" pos="0"/>
              </a:tabLst>
              <a:defRPr lang="it-IT" sz="1100" b="0" u="none" strike="noStrike">
                <a:solidFill>
                  <a:schemeClr val="lt1"/>
                </a:solidFill>
                <a:effectLst/>
                <a:uFillTx/>
                <a:latin typeface="Arial"/>
                <a:ea typeface="ＭＳ Ｐゴシック"/>
              </a:defRPr>
            </a:lvl1pPr>
          </a:lstStyle>
          <a:p>
            <a:pPr indent="0" defTabSz="457200">
              <a:lnSpc>
                <a:spcPct val="100000"/>
              </a:lnSpc>
              <a:spcBef>
                <a:spcPts val="1191"/>
              </a:spcBef>
              <a:spcAft>
                <a:spcPts val="992"/>
              </a:spcAft>
              <a:buNone/>
              <a:tabLst>
                <a:tab algn="l" pos="0"/>
              </a:tabLst>
            </a:pPr>
            <a:r>
              <a:rPr lang="it-IT" sz="1100" b="0" u="none" strike="noStrike">
                <a:solidFill>
                  <a:schemeClr val="lt1"/>
                </a:solidFill>
                <a:effectLst/>
                <a:uFillTx/>
                <a:latin typeface="Arial"/>
                <a:ea typeface="ＭＳ Ｐゴシック"/>
              </a:rPr>
              <a:t>A Unified Sparse Matrix Format for Modern SIMD Processors </a:t>
            </a:r>
            <a:endParaRPr lang="it-IT" sz="1100" b="0" u="none" strike="noStrike">
              <a:solidFill>
                <a:srgbClr val="000000"/>
              </a:solidFill>
              <a:effectLst/>
              <a:uFillTx/>
              <a:latin typeface="Times New Roman"/>
            </a:endParaRPr>
          </a:p>
        </p:txBody>
      </p:sp>
      <p:sp>
        <p:nvSpPr>
          <p:cNvPr id="396" name="PlaceHolder 2"/>
          <p:cNvSpPr>
            <a:spLocks noGrp="1"/>
          </p:cNvSpPr>
          <p:nvPr>
            <p:ph type="dt" idx="81"/>
          </p:nvPr>
        </p:nvSpPr>
        <p:spPr>
          <a:xfrm>
            <a:off x="4343400" y="6146640"/>
            <a:ext cx="1903680" cy="455760"/>
          </a:xfrm>
          <a:prstGeom prst="rect">
            <a:avLst/>
          </a:prstGeom>
          <a:noFill/>
          <a:ln w="0">
            <a:noFill/>
          </a:ln>
        </p:spPr>
        <p:txBody>
          <a:bodyPr numCol="1" spcCol="0" lIns="91440" rIns="91440" tIns="45720" bIns="45720" anchor="t">
            <a:noAutofit/>
          </a:bodyPr>
          <a:lstStyle>
            <a:lvl1pPr indent="0" algn="ctr" defTabSz="457200">
              <a:lnSpc>
                <a:spcPct val="100000"/>
              </a:lnSpc>
              <a:buNone/>
              <a:tabLst>
                <a:tab algn="l" pos="0"/>
              </a:tabLst>
              <a:defRPr lang="it-IT" sz="1100" b="0" u="none" strike="noStrike">
                <a:solidFill>
                  <a:schemeClr val="lt1"/>
                </a:solidFill>
                <a:effectLst/>
                <a:uFillTx/>
                <a:latin typeface="Arial"/>
                <a:ea typeface="ＭＳ Ｐゴシック"/>
              </a:defRPr>
            </a:lvl1pPr>
          </a:lstStyle>
          <a:p>
            <a:pPr indent="0" algn="ctr" defTabSz="457200">
              <a:lnSpc>
                <a:spcPct val="100000"/>
              </a:lnSpc>
              <a:buNone/>
              <a:tabLst>
                <a:tab algn="l" pos="0"/>
              </a:tabLst>
            </a:pPr>
            <a:r>
              <a:rPr lang="it-IT" sz="1100" b="0" u="none" strike="noStrike">
                <a:solidFill>
                  <a:schemeClr val="lt1"/>
                </a:solidFill>
                <a:effectLst/>
                <a:uFillTx/>
                <a:latin typeface="Arial"/>
                <a:ea typeface="ＭＳ Ｐゴシック"/>
              </a:rPr>
              <a:t>23/04/2026</a:t>
            </a:r>
            <a:endParaRPr lang="it-IT" sz="1100" b="0" u="none" strike="noStrike">
              <a:solidFill>
                <a:srgbClr val="000000"/>
              </a:solidFill>
              <a:effectLst/>
              <a:uFillTx/>
              <a:latin typeface="Times New Roman"/>
            </a:endParaRPr>
          </a:p>
          <a:p>
            <a:pPr indent="0" algn="ctr" defTabSz="457200">
              <a:lnSpc>
                <a:spcPct val="100000"/>
              </a:lnSpc>
              <a:buNone/>
              <a:tabLst>
                <a:tab algn="l" pos="0"/>
              </a:tabLst>
            </a:pPr>
            <a:endParaRPr lang="it-IT" sz="1100" b="0" u="none" strike="noStrike">
              <a:solidFill>
                <a:srgbClr val="000000"/>
              </a:solidFill>
              <a:effectLst/>
              <a:uFillTx/>
              <a:latin typeface="Times New Roman"/>
            </a:endParaRPr>
          </a:p>
        </p:txBody>
      </p:sp>
      <p:sp>
        <p:nvSpPr>
          <p:cNvPr id="397" name="Rettangolo 11"/>
          <p:cNvSpPr/>
          <p:nvPr/>
        </p:nvSpPr>
        <p:spPr>
          <a:xfrm>
            <a:off x="0" y="620640"/>
            <a:ext cx="3958920" cy="24609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lang="it-IT" sz="900" b="0" u="none" strike="noStrike">
              <a:solidFill>
                <a:schemeClr val="lt1"/>
              </a:solidFill>
              <a:effectLst/>
              <a:uFillTx/>
              <a:latin typeface="Arial"/>
              <a:ea typeface="ＭＳ Ｐゴシック"/>
            </a:endParaRPr>
          </a:p>
        </p:txBody>
      </p:sp>
      <p:sp>
        <p:nvSpPr>
          <p:cNvPr id="398" name="Segnaposto numero diapositiva 21"/>
          <p:cNvSpPr/>
          <p:nvPr/>
        </p:nvSpPr>
        <p:spPr>
          <a:xfrm>
            <a:off x="6548400" y="6146640"/>
            <a:ext cx="1903680" cy="455760"/>
          </a:xfrm>
          <a:prstGeom prst="rect">
            <a:avLst/>
          </a:prstGeom>
          <a:noFill/>
          <a:ln w="0">
            <a:noFill/>
          </a:ln>
        </p:spPr>
        <p:style>
          <a:lnRef idx="0"/>
          <a:fillRef idx="0"/>
          <a:effectRef idx="0"/>
          <a:fontRef idx="minor"/>
        </p:style>
        <p:txBody>
          <a:bodyPr numCol="1" spcCol="0" lIns="90000" rIns="90000" tIns="45000" bIns="45000" anchor="t">
            <a:noAutofit/>
          </a:bodyPr>
          <a:p>
            <a:pPr algn="r" defTabSz="457200">
              <a:lnSpc>
                <a:spcPct val="100000"/>
              </a:lnSpc>
            </a:pPr>
            <a:r>
              <a:rPr lang="it-IT" sz="1100" b="0" u="none" strike="noStrike">
                <a:solidFill>
                  <a:schemeClr val="lt1"/>
                </a:solidFill>
                <a:effectLst/>
                <a:uFillTx/>
                <a:latin typeface="Arial"/>
                <a:ea typeface="ＭＳ Ｐゴシック"/>
              </a:rPr>
              <a:t>Page 14 </a:t>
            </a:r>
            <a:endParaRPr lang="it-IT" sz="1100" b="0" u="none" strike="noStrike">
              <a:solidFill>
                <a:srgbClr val="000000"/>
              </a:solidFill>
              <a:effectLst/>
              <a:uFillTx/>
              <a:latin typeface="Arial"/>
            </a:endParaRPr>
          </a:p>
        </p:txBody>
      </p:sp>
      <p:sp>
        <p:nvSpPr>
          <p:cNvPr id="399" name="Rectangle 3"/>
          <p:cNvSpPr/>
          <p:nvPr/>
        </p:nvSpPr>
        <p:spPr>
          <a:xfrm>
            <a:off x="0" y="368280"/>
            <a:ext cx="9142560" cy="503280"/>
          </a:xfrm>
          <a:prstGeom prst="rect">
            <a:avLst/>
          </a:prstGeom>
          <a:noFill/>
          <a:ln w="0">
            <a:noFill/>
          </a:ln>
        </p:spPr>
        <p:style>
          <a:lnRef idx="0"/>
          <a:fillRef idx="0"/>
          <a:effectRef idx="0"/>
          <a:fontRef idx="minor"/>
        </p:style>
        <p:txBody>
          <a:bodyPr numCol="1" spcCol="0" lIns="90000" rIns="90000" tIns="45000" bIns="45000" anchor="t">
            <a:noAutofit/>
          </a:bodyPr>
          <a:p>
            <a:pPr algn="ctr" defTabSz="457200">
              <a:lnSpc>
                <a:spcPct val="100000"/>
              </a:lnSpc>
            </a:pPr>
            <a:r>
              <a:rPr lang="it-IT" sz="2400" b="1" u="none" strike="noStrike">
                <a:solidFill>
                  <a:srgbClr val="822433"/>
                </a:solidFill>
                <a:effectLst/>
                <a:uFillTx/>
                <a:latin typeface="Arial"/>
                <a:ea typeface="ＭＳ Ｐゴシック"/>
              </a:rPr>
              <a:t>Conclusions</a:t>
            </a:r>
            <a:endParaRPr lang="it-IT" sz="2400" b="0" u="none" strike="noStrike">
              <a:solidFill>
                <a:srgbClr val="000000"/>
              </a:solidFill>
              <a:effectLst/>
              <a:uFillTx/>
              <a:latin typeface="Arial"/>
            </a:endParaRPr>
          </a:p>
          <a:p>
            <a:pPr algn="ctr" defTabSz="457200">
              <a:lnSpc>
                <a:spcPct val="100000"/>
              </a:lnSpc>
            </a:pPr>
            <a:endParaRPr lang="it-IT" sz="2400" b="0" u="none" strike="noStrike">
              <a:solidFill>
                <a:srgbClr val="000000"/>
              </a:solidFill>
              <a:effectLst/>
              <a:uFillTx/>
              <a:latin typeface="Arial"/>
            </a:endParaRPr>
          </a:p>
        </p:txBody>
      </p:sp>
      <p:sp>
        <p:nvSpPr>
          <p:cNvPr id="400" name="CasellaDiTesto 28"/>
          <p:cNvSpPr/>
          <p:nvPr/>
        </p:nvSpPr>
        <p:spPr>
          <a:xfrm>
            <a:off x="763920" y="1904040"/>
            <a:ext cx="2655360" cy="850680"/>
          </a:xfrm>
          <a:prstGeom prst="rect">
            <a:avLst/>
          </a:prstGeom>
          <a:noFill/>
          <a:ln w="0">
            <a:noFill/>
          </a:ln>
        </p:spPr>
        <p:style>
          <a:lnRef idx="0"/>
          <a:fillRef idx="0"/>
          <a:effectRef idx="0"/>
          <a:fontRef idx="minor"/>
        </p:style>
        <p:txBody>
          <a:bodyPr numCol="1" spcCol="0" wrap="none" lIns="90000" rIns="90000" tIns="45000" bIns="45000" anchor="t">
            <a:spAutoFit/>
          </a:bodyPr>
          <a:p>
            <a:pPr algn="ctr" defTabSz="457200">
              <a:lnSpc>
                <a:spcPct val="100000"/>
              </a:lnSpc>
              <a:tabLst>
                <a:tab algn="l" pos="0"/>
              </a:tabLst>
            </a:pPr>
            <a:r>
              <a:rPr lang="en-US" sz="2000" b="1" u="none" strike="noStrike">
                <a:solidFill>
                  <a:schemeClr val="dk1"/>
                </a:solidFill>
                <a:effectLst/>
                <a:uFillTx/>
                <a:latin typeface="Arial"/>
                <a:ea typeface="ＭＳ Ｐゴシック"/>
              </a:rPr>
              <a:t>Final considerations</a:t>
            </a:r>
            <a:endParaRPr lang="it-IT" sz="2000" b="0" u="none" strike="noStrike">
              <a:solidFill>
                <a:srgbClr val="000000"/>
              </a:solidFill>
              <a:effectLst/>
              <a:uFillTx/>
              <a:latin typeface="Arial"/>
            </a:endParaRPr>
          </a:p>
          <a:p>
            <a:pPr algn="ctr" defTabSz="457200">
              <a:lnSpc>
                <a:spcPct val="100000"/>
              </a:lnSpc>
              <a:spcBef>
                <a:spcPts val="1191"/>
              </a:spcBef>
              <a:spcAft>
                <a:spcPts val="992"/>
              </a:spcAft>
              <a:tabLst>
                <a:tab algn="l" pos="0"/>
              </a:tabLst>
            </a:pPr>
            <a:r>
              <a:rPr lang="en-US" sz="2000" b="1" u="none" strike="noStrike">
                <a:solidFill>
                  <a:schemeClr val="dk1"/>
                </a:solidFill>
                <a:effectLst/>
                <a:uFillTx/>
                <a:latin typeface="Arial"/>
                <a:ea typeface="ＭＳ Ｐゴシック"/>
              </a:rPr>
              <a:t>over </a:t>
            </a:r>
            <a:r>
              <a:rPr lang="it-IT" sz="2000" b="1" u="none" strike="noStrike">
                <a:solidFill>
                  <a:schemeClr val="dk1"/>
                </a:solidFill>
                <a:effectLst/>
                <a:uFillTx/>
                <a:latin typeface="Arial"/>
                <a:ea typeface="ＭＳ Ｐゴシック"/>
              </a:rPr>
              <a:t>SELL-C-σ </a:t>
            </a:r>
            <a:endParaRPr lang="it-IT" sz="2000" b="0" u="none" strike="noStrike">
              <a:solidFill>
                <a:srgbClr val="000000"/>
              </a:solidFill>
              <a:effectLst/>
              <a:uFillTx/>
              <a:latin typeface="Arial"/>
            </a:endParaRPr>
          </a:p>
        </p:txBody>
      </p:sp>
      <p:sp>
        <p:nvSpPr>
          <p:cNvPr id="401" name="CasellaDiTesto 46"/>
          <p:cNvSpPr/>
          <p:nvPr/>
        </p:nvSpPr>
        <p:spPr>
          <a:xfrm>
            <a:off x="583920" y="3744720"/>
            <a:ext cx="3016080" cy="1004040"/>
          </a:xfrm>
          <a:prstGeom prst="rect">
            <a:avLst/>
          </a:prstGeom>
          <a:noFill/>
          <a:ln w="0">
            <a:noFill/>
          </a:ln>
        </p:spPr>
        <p:style>
          <a:lnRef idx="0"/>
          <a:fillRef idx="0"/>
          <a:effectRef idx="0"/>
          <a:fontRef idx="minor"/>
        </p:style>
        <p:txBody>
          <a:bodyPr numCol="1" spcCol="0" wrap="none" lIns="90000" rIns="90000" tIns="45000" bIns="45000" anchor="t">
            <a:spAutoFit/>
          </a:bodyPr>
          <a:p>
            <a:pPr algn="ctr" defTabSz="457200">
              <a:lnSpc>
                <a:spcPct val="100000"/>
              </a:lnSpc>
              <a:tabLst>
                <a:tab algn="l" pos="0"/>
              </a:tabLst>
            </a:pPr>
            <a:r>
              <a:rPr lang="en-US" sz="3000" b="1" u="none" strike="noStrike">
                <a:solidFill>
                  <a:schemeClr val="dk1"/>
                </a:solidFill>
                <a:effectLst/>
                <a:uFillTx/>
                <a:latin typeface="Arial"/>
                <a:ea typeface="ＭＳ Ｐゴシック"/>
              </a:rPr>
              <a:t>What happened</a:t>
            </a:r>
            <a:endParaRPr lang="it-IT" sz="3000" b="0" u="none" strike="noStrike">
              <a:solidFill>
                <a:srgbClr val="000000"/>
              </a:solidFill>
              <a:effectLst/>
              <a:uFillTx/>
              <a:latin typeface="Arial"/>
            </a:endParaRPr>
          </a:p>
          <a:p>
            <a:pPr algn="ctr" defTabSz="457200">
              <a:lnSpc>
                <a:spcPct val="100000"/>
              </a:lnSpc>
              <a:tabLst>
                <a:tab algn="l" pos="0"/>
              </a:tabLst>
            </a:pPr>
            <a:r>
              <a:rPr lang="en-US" sz="3000" b="1" u="none" strike="noStrike">
                <a:solidFill>
                  <a:schemeClr val="dk1"/>
                </a:solidFill>
                <a:effectLst/>
                <a:uFillTx/>
                <a:latin typeface="Arial"/>
                <a:ea typeface="ＭＳ Ｐゴシック"/>
              </a:rPr>
              <a:t>to this format</a:t>
            </a:r>
            <a:endParaRPr lang="it-IT" sz="3000" b="0" u="none" strike="noStrike">
              <a:solidFill>
                <a:srgbClr val="000000"/>
              </a:solidFill>
              <a:effectLst/>
              <a:uFillTx/>
              <a:latin typeface="Arial"/>
            </a:endParaRPr>
          </a:p>
        </p:txBody>
      </p:sp>
      <p:sp>
        <p:nvSpPr>
          <p:cNvPr id="402" name=""/>
          <p:cNvSpPr/>
          <p:nvPr/>
        </p:nvSpPr>
        <p:spPr>
          <a:xfrm>
            <a:off x="4680000" y="1719000"/>
            <a:ext cx="4319280" cy="3860280"/>
          </a:xfrm>
          <a:prstGeom prst="rect">
            <a:avLst/>
          </a:prstGeom>
          <a:noFill/>
          <a:ln w="0">
            <a:noFill/>
          </a:ln>
        </p:spPr>
        <p:style>
          <a:lnRef idx="0"/>
          <a:fillRef idx="0"/>
          <a:effectRef idx="0"/>
          <a:fontRef idx="minor"/>
        </p:style>
        <p:txBody>
          <a:bodyPr lIns="0" rIns="0" tIns="0" bIns="0" anchor="t">
            <a:spAutoFit/>
          </a:bodyPr>
          <a:p>
            <a:pPr marL="216000" indent="-216000" algn="just" defTabSz="457200">
              <a:lnSpc>
                <a:spcPct val="100000"/>
              </a:lnSpc>
              <a:spcBef>
                <a:spcPts val="1191"/>
              </a:spcBef>
              <a:spcAft>
                <a:spcPts val="992"/>
              </a:spcAft>
              <a:buClr>
                <a:srgbClr val="000000"/>
              </a:buClr>
              <a:buSzPct val="45000"/>
              <a:buFont typeface="Wingdings" charset="2"/>
              <a:buChar char=""/>
            </a:pPr>
            <a:r>
              <a:rPr lang="it-IT" sz="1800" b="1" u="none" strike="noStrike">
                <a:solidFill>
                  <a:srgbClr val="000000"/>
                </a:solidFill>
                <a:effectLst/>
                <a:uFillTx/>
                <a:latin typeface="Arial"/>
                <a:ea typeface="ＭＳ Ｐゴシック"/>
              </a:rPr>
              <a:t>Introduced in 2014, SELL-C-σ is not a dominant format today, but it is still used as a baseline for comparisons, a building block for hybrid formats and has influenced modern approaches </a:t>
            </a:r>
            <a:endParaRPr lang="it-IT" sz="1800" b="0" u="none" strike="noStrike">
              <a:solidFill>
                <a:srgbClr val="000000"/>
              </a:solidFill>
              <a:effectLst/>
              <a:uFillTx/>
              <a:latin typeface="Arial"/>
            </a:endParaRPr>
          </a:p>
          <a:p>
            <a:pPr marL="216000" indent="-216000" algn="just" defTabSz="457200">
              <a:lnSpc>
                <a:spcPct val="100000"/>
              </a:lnSpc>
              <a:spcBef>
                <a:spcPts val="1191"/>
              </a:spcBef>
              <a:spcAft>
                <a:spcPts val="992"/>
              </a:spcAft>
              <a:buClr>
                <a:srgbClr val="000000"/>
              </a:buClr>
              <a:buSzPct val="45000"/>
              <a:buFont typeface="Wingdings" charset="2"/>
              <a:buChar char=""/>
            </a:pPr>
            <a:r>
              <a:rPr lang="it-IT" sz="1800" b="1" u="none" strike="noStrike">
                <a:solidFill>
                  <a:srgbClr val="000000"/>
                </a:solidFill>
                <a:effectLst/>
                <a:uFillTx/>
                <a:latin typeface="Arial"/>
                <a:ea typeface="ＭＳ Ｐゴシック"/>
              </a:rPr>
              <a:t>While SELL provides a good balance, dynamic approaches, like Morpheus framework, aim to overcome the limitations of fixed formats, dynamically selecting the most suitable sparse matrix format at runtime, adapting to both data and hardware </a:t>
            </a:r>
            <a:endParaRPr lang="it-IT" sz="1800" b="0" u="none" strike="noStrike">
              <a:solidFill>
                <a:srgbClr val="000000"/>
              </a:solidFill>
              <a:effectLst/>
              <a:uFillTx/>
              <a:latin typeface="Arial"/>
            </a:endParaRPr>
          </a:p>
        </p:txBody>
      </p:sp>
    </p:spTree>
  </p:cSld>
  <mc:AlternateContent>
    <mc:Choice Requires="p14">
      <p:transition p14:dur="100">
        <p:fade/>
      </p:transition>
    </mc:Choice>
    <mc:Fallback>
      <p:transition>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Rectangle 29"/>
          <p:cNvSpPr/>
          <p:nvPr/>
        </p:nvSpPr>
        <p:spPr>
          <a:xfrm>
            <a:off x="0" y="-300600"/>
            <a:ext cx="9142560" cy="4903920"/>
          </a:xfrm>
          <a:prstGeom prst="rect">
            <a:avLst/>
          </a:prstGeom>
          <a:solidFill>
            <a:srgbClr val="006778"/>
          </a:solidFill>
          <a:ln w="0">
            <a:noFill/>
          </a:ln>
        </p:spPr>
        <p:style>
          <a:lnRef idx="0"/>
          <a:fillRef idx="0"/>
          <a:effectRef idx="0"/>
          <a:fontRef idx="minor"/>
        </p:style>
        <p:txBody>
          <a:bodyPr wrap="none" lIns="90000" rIns="90000" tIns="45000" bIns="45000" anchor="ctr">
            <a:noAutofit/>
          </a:bodyPr>
          <a:p>
            <a:pPr>
              <a:lnSpc>
                <a:spcPct val="100000"/>
              </a:lnSpc>
            </a:pPr>
            <a:endParaRPr lang="it-IT" sz="900" b="0" u="none" strike="noStrike">
              <a:solidFill>
                <a:srgbClr val="000000"/>
              </a:solidFill>
              <a:effectLst/>
              <a:uFillTx/>
              <a:latin typeface="Arial"/>
              <a:ea typeface="ＭＳ Ｐゴシック"/>
            </a:endParaRPr>
          </a:p>
        </p:txBody>
      </p:sp>
      <p:sp>
        <p:nvSpPr>
          <p:cNvPr id="404" name="PlaceHolder 1"/>
          <p:cNvSpPr>
            <a:spLocks noGrp="1"/>
          </p:cNvSpPr>
          <p:nvPr>
            <p:ph type="title"/>
          </p:nvPr>
        </p:nvSpPr>
        <p:spPr>
          <a:xfrm>
            <a:off x="1331280" y="1440000"/>
            <a:ext cx="6767640" cy="877680"/>
          </a:xfrm>
          <a:prstGeom prst="rect">
            <a:avLst/>
          </a:prstGeom>
          <a:noFill/>
          <a:ln w="0">
            <a:noFill/>
          </a:ln>
        </p:spPr>
        <p:txBody>
          <a:bodyPr numCol="1" spcCol="0" lIns="91440" rIns="91440" tIns="45720" bIns="45720" anchor="t">
            <a:noAutofit/>
          </a:bodyPr>
          <a:p>
            <a:pPr indent="0" algn="ctr">
              <a:lnSpc>
                <a:spcPct val="100000"/>
              </a:lnSpc>
              <a:spcBef>
                <a:spcPts val="1191"/>
              </a:spcBef>
              <a:spcAft>
                <a:spcPts val="992"/>
              </a:spcAft>
              <a:buNone/>
              <a:tabLst>
                <a:tab algn="l" pos="0"/>
              </a:tabLst>
            </a:pPr>
            <a:r>
              <a:rPr lang="it-IT" sz="2400" b="1" u="none" strike="noStrike">
                <a:solidFill>
                  <a:schemeClr val="lt1"/>
                </a:solidFill>
                <a:effectLst/>
                <a:uFillTx/>
                <a:latin typeface="Arial"/>
                <a:ea typeface="ＭＳ Ｐゴシック"/>
              </a:rPr>
              <a:t> </a:t>
            </a:r>
            <a:r>
              <a:rPr lang="it-IT" sz="2600" b="1" u="none" strike="noStrike">
                <a:solidFill>
                  <a:schemeClr val="lt1"/>
                </a:solidFill>
                <a:effectLst/>
                <a:uFillTx/>
                <a:latin typeface="Arial"/>
                <a:ea typeface="ＭＳ Ｐゴシック"/>
              </a:rPr>
              <a:t> A Unified Sparse Matrix Format for Modern SIMD Processors</a:t>
            </a:r>
            <a:br>
              <a:rPr sz="2600"/>
            </a:br>
            <a:endParaRPr lang="it-IT" sz="2600" b="0" u="none" strike="noStrike">
              <a:solidFill>
                <a:srgbClr val="000000"/>
              </a:solidFill>
              <a:effectLst/>
              <a:uFillTx/>
              <a:latin typeface="Arial"/>
            </a:endParaRPr>
          </a:p>
        </p:txBody>
      </p:sp>
      <p:grpSp>
        <p:nvGrpSpPr>
          <p:cNvPr id="405" name="Group 1"/>
          <p:cNvGrpSpPr/>
          <p:nvPr/>
        </p:nvGrpSpPr>
        <p:grpSpPr>
          <a:xfrm>
            <a:off x="0" y="4270680"/>
            <a:ext cx="9151920" cy="2561400"/>
            <a:chOff x="0" y="4270680"/>
            <a:chExt cx="9151920" cy="2561400"/>
          </a:xfrm>
        </p:grpSpPr>
        <p:pic>
          <p:nvPicPr>
            <p:cNvPr id="406" name="Picture 1" descr="Fondino"/>
            <p:cNvPicPr/>
            <p:nvPr/>
          </p:nvPicPr>
          <p:blipFill>
            <a:blip r:embed="rId1"/>
            <a:stretch/>
          </p:blipFill>
          <p:spPr>
            <a:xfrm>
              <a:off x="0" y="4270680"/>
              <a:ext cx="9151920" cy="2561400"/>
            </a:xfrm>
            <a:prstGeom prst="rect">
              <a:avLst/>
            </a:prstGeom>
            <a:noFill/>
            <a:ln w="0">
              <a:noFill/>
            </a:ln>
          </p:spPr>
        </p:pic>
        <p:pic>
          <p:nvPicPr>
            <p:cNvPr id="407" name="Picture 2" descr="fascia"/>
            <p:cNvPicPr/>
            <p:nvPr/>
          </p:nvPicPr>
          <p:blipFill>
            <a:blip r:embed="rId2"/>
            <a:stretch/>
          </p:blipFill>
          <p:spPr>
            <a:xfrm>
              <a:off x="2081880" y="4299120"/>
              <a:ext cx="7060680" cy="877680"/>
            </a:xfrm>
            <a:prstGeom prst="rect">
              <a:avLst/>
            </a:prstGeom>
            <a:noFill/>
            <a:ln w="0">
              <a:noFill/>
            </a:ln>
          </p:spPr>
        </p:pic>
      </p:grpSp>
      <p:sp>
        <p:nvSpPr>
          <p:cNvPr id="408" name="CasellaDiTesto 26"/>
          <p:cNvSpPr/>
          <p:nvPr/>
        </p:nvSpPr>
        <p:spPr>
          <a:xfrm>
            <a:off x="2301840" y="3406320"/>
            <a:ext cx="6145200" cy="1064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endParaRPr lang="it-IT" sz="1600" b="0" u="none" strike="noStrike">
              <a:solidFill>
                <a:srgbClr val="000000"/>
              </a:solidFill>
              <a:effectLst/>
              <a:uFillTx/>
              <a:latin typeface="Arial"/>
            </a:endParaRPr>
          </a:p>
          <a:p>
            <a:pPr defTabSz="457200">
              <a:lnSpc>
                <a:spcPct val="100000"/>
              </a:lnSpc>
            </a:pP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endParaRPr lang="it-IT" sz="1600" b="0" u="none" strike="noStrike">
              <a:solidFill>
                <a:srgbClr val="000000"/>
              </a:solidFill>
              <a:effectLst/>
              <a:uFillTx/>
              <a:latin typeface="Arial"/>
            </a:endParaRPr>
          </a:p>
          <a:p>
            <a:pPr defTabSz="457200">
              <a:lnSpc>
                <a:spcPct val="100000"/>
              </a:lnSpc>
            </a:pP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t>
            </a:r>
            <a:r>
              <a:rPr lang="it-IT" sz="1600" b="0" u="none" strike="noStrike">
                <a:solidFill>
                  <a:schemeClr val="lt1"/>
                </a:solidFill>
                <a:effectLst/>
                <a:uFillTx/>
                <a:latin typeface="Arial"/>
                <a:ea typeface="ＭＳ Ｐゴシック"/>
              </a:rPr>
              <a:t>     Advanced Architectures</a:t>
            </a:r>
            <a:endParaRPr lang="it-IT" sz="1600" b="0" u="none" strike="noStrike">
              <a:solidFill>
                <a:srgbClr val="000000"/>
              </a:solidFill>
              <a:effectLst/>
              <a:uFillTx/>
              <a:latin typeface="Arial"/>
            </a:endParaRPr>
          </a:p>
          <a:p>
            <a:pPr defTabSz="457200">
              <a:lnSpc>
                <a:spcPct val="100000"/>
              </a:lnSpc>
            </a:pPr>
            <a:endParaRPr lang="it-IT" sz="1600" b="0" u="none" strike="noStrike">
              <a:solidFill>
                <a:srgbClr val="000000"/>
              </a:solidFill>
              <a:effectLst/>
              <a:uFillTx/>
              <a:latin typeface="Arial"/>
            </a:endParaRPr>
          </a:p>
        </p:txBody>
      </p:sp>
      <p:pic>
        <p:nvPicPr>
          <p:cNvPr id="409" name="Picture 3" descr="A white text on a black background&#10;&#10;Description automatically generated with medium confidence"/>
          <p:cNvPicPr/>
          <p:nvPr/>
        </p:nvPicPr>
        <p:blipFill>
          <a:blip r:embed="rId3"/>
          <a:stretch/>
        </p:blipFill>
        <p:spPr>
          <a:xfrm>
            <a:off x="1403640" y="4631760"/>
            <a:ext cx="2550600" cy="786240"/>
          </a:xfrm>
          <a:prstGeom prst="rect">
            <a:avLst/>
          </a:prstGeom>
          <a:noFill/>
          <a:ln w="0">
            <a:noFill/>
          </a:ln>
        </p:spPr>
      </p:pic>
      <p:sp>
        <p:nvSpPr>
          <p:cNvPr id="410" name="CasellaDiTesto 29"/>
          <p:cNvSpPr/>
          <p:nvPr/>
        </p:nvSpPr>
        <p:spPr>
          <a:xfrm>
            <a:off x="5757120" y="5030280"/>
            <a:ext cx="3454560" cy="333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lang="en-US" sz="2400" b="0" u="none" strike="noStrike">
              <a:solidFill>
                <a:srgbClr val="000000"/>
              </a:solidFill>
              <a:effectLst/>
              <a:uFillTx/>
              <a:latin typeface="Arial"/>
              <a:ea typeface="ＭＳ Ｐゴシック"/>
            </a:endParaRPr>
          </a:p>
        </p:txBody>
      </p:sp>
    </p:spTree>
  </p:cSld>
  <mc:AlternateContent>
    <mc:Choice Requires="p14">
      <p:transition p14:dur="100">
        <p:fade/>
      </p:transition>
    </mc:Choice>
    <mc:Fallback>
      <p:transition>
        <p:fade/>
      </p:transition>
    </mc:Fallback>
  </mc:AlternateContent>
</p:sld>
</file>

<file path=ppt/theme/theme1.xml><?xml version="1.0" encoding="utf-8"?>
<a:theme xmlns:a="http://schemas.openxmlformats.org/drawingml/2006/main" xmlns:r="http://schemas.openxmlformats.org/officeDocument/2006/relationships" name="la sapienza">
  <a:themeElements>
    <a:clrScheme name="">
      <a:dk1>
        <a:srgbClr val="822433"/>
      </a:dk1>
      <a:lt1>
        <a:srgbClr val="ffffff"/>
      </a:lt1>
      <a:dk2>
        <a:srgbClr val="822433"/>
      </a:dk2>
      <a:lt2>
        <a:srgbClr val="808080"/>
      </a:lt2>
      <a:accent1>
        <a:srgbClr val="bbe0e3"/>
      </a:accent1>
      <a:accent2>
        <a:srgbClr val="ffff00"/>
      </a:accent2>
      <a:accent3>
        <a:srgbClr val="ffffff"/>
      </a:accent3>
      <a:accent4>
        <a:srgbClr val="6e1d2a"/>
      </a:accent4>
      <a:accent5>
        <a:srgbClr val="daedef"/>
      </a:accent5>
      <a:accent6>
        <a:srgbClr val="e7e700"/>
      </a:accent6>
      <a:hlink>
        <a:srgbClr val="0000ff"/>
      </a:hlink>
      <a:folHlink>
        <a:srgbClr val="ff0000"/>
      </a:folHlink>
    </a:clrScheme>
    <a:fontScheme name="la sapienza">
      <a:majorFont>
        <a:latin typeface="Arial" pitchFamily="0" charset="1"/>
        <a:ea typeface="ＭＳ Ｐゴシック" pitchFamily="0" charset="1"/>
        <a:cs typeface=""/>
      </a:majorFont>
      <a:minorFont>
        <a:latin typeface="Arial" pitchFamily="0" charset="1"/>
        <a:ea typeface="ＭＳ Ｐゴシック"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999E04837717245A32832207D4E88DA" ma:contentTypeVersion="3" ma:contentTypeDescription="Create a new document." ma:contentTypeScope="" ma:versionID="9f51ac6b34f8e66618420df85a8b7b7d">
  <xsd:schema xmlns:xsd="http://www.w3.org/2001/XMLSchema" xmlns:xs="http://www.w3.org/2001/XMLSchema" xmlns:p="http://schemas.microsoft.com/office/2006/metadata/properties" xmlns:ns3="1bbbcaa9-07c0-4e7f-b8a5-8d5b9cc29776" targetNamespace="http://schemas.microsoft.com/office/2006/metadata/properties" ma:root="true" ma:fieldsID="ad3d7b3ad6b0dca0599f29baf2aa1e49" ns3:_="">
    <xsd:import namespace="1bbbcaa9-07c0-4e7f-b8a5-8d5b9cc29776"/>
    <xsd:element name="properties">
      <xsd:complexType>
        <xsd:sequence>
          <xsd:element name="documentManagement">
            <xsd:complexType>
              <xsd:all>
                <xsd:element ref="ns3:MediaServiceMetadata" minOccurs="0"/>
                <xsd:element ref="ns3:MediaServiceFastMetadata"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bbcaa9-07c0-4e7f-b8a5-8d5b9cc2977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61AFC3D-B83C-4E24-9DF9-B5B5E9CA8E07}">
  <ds:schemaRefs>
    <ds:schemaRef ds:uri="1bbbcaa9-07c0-4e7f-b8a5-8d5b9cc29776"/>
    <ds:schemaRef ds:uri="http://schemas.openxmlformats.org/package/2006/metadata/core-properties"/>
    <ds:schemaRef ds:uri="http://schemas.microsoft.com/office/2006/metadata/properties"/>
    <ds:schemaRef ds:uri="http://purl.org/dc/terms/"/>
    <ds:schemaRef ds:uri="http://purl.org/dc/dcmitype/"/>
    <ds:schemaRef ds:uri="http://www.w3.org/XML/1998/namespace"/>
    <ds:schemaRef ds:uri="http://schemas.microsoft.com/office/2006/documentManagement/types"/>
    <ds:schemaRef ds:uri="http://schemas.microsoft.com/office/infopath/2007/PartnerControls"/>
    <ds:schemaRef ds:uri="http://purl.org/dc/elements/1.1/"/>
  </ds:schemaRefs>
</ds:datastoreItem>
</file>

<file path=customXml/itemProps2.xml><?xml version="1.0" encoding="utf-8"?>
<ds:datastoreItem xmlns:ds="http://schemas.openxmlformats.org/officeDocument/2006/customXml" ds:itemID="{FAA70C78-0324-40F1-BFEE-15BDD3256C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bbcaa9-07c0-4e7f-b8a5-8d5b9cc2977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7E47546-1DF3-4C3B-ABCE-D17FC1DBA33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9361</TotalTime>
  <Application>LibreOffice/25.8.5.2$Windows_X86_64 LibreOffice_project/9c8b85f387cc00a89945a79c9e6239f32e450ac2</Application>
  <AppVersion>15.0000</AppVersion>
  <Words>2378</Words>
  <Paragraphs>550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2023-12-03T20:35:34Z</dcterms:created>
  <dc:creator>Ilaria  Scarselli</dc:creator>
  <dc:description/>
  <dc:language>it-IT</dc:language>
  <cp:lastModifiedBy/>
  <dcterms:modified xsi:type="dcterms:W3CDTF">2026-04-23T12:29:00Z</dcterms:modified>
  <cp:revision>27</cp:revision>
  <dc:subject/>
  <dc:title>Integrating Zero-Knowledge in SCAPI</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0x010100B999E04837717245A32832207D4E88DA</vt:lpwstr>
  </property>
  <property fmtid="{D5CDD505-2E9C-101B-9397-08002B2CF9AE}" pid="3" name="Notes">
    <vt:i4>63</vt:i4>
  </property>
  <property fmtid="{D5CDD505-2E9C-101B-9397-08002B2CF9AE}" pid="4" name="PresentationFormat">
    <vt:lpwstr>Presentazione su schermo (4:3)</vt:lpwstr>
  </property>
  <property fmtid="{D5CDD505-2E9C-101B-9397-08002B2CF9AE}" pid="5" name="Slides">
    <vt:i4>63</vt:i4>
  </property>
</Properties>
</file>